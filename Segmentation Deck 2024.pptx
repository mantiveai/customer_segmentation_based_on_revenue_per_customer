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Proxima Nova"/>
      <p:regular r:id="rId37"/>
      <p:bold r:id="rId38"/>
      <p:italic r:id="rId39"/>
      <p:boldItalic r:id="rId40"/>
    </p:embeddedFont>
    <p:embeddedFont>
      <p:font typeface="Montserra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Ridho Zul Fakhri"/>
  <p:cmAuthor clrIdx="1" id="1" initials="" lastIdx="10" name="Nofero"/>
  <p:cmAuthor clrIdx="2" id="2" initials="" lastIdx="3" name="Fellix Alfrid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87243F-39C1-4460-8421-3307866EDBE6}">
  <a:tblStyle styleId="{0287243F-39C1-4460-8421-3307866EDBE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20" Type="http://schemas.openxmlformats.org/officeDocument/2006/relationships/slide" Target="slides/slide13.xml"/><Relationship Id="rId42" Type="http://schemas.openxmlformats.org/officeDocument/2006/relationships/font" Target="fonts/Montserrat-bold.fntdata"/><Relationship Id="rId41" Type="http://schemas.openxmlformats.org/officeDocument/2006/relationships/font" Target="fonts/Montserrat-regular.fntdata"/><Relationship Id="rId22" Type="http://schemas.openxmlformats.org/officeDocument/2006/relationships/slide" Target="slides/slide15.xml"/><Relationship Id="rId44" Type="http://schemas.openxmlformats.org/officeDocument/2006/relationships/font" Target="fonts/Montserrat-boldItalic.fntdata"/><Relationship Id="rId21" Type="http://schemas.openxmlformats.org/officeDocument/2006/relationships/slide" Target="slides/slide14.xml"/><Relationship Id="rId43" Type="http://schemas.openxmlformats.org/officeDocument/2006/relationships/font" Target="fonts/Montserrat-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ProximaNova-regular.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ProximaNova-italic.fntdata"/><Relationship Id="rId16" Type="http://schemas.openxmlformats.org/officeDocument/2006/relationships/slide" Target="slides/slide9.xml"/><Relationship Id="rId38" Type="http://schemas.openxmlformats.org/officeDocument/2006/relationships/font" Target="fonts/ProximaNova-bold.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9-11T08:19:00.017">
    <p:pos x="6000" y="0"/>
    <p:text>Member institutions banyak yang occupation = 'Others', kalo diposisi keduanya wiraswasta. Jadi untuk konten penggantinya ditambahin preferensi koin dulu ya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4-09-11T07:57:41.829">
    <p:pos x="99" y="74"/>
    <p:text>name bisa di adjust balik ke felix yang di suggest antony. reason to choose this name:
1. deduct by segment freq on trade (total/universe)
2. company structure is te most relatedable sample or naming based on project management level
3. project manage=trade freq, the higher the position the higher their responsibility, effort and calmness
@antony.kusuma@bitcoin.co.id</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4-09-11T09:01:17.396">
    <p:pos x="192" y="1929"/>
    <p:text>increase kenya?</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4-09-11T10:16:57.297">
    <p:pos x="71" y="505"/>
    <p:text>ini ikut tunggu deep dive ya? @antony.kusuma@bitcoin.co.id tp ini harusnya mnurut gw ga bsa pake KYC harus pake geotarget. better takeout aja location itu @antony.kusuma@bitcoin.co.id 
cc: @fellix.alfrido@bitcoin.co.id</p:text>
  </p:cm>
  <p:cm authorId="1" idx="4" dt="2024-09-11T10:15:34.703">
    <p:pos x="71" y="505"/>
    <p:text>_Marked as resolved_</p:text>
  </p:cm>
  <p:cm authorId="1" idx="5" dt="2024-09-11T10:16:57.297">
    <p:pos x="71" y="505"/>
    <p:text>_Re-opened_</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6" dt="2024-09-11T10:16:57.297">
    <p:pos x="71" y="505"/>
    <p:text>ini ikut tunggu deep dive ya? @antony.kusuma@bitcoin.co.id tp ini harusnya mnurut gw ga bsa pake KYC harus pake geotarget. better takeout aja location itu @antony.kusuma@bitcoin.co.id 
cc: @fellix.alfrido@bitcoin.co.id</p:text>
  </p:cm>
  <p:cm authorId="1" idx="7" dt="2024-09-11T10:15:34.703">
    <p:pos x="71" y="505"/>
    <p:text>_Marked as resolved_</p:text>
  </p:cm>
  <p:cm authorId="1" idx="8" dt="2024-09-11T10:16:57.297">
    <p:pos x="71" y="505"/>
    <p:text>_Re-opened_</p:text>
  </p:cm>
  <p:cm authorId="1" idx="9" dt="2024-09-24T05:20:17.901">
    <p:pos x="2912" y="492"/>
    <p:text>bsa di cek bner ga ini @fellix.alfrido@bitcoin.co.id</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4-09-17T09:31:23.390">
    <p:pos x="6000" y="0"/>
    <p:text>yang ini jangan di pake dulu @nofero@bitcoin.co.id lagi di benerin</p:text>
  </p:cm>
  <p:cm authorId="2" idx="2" dt="2024-09-11T10:13:16.568">
    <p:pos x="6000" y="0"/>
    <p:text>dah di benerin ya</p:text>
  </p:cm>
  <p:cm authorId="2" idx="3" dt="2024-09-17T09:31:23.390">
    <p:pos x="6000" y="0"/>
    <p:text>@antony.kusuma@bitcoin.co.id  di sini udah di masukin top 3 city nya ya, di top region nya. untuk average income nya sesuai arahan ya</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0" dt="2024-09-24T05:47:19.358">
    <p:pos x="71" y="426"/>
    <p:text>ini cek deh kyknya ga mungkin sama 3.3 @fellix.alfrido@bitcoin.co.id soalnya deopsit angkanya beda bgt. prob menurut gw ini macem staff level yg UMR di angka 5an gitu, dari 10 terlalu jauh jatoh ke 3.3 jt income segmentnya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10200b02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10200b02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79e8eb7f2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79e8eb7f2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f931ef53f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f931ef53f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8938564f74_2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8938564f74_2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8938564f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8938564f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f9163ff3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f9163ff3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8938564f74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8938564f74_2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8928427ef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8928427ef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f931ef53f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f931ef53f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8938564f74_2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8938564f74_2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8928427ef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8928427ef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f931ef53f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f931ef53f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8938564f74_2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8938564f74_2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8928427ef1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8928427ef1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8938564f7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8938564f7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f931ef53f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f931ef53f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8938564f74_2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8938564f74_2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8938564f74_3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8938564f74_3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f931ef53f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f931ef53f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8938564f74_2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8938564f74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f9367f417e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f9367f417e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f9367f417e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f9367f417e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f9367f417e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f9367f417e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f9367f417e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f9367f417e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f9367f417e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f9367f417e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f9367f417e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f9367f417e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f9367f417e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f9367f417e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f9367f417e_1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f9367f417e_1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f9367f417e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f9367f417e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jp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2.png"/><Relationship Id="rId13" Type="http://schemas.openxmlformats.org/officeDocument/2006/relationships/image" Target="../media/image6.png"/><Relationship Id="rId12"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25.jpg"/><Relationship Id="rId9" Type="http://schemas.openxmlformats.org/officeDocument/2006/relationships/image" Target="../media/image1.jpg"/><Relationship Id="rId15" Type="http://schemas.openxmlformats.org/officeDocument/2006/relationships/image" Target="../media/image10.png"/><Relationship Id="rId14" Type="http://schemas.openxmlformats.org/officeDocument/2006/relationships/image" Target="../media/image11.png"/><Relationship Id="rId17" Type="http://schemas.openxmlformats.org/officeDocument/2006/relationships/image" Target="../media/image3.png"/><Relationship Id="rId16"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9.png"/><Relationship Id="rId18"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5.jpg"/></Relationships>
</file>

<file path=ppt/slides/_rels/slide5.xml.rels><?xml version="1.0" encoding="UTF-8" standalone="yes"?><Relationships xmlns="http://schemas.openxmlformats.org/package/2006/relationships"><Relationship Id="rId11" Type="http://schemas.openxmlformats.org/officeDocument/2006/relationships/hyperlink" Target="https://docs.google.com/spreadsheets/d/1Dpr14O_JnIiWFQpiaXvwNzRlzHf5FCuj57_g1uDDKek/edit?usp=sharing" TargetMode="External"/><Relationship Id="rId10" Type="http://schemas.openxmlformats.org/officeDocument/2006/relationships/hyperlink" Target="https://docs.google.com/spreadsheets/d/186uJBCkyDCaFXTUS7VC0txBUbwgIvlxS6HQUwAd1AX4/edit?usp=sharing" TargetMode="External"/><Relationship Id="rId13" Type="http://schemas.openxmlformats.org/officeDocument/2006/relationships/image" Target="../media/image18.jpg"/><Relationship Id="rId12" Type="http://schemas.openxmlformats.org/officeDocument/2006/relationships/hyperlink" Target="https://docs.google.com/spreadsheets/d/142_ozF1um7dAYJ-qdH3bzFQpVHEf31Kbq4CqU3NrWW8/edit?usp=sharing" TargetMode="External"/><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5.jpg"/><Relationship Id="rId4" Type="http://schemas.openxmlformats.org/officeDocument/2006/relationships/image" Target="../media/image19.jpg"/><Relationship Id="rId9" Type="http://schemas.openxmlformats.org/officeDocument/2006/relationships/hyperlink" Target="https://docs.google.com/spreadsheets/d/1axgJZkgsBwgD5v3V5AmyBXGyQNvgla1a6q4vpks9N9o/edit?usp=sharing" TargetMode="External"/><Relationship Id="rId15" Type="http://schemas.openxmlformats.org/officeDocument/2006/relationships/image" Target="../media/image7.png"/><Relationship Id="rId14" Type="http://schemas.openxmlformats.org/officeDocument/2006/relationships/image" Target="../media/image2.png"/><Relationship Id="rId17" Type="http://schemas.openxmlformats.org/officeDocument/2006/relationships/image" Target="../media/image11.png"/><Relationship Id="rId16" Type="http://schemas.openxmlformats.org/officeDocument/2006/relationships/image" Target="../media/image6.png"/><Relationship Id="rId5" Type="http://schemas.openxmlformats.org/officeDocument/2006/relationships/image" Target="../media/image14.png"/><Relationship Id="rId19" Type="http://schemas.openxmlformats.org/officeDocument/2006/relationships/image" Target="../media/image20.png"/><Relationship Id="rId6" Type="http://schemas.openxmlformats.org/officeDocument/2006/relationships/image" Target="../media/image9.png"/><Relationship Id="rId18" Type="http://schemas.openxmlformats.org/officeDocument/2006/relationships/image" Target="../media/image16.png"/><Relationship Id="rId7" Type="http://schemas.openxmlformats.org/officeDocument/2006/relationships/image" Target="../media/image17.jpg"/><Relationship Id="rId8"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25.jpg"/></Relationships>
</file>

<file path=ppt/slides/_rels/slide8.xml.rels><?xml version="1.0" encoding="UTF-8" standalone="yes"?><Relationships xmlns="http://schemas.openxmlformats.org/package/2006/relationships"><Relationship Id="rId20" Type="http://schemas.openxmlformats.org/officeDocument/2006/relationships/image" Target="../media/image16.png"/><Relationship Id="rId11" Type="http://schemas.openxmlformats.org/officeDocument/2006/relationships/hyperlink" Target="https://docs.google.com/spreadsheets/d/1axgJZkgsBwgD5v3V5AmyBXGyQNvgla1a6q4vpks9N9o/edit?usp=sharing" TargetMode="External"/><Relationship Id="rId22" Type="http://schemas.openxmlformats.org/officeDocument/2006/relationships/image" Target="../media/image3.png"/><Relationship Id="rId10" Type="http://schemas.openxmlformats.org/officeDocument/2006/relationships/image" Target="../media/image1.jpg"/><Relationship Id="rId21" Type="http://schemas.openxmlformats.org/officeDocument/2006/relationships/image" Target="../media/image13.png"/><Relationship Id="rId13" Type="http://schemas.openxmlformats.org/officeDocument/2006/relationships/hyperlink" Target="https://docs.google.com/spreadsheets/d/1Dpr14O_JnIiWFQpiaXvwNzRlzHf5FCuj57_g1uDDKek/edit?usp=sharing" TargetMode="External"/><Relationship Id="rId12" Type="http://schemas.openxmlformats.org/officeDocument/2006/relationships/hyperlink" Target="https://docs.google.com/spreadsheets/d/186uJBCkyDCaFXTUS7VC0txBUbwgIvlxS6HQUwAd1AX4/edit?usp=sharing" TargetMode="External"/><Relationship Id="rId23"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3.xml"/><Relationship Id="rId4" Type="http://schemas.openxmlformats.org/officeDocument/2006/relationships/image" Target="../media/image25.jpg"/><Relationship Id="rId9" Type="http://schemas.openxmlformats.org/officeDocument/2006/relationships/image" Target="../media/image22.png"/><Relationship Id="rId15" Type="http://schemas.openxmlformats.org/officeDocument/2006/relationships/image" Target="../media/image18.jpg"/><Relationship Id="rId14" Type="http://schemas.openxmlformats.org/officeDocument/2006/relationships/hyperlink" Target="https://docs.google.com/spreadsheets/d/142_ozF1um7dAYJ-qdH3bzFQpVHEf31Kbq4CqU3NrWW8/edit?usp=sharing" TargetMode="External"/><Relationship Id="rId17" Type="http://schemas.openxmlformats.org/officeDocument/2006/relationships/image" Target="../media/image7.png"/><Relationship Id="rId16" Type="http://schemas.openxmlformats.org/officeDocument/2006/relationships/image" Target="../media/image2.png"/><Relationship Id="rId5" Type="http://schemas.openxmlformats.org/officeDocument/2006/relationships/image" Target="../media/image19.jpg"/><Relationship Id="rId19" Type="http://schemas.openxmlformats.org/officeDocument/2006/relationships/image" Target="../media/image11.png"/><Relationship Id="rId6" Type="http://schemas.openxmlformats.org/officeDocument/2006/relationships/image" Target="../media/image14.png"/><Relationship Id="rId18"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4.xml"/><Relationship Id="rId4" Type="http://schemas.openxmlformats.org/officeDocument/2006/relationships/image" Target="../media/image25.jpg"/></Relationships>
</file>

<file path=ppt/slides/_rels/slide11.xml.rels><?xml version="1.0" encoding="UTF-8" standalone="yes"?><Relationships xmlns="http://schemas.openxmlformats.org/package/2006/relationships"><Relationship Id="rId20" Type="http://schemas.openxmlformats.org/officeDocument/2006/relationships/image" Target="../media/image3.png"/><Relationship Id="rId11" Type="http://schemas.openxmlformats.org/officeDocument/2006/relationships/hyperlink" Target="https://docs.google.com/spreadsheets/d/1Dpr14O_JnIiWFQpiaXvwNzRlzHf5FCuj57_g1uDDKek/edit?usp=sharing" TargetMode="External"/><Relationship Id="rId10" Type="http://schemas.openxmlformats.org/officeDocument/2006/relationships/hyperlink" Target="https://docs.google.com/spreadsheets/d/186uJBCkyDCaFXTUS7VC0txBUbwgIvlxS6HQUwAd1AX4/edit?usp=sharing" TargetMode="External"/><Relationship Id="rId21" Type="http://schemas.openxmlformats.org/officeDocument/2006/relationships/image" Target="../media/image15.png"/><Relationship Id="rId13" Type="http://schemas.openxmlformats.org/officeDocument/2006/relationships/image" Target="../media/image18.jpg"/><Relationship Id="rId12" Type="http://schemas.openxmlformats.org/officeDocument/2006/relationships/hyperlink" Target="https://docs.google.com/spreadsheets/d/142_ozF1um7dAYJ-qdH3bzFQpVHEf31Kbq4CqU3NrWW8/edit?usp=sharing" TargetMode="External"/><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5.jpg"/><Relationship Id="rId4" Type="http://schemas.openxmlformats.org/officeDocument/2006/relationships/image" Target="../media/image21.jpg"/><Relationship Id="rId9" Type="http://schemas.openxmlformats.org/officeDocument/2006/relationships/hyperlink" Target="https://docs.google.com/spreadsheets/d/1axgJZkgsBwgD5v3V5AmyBXGyQNvgla1a6q4vpks9N9o/edit?usp=sharing" TargetMode="External"/><Relationship Id="rId15" Type="http://schemas.openxmlformats.org/officeDocument/2006/relationships/image" Target="../media/image7.png"/><Relationship Id="rId14" Type="http://schemas.openxmlformats.org/officeDocument/2006/relationships/image" Target="../media/image2.png"/><Relationship Id="rId17" Type="http://schemas.openxmlformats.org/officeDocument/2006/relationships/image" Target="../media/image11.png"/><Relationship Id="rId16" Type="http://schemas.openxmlformats.org/officeDocument/2006/relationships/image" Target="../media/image6.png"/><Relationship Id="rId5" Type="http://schemas.openxmlformats.org/officeDocument/2006/relationships/image" Target="../media/image14.png"/><Relationship Id="rId19" Type="http://schemas.openxmlformats.org/officeDocument/2006/relationships/image" Target="../media/image13.png"/><Relationship Id="rId6" Type="http://schemas.openxmlformats.org/officeDocument/2006/relationships/image" Target="../media/image17.jpg"/><Relationship Id="rId18" Type="http://schemas.openxmlformats.org/officeDocument/2006/relationships/image" Target="../media/image16.png"/><Relationship Id="rId7" Type="http://schemas.openxmlformats.org/officeDocument/2006/relationships/image" Target="../media/image22.png"/><Relationship Id="rId8"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5.xml"/><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jpg"/><Relationship Id="rId4" Type="http://schemas.openxmlformats.org/officeDocument/2006/relationships/image" Target="../media/image24.jp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17.jpg"/></Relationships>
</file>

<file path=ppt/slides/_rels/slide15.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7.jpg"/><Relationship Id="rId13" Type="http://schemas.openxmlformats.org/officeDocument/2006/relationships/image" Target="../media/image18.jpg"/><Relationship Id="rId12" Type="http://schemas.openxmlformats.org/officeDocument/2006/relationships/image" Target="../media/image23.png"/><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6.xml"/><Relationship Id="rId4" Type="http://schemas.openxmlformats.org/officeDocument/2006/relationships/image" Target="../media/image25.jpg"/><Relationship Id="rId9" Type="http://schemas.openxmlformats.org/officeDocument/2006/relationships/image" Target="../media/image14.png"/><Relationship Id="rId15" Type="http://schemas.openxmlformats.org/officeDocument/2006/relationships/image" Target="../media/image7.png"/><Relationship Id="rId14" Type="http://schemas.openxmlformats.org/officeDocument/2006/relationships/image" Target="../media/image2.png"/><Relationship Id="rId17" Type="http://schemas.openxmlformats.org/officeDocument/2006/relationships/image" Target="../media/image11.png"/><Relationship Id="rId16" Type="http://schemas.openxmlformats.org/officeDocument/2006/relationships/image" Target="../media/image6.png"/><Relationship Id="rId5" Type="http://schemas.openxmlformats.org/officeDocument/2006/relationships/hyperlink" Target="https://docs.google.com/spreadsheets/d/1mIPeOTcGkg1zXHLaC8PCJGYsDsNjYNPjtpZS2lpakwU/edit?usp=sharing" TargetMode="External"/><Relationship Id="rId19" Type="http://schemas.openxmlformats.org/officeDocument/2006/relationships/image" Target="../media/image29.png"/><Relationship Id="rId6" Type="http://schemas.openxmlformats.org/officeDocument/2006/relationships/hyperlink" Target="https://docs.google.com/spreadsheets/d/13PKgmhZPZw2BwpvDRTLnso7oJ6ZHuODmleGeGkWjy04/edit?usp=sharing" TargetMode="External"/><Relationship Id="rId18" Type="http://schemas.openxmlformats.org/officeDocument/2006/relationships/image" Target="../media/image16.png"/><Relationship Id="rId7" Type="http://schemas.openxmlformats.org/officeDocument/2006/relationships/hyperlink" Target="https://docs.google.com/spreadsheets/d/16tp2FAQAa0j4tmxjPSC4BO-7LXs0_oaYBNj4MLnJTvw/edit?usp=sharing" TargetMode="External"/><Relationship Id="rId8"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20" Type="http://schemas.openxmlformats.org/officeDocument/2006/relationships/image" Target="../media/image3.png"/><Relationship Id="rId11" Type="http://schemas.openxmlformats.org/officeDocument/2006/relationships/hyperlink" Target="https://docs.google.com/spreadsheets/d/16tp2FAQAa0j4tmxjPSC4BO-7LXs0_oaYBNj4MLnJTvw/edit?usp=sharing" TargetMode="External"/><Relationship Id="rId10" Type="http://schemas.openxmlformats.org/officeDocument/2006/relationships/hyperlink" Target="https://docs.google.com/spreadsheets/d/13PKgmhZPZw2BwpvDRTLnso7oJ6ZHuODmleGeGkWjy04/edit?usp=sharing" TargetMode="External"/><Relationship Id="rId21" Type="http://schemas.openxmlformats.org/officeDocument/2006/relationships/image" Target="../media/image15.png"/><Relationship Id="rId13" Type="http://schemas.openxmlformats.org/officeDocument/2006/relationships/image" Target="../media/image2.png"/><Relationship Id="rId12" Type="http://schemas.openxmlformats.org/officeDocument/2006/relationships/image" Target="../media/image18.jpg"/><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jpg"/><Relationship Id="rId4" Type="http://schemas.openxmlformats.org/officeDocument/2006/relationships/image" Target="../media/image21.jpg"/><Relationship Id="rId9" Type="http://schemas.openxmlformats.org/officeDocument/2006/relationships/hyperlink" Target="https://docs.google.com/spreadsheets/d/1mIPeOTcGkg1zXHLaC8PCJGYsDsNjYNPjtpZS2lpakwU/edit?usp=sharing" TargetMode="External"/><Relationship Id="rId15" Type="http://schemas.openxmlformats.org/officeDocument/2006/relationships/image" Target="../media/image6.png"/><Relationship Id="rId14" Type="http://schemas.openxmlformats.org/officeDocument/2006/relationships/image" Target="../media/image7.png"/><Relationship Id="rId17" Type="http://schemas.openxmlformats.org/officeDocument/2006/relationships/image" Target="../media/image16.png"/><Relationship Id="rId16" Type="http://schemas.openxmlformats.org/officeDocument/2006/relationships/image" Target="../media/image11.png"/><Relationship Id="rId5" Type="http://schemas.openxmlformats.org/officeDocument/2006/relationships/image" Target="../media/image14.png"/><Relationship Id="rId19" Type="http://schemas.openxmlformats.org/officeDocument/2006/relationships/image" Target="../media/image13.png"/><Relationship Id="rId6" Type="http://schemas.openxmlformats.org/officeDocument/2006/relationships/image" Target="../media/image22.png"/><Relationship Id="rId18" Type="http://schemas.openxmlformats.org/officeDocument/2006/relationships/image" Target="../media/image20.png"/><Relationship Id="rId7" Type="http://schemas.openxmlformats.org/officeDocument/2006/relationships/image" Target="../media/image23.png"/><Relationship Id="rId8"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7.xml"/><Relationship Id="rId4"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jp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4294967295" type="title"/>
          </p:nvPr>
        </p:nvSpPr>
        <p:spPr>
          <a:xfrm>
            <a:off x="1674900" y="2778538"/>
            <a:ext cx="5794200" cy="43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Montserrat"/>
                <a:ea typeface="Montserrat"/>
                <a:cs typeface="Montserrat"/>
                <a:sym typeface="Montserrat"/>
              </a:rPr>
              <a:t>2023-2024</a:t>
            </a:r>
            <a:endParaRPr b="1" sz="1700">
              <a:solidFill>
                <a:schemeClr val="lt1"/>
              </a:solidFill>
              <a:latin typeface="Montserrat"/>
              <a:ea typeface="Montserrat"/>
              <a:cs typeface="Montserrat"/>
              <a:sym typeface="Montserrat"/>
            </a:endParaRPr>
          </a:p>
        </p:txBody>
      </p:sp>
      <p:sp>
        <p:nvSpPr>
          <p:cNvPr id="55" name="Google Shape;55;p13"/>
          <p:cNvSpPr txBox="1"/>
          <p:nvPr>
            <p:ph type="ctrTitle"/>
          </p:nvPr>
        </p:nvSpPr>
        <p:spPr>
          <a:xfrm>
            <a:off x="1260150" y="2299800"/>
            <a:ext cx="6623700" cy="543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100">
                <a:solidFill>
                  <a:schemeClr val="lt1"/>
                </a:solidFill>
                <a:latin typeface="Montserrat"/>
                <a:ea typeface="Montserrat"/>
                <a:cs typeface="Montserrat"/>
                <a:sym typeface="Montserrat"/>
              </a:rPr>
              <a:t>Segmentation</a:t>
            </a:r>
            <a:endParaRPr sz="4100">
              <a:solidFill>
                <a:schemeClr val="lt1"/>
              </a:solidFill>
              <a:latin typeface="Montserrat"/>
              <a:ea typeface="Montserrat"/>
              <a:cs typeface="Montserrat"/>
              <a:sym typeface="Montserrat"/>
            </a:endParaRPr>
          </a:p>
        </p:txBody>
      </p:sp>
      <p:pic>
        <p:nvPicPr>
          <p:cNvPr id="56" name="Google Shape;56;p13"/>
          <p:cNvPicPr preferRelativeResize="0"/>
          <p:nvPr/>
        </p:nvPicPr>
        <p:blipFill>
          <a:blip r:embed="rId4">
            <a:alphaModFix/>
          </a:blip>
          <a:stretch>
            <a:fillRect/>
          </a:stretch>
        </p:blipFill>
        <p:spPr>
          <a:xfrm>
            <a:off x="3405400" y="1146850"/>
            <a:ext cx="2333199" cy="289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Institutional Traders 2023 vs Institutional Traders 2024</a:t>
            </a:r>
            <a:endParaRPr b="1" sz="1800">
              <a:solidFill>
                <a:srgbClr val="0084B5"/>
              </a:solidFill>
              <a:latin typeface="Montserrat"/>
              <a:ea typeface="Montserrat"/>
              <a:cs typeface="Montserrat"/>
              <a:sym typeface="Montserrat"/>
            </a:endParaRPr>
          </a:p>
        </p:txBody>
      </p:sp>
      <p:sp>
        <p:nvSpPr>
          <p:cNvPr id="62" name="Google Shape;62;p14"/>
          <p:cNvSpPr txBox="1"/>
          <p:nvPr/>
        </p:nvSpPr>
        <p:spPr>
          <a:xfrm>
            <a:off x="1390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2"/>
                </a:solidFill>
              </a:rPr>
              <a:t>Institutional Traders Account Age 2023 &amp; 2024</a:t>
            </a:r>
            <a:endParaRPr b="1" sz="900">
              <a:solidFill>
                <a:schemeClr val="dk2"/>
              </a:solidFill>
            </a:endParaRPr>
          </a:p>
        </p:txBody>
      </p:sp>
      <p:sp>
        <p:nvSpPr>
          <p:cNvPr id="63" name="Google Shape;63;p14"/>
          <p:cNvSpPr txBox="1"/>
          <p:nvPr/>
        </p:nvSpPr>
        <p:spPr>
          <a:xfrm>
            <a:off x="3159000" y="1776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64" name="Google Shape;64;p14"/>
          <p:cNvPicPr preferRelativeResize="0"/>
          <p:nvPr/>
        </p:nvPicPr>
        <p:blipFill>
          <a:blip r:embed="rId5">
            <a:alphaModFix/>
          </a:blip>
          <a:stretch>
            <a:fillRect/>
          </a:stretch>
        </p:blipFill>
        <p:spPr>
          <a:xfrm>
            <a:off x="3203700" y="2187638"/>
            <a:ext cx="1511801" cy="844975"/>
          </a:xfrm>
          <a:prstGeom prst="rect">
            <a:avLst/>
          </a:prstGeom>
          <a:noFill/>
          <a:ln>
            <a:noFill/>
          </a:ln>
        </p:spPr>
      </p:pic>
      <p:sp>
        <p:nvSpPr>
          <p:cNvPr id="65" name="Google Shape;65;p14"/>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37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566,043,759</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66" name="Google Shape;66;p14"/>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45</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909,749,165</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67" name="Google Shape;67;p14"/>
          <p:cNvPicPr preferRelativeResize="0"/>
          <p:nvPr/>
        </p:nvPicPr>
        <p:blipFill>
          <a:blip r:embed="rId6">
            <a:alphaModFix/>
          </a:blip>
          <a:stretch>
            <a:fillRect/>
          </a:stretch>
        </p:blipFill>
        <p:spPr>
          <a:xfrm>
            <a:off x="3083088" y="4105675"/>
            <a:ext cx="1849200" cy="844975"/>
          </a:xfrm>
          <a:prstGeom prst="rect">
            <a:avLst/>
          </a:prstGeom>
          <a:noFill/>
          <a:ln>
            <a:noFill/>
          </a:ln>
        </p:spPr>
      </p:pic>
      <p:sp>
        <p:nvSpPr>
          <p:cNvPr id="68" name="Google Shape;68;p14"/>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42</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471,071,704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69" name="Google Shape;69;p14"/>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37</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718,081,590</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70" name="Google Shape;70;p14"/>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26</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280,270,474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71" name="Google Shape;71;p14"/>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24</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259,133,745</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cxnSp>
        <p:nvCxnSpPr>
          <p:cNvPr id="72" name="Google Shape;72;p14"/>
          <p:cNvCxnSpPr/>
          <p:nvPr/>
        </p:nvCxnSpPr>
        <p:spPr>
          <a:xfrm>
            <a:off x="4721600" y="2605925"/>
            <a:ext cx="179100" cy="0"/>
          </a:xfrm>
          <a:prstGeom prst="straightConnector1">
            <a:avLst/>
          </a:prstGeom>
          <a:noFill/>
          <a:ln cap="flat" cmpd="sng" w="9525">
            <a:solidFill>
              <a:schemeClr val="dk2"/>
            </a:solidFill>
            <a:prstDash val="solid"/>
            <a:round/>
            <a:headEnd len="med" w="med" type="none"/>
            <a:tailEnd len="med" w="med" type="stealth"/>
          </a:ln>
        </p:spPr>
      </p:cxnSp>
      <p:cxnSp>
        <p:nvCxnSpPr>
          <p:cNvPr id="73" name="Google Shape;73;p14"/>
          <p:cNvCxnSpPr/>
          <p:nvPr/>
        </p:nvCxnSpPr>
        <p:spPr>
          <a:xfrm>
            <a:off x="4709250" y="3551525"/>
            <a:ext cx="236400" cy="0"/>
          </a:xfrm>
          <a:prstGeom prst="straightConnector1">
            <a:avLst/>
          </a:prstGeom>
          <a:noFill/>
          <a:ln cap="flat" cmpd="sng" w="9525">
            <a:solidFill>
              <a:schemeClr val="dk2"/>
            </a:solidFill>
            <a:prstDash val="solid"/>
            <a:round/>
            <a:headEnd len="med" w="med" type="none"/>
            <a:tailEnd len="med" w="med" type="stealth"/>
          </a:ln>
        </p:spPr>
      </p:cxnSp>
      <p:cxnSp>
        <p:nvCxnSpPr>
          <p:cNvPr id="74" name="Google Shape;74;p14"/>
          <p:cNvCxnSpPr>
            <a:stCxn id="75"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pic>
        <p:nvPicPr>
          <p:cNvPr id="76" name="Google Shape;76;p14"/>
          <p:cNvPicPr preferRelativeResize="0"/>
          <p:nvPr/>
        </p:nvPicPr>
        <p:blipFill>
          <a:blip r:embed="rId7">
            <a:alphaModFix/>
          </a:blip>
          <a:stretch>
            <a:fillRect/>
          </a:stretch>
        </p:blipFill>
        <p:spPr>
          <a:xfrm>
            <a:off x="3676711" y="3186186"/>
            <a:ext cx="694200" cy="694200"/>
          </a:xfrm>
          <a:prstGeom prst="rect">
            <a:avLst/>
          </a:prstGeom>
          <a:noFill/>
          <a:ln>
            <a:noFill/>
          </a:ln>
        </p:spPr>
      </p:pic>
      <p:sp>
        <p:nvSpPr>
          <p:cNvPr id="77" name="Google Shape;77;p14"/>
          <p:cNvSpPr txBox="1"/>
          <p:nvPr/>
        </p:nvSpPr>
        <p:spPr>
          <a:xfrm>
            <a:off x="3083100" y="7108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2023 Institutional: 178 Traders</a:t>
            </a:r>
            <a:endParaRPr b="1" sz="1000">
              <a:solidFill>
                <a:schemeClr val="dk2"/>
              </a:solidFill>
            </a:endParaRPr>
          </a:p>
        </p:txBody>
      </p:sp>
      <p:sp>
        <p:nvSpPr>
          <p:cNvPr id="78" name="Google Shape;78;p14"/>
          <p:cNvSpPr txBox="1"/>
          <p:nvPr/>
        </p:nvSpPr>
        <p:spPr>
          <a:xfrm>
            <a:off x="3128575" y="1413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2024 Institutional: 187 Traders</a:t>
            </a:r>
            <a:endParaRPr b="1" sz="1000">
              <a:solidFill>
                <a:schemeClr val="dk2"/>
              </a:solidFill>
            </a:endParaRPr>
          </a:p>
        </p:txBody>
      </p:sp>
      <p:sp>
        <p:nvSpPr>
          <p:cNvPr id="79" name="Google Shape;79;p14"/>
          <p:cNvSpPr txBox="1"/>
          <p:nvPr/>
        </p:nvSpPr>
        <p:spPr>
          <a:xfrm>
            <a:off x="3787200" y="1007350"/>
            <a:ext cx="11205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⬆5.06%</a:t>
            </a:r>
            <a:endParaRPr b="1" sz="1600">
              <a:solidFill>
                <a:srgbClr val="6AA84F"/>
              </a:solidFill>
            </a:endParaRPr>
          </a:p>
        </p:txBody>
      </p:sp>
      <p:pic>
        <p:nvPicPr>
          <p:cNvPr id="80" name="Google Shape;80;p14" title="Chart"/>
          <p:cNvPicPr preferRelativeResize="0"/>
          <p:nvPr/>
        </p:nvPicPr>
        <p:blipFill>
          <a:blip r:embed="rId8">
            <a:alphaModFix/>
          </a:blip>
          <a:stretch>
            <a:fillRect/>
          </a:stretch>
        </p:blipFill>
        <p:spPr>
          <a:xfrm>
            <a:off x="226979" y="3493729"/>
            <a:ext cx="2577925" cy="1596775"/>
          </a:xfrm>
          <a:prstGeom prst="rect">
            <a:avLst/>
          </a:prstGeom>
          <a:noFill/>
          <a:ln>
            <a:noFill/>
          </a:ln>
        </p:spPr>
      </p:pic>
      <p:sp>
        <p:nvSpPr>
          <p:cNvPr id="81" name="Google Shape;81;p14"/>
          <p:cNvSpPr txBox="1"/>
          <p:nvPr/>
        </p:nvSpPr>
        <p:spPr>
          <a:xfrm>
            <a:off x="152400" y="3041925"/>
            <a:ext cx="2753700" cy="4518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57.79% of institutional traders can be said to have just joined INDODAX. However, 8.20% of them are old members who registered more than 7 years ago.</a:t>
            </a:r>
            <a:endParaRPr sz="700">
              <a:solidFill>
                <a:schemeClr val="dk2"/>
              </a:solidFill>
              <a:latin typeface="Proxima Nova"/>
              <a:ea typeface="Proxima Nova"/>
              <a:cs typeface="Proxima Nova"/>
              <a:sym typeface="Proxima Nova"/>
            </a:endParaRPr>
          </a:p>
        </p:txBody>
      </p:sp>
      <p:grpSp>
        <p:nvGrpSpPr>
          <p:cNvPr id="82" name="Google Shape;82;p14"/>
          <p:cNvGrpSpPr/>
          <p:nvPr/>
        </p:nvGrpSpPr>
        <p:grpSpPr>
          <a:xfrm>
            <a:off x="304800" y="717460"/>
            <a:ext cx="2164500" cy="1182354"/>
            <a:chOff x="304800" y="694801"/>
            <a:chExt cx="2164500" cy="1182354"/>
          </a:xfrm>
        </p:grpSpPr>
        <p:pic>
          <p:nvPicPr>
            <p:cNvPr id="83" name="Google Shape;83;p14"/>
            <p:cNvPicPr preferRelativeResize="0"/>
            <p:nvPr/>
          </p:nvPicPr>
          <p:blipFill>
            <a:blip r:embed="rId9">
              <a:alphaModFix/>
            </a:blip>
            <a:stretch>
              <a:fillRect/>
            </a:stretch>
          </p:blipFill>
          <p:spPr>
            <a:xfrm>
              <a:off x="304800" y="694801"/>
              <a:ext cx="1153606" cy="806727"/>
            </a:xfrm>
            <a:prstGeom prst="rect">
              <a:avLst/>
            </a:prstGeom>
            <a:noFill/>
            <a:ln>
              <a:noFill/>
            </a:ln>
          </p:spPr>
        </p:pic>
        <p:pic>
          <p:nvPicPr>
            <p:cNvPr id="84" name="Google Shape;84;p14"/>
            <p:cNvPicPr preferRelativeResize="0"/>
            <p:nvPr/>
          </p:nvPicPr>
          <p:blipFill>
            <a:blip r:embed="rId10">
              <a:alphaModFix/>
            </a:blip>
            <a:stretch>
              <a:fillRect/>
            </a:stretch>
          </p:blipFill>
          <p:spPr>
            <a:xfrm>
              <a:off x="1315683" y="1070897"/>
              <a:ext cx="1153617" cy="806258"/>
            </a:xfrm>
            <a:prstGeom prst="rect">
              <a:avLst/>
            </a:prstGeom>
            <a:noFill/>
            <a:ln>
              <a:noFill/>
            </a:ln>
          </p:spPr>
        </p:pic>
      </p:grpSp>
      <p:sp>
        <p:nvSpPr>
          <p:cNvPr id="85" name="Google Shape;85;p14"/>
          <p:cNvSpPr txBox="1"/>
          <p:nvPr/>
        </p:nvSpPr>
        <p:spPr>
          <a:xfrm>
            <a:off x="304850" y="1961520"/>
            <a:ext cx="2145900" cy="81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2"/>
                </a:solidFill>
                <a:latin typeface="Proxima Nova"/>
                <a:ea typeface="Proxima Nova"/>
                <a:cs typeface="Proxima Nova"/>
                <a:sym typeface="Proxima Nova"/>
              </a:rPr>
              <a:t>More than half of the institutional traders in 2023 and 2024 are located in Jakarta and Bali. In addition to these two locations, 10% of them are from outside Indonesia</a:t>
            </a:r>
            <a:endParaRPr sz="800">
              <a:solidFill>
                <a:schemeClr val="dk2"/>
              </a:solidFill>
              <a:latin typeface="Proxima Nova"/>
              <a:ea typeface="Proxima Nova"/>
              <a:cs typeface="Proxima Nova"/>
              <a:sym typeface="Proxima Nova"/>
            </a:endParaRPr>
          </a:p>
        </p:txBody>
      </p:sp>
      <p:graphicFrame>
        <p:nvGraphicFramePr>
          <p:cNvPr id="86" name="Google Shape;86;p14"/>
          <p:cNvGraphicFramePr/>
          <p:nvPr/>
        </p:nvGraphicFramePr>
        <p:xfrm>
          <a:off x="6708775" y="2571750"/>
          <a:ext cx="3000000" cy="3000000"/>
        </p:xfrm>
        <a:graphic>
          <a:graphicData uri="http://schemas.openxmlformats.org/drawingml/2006/table">
            <a:tbl>
              <a:tblPr>
                <a:noFill/>
                <a:tableStyleId>{0287243F-39C1-4460-8421-3307866EDBE6}</a:tableStyleId>
              </a:tblPr>
              <a:tblGrid>
                <a:gridCol w="601900"/>
                <a:gridCol w="647475"/>
                <a:gridCol w="613675"/>
                <a:gridCol w="382850"/>
              </a:tblGrid>
              <a:tr h="131200">
                <a:tc gridSpan="4">
                  <a:txBody>
                    <a:bodyPr/>
                    <a:lstStyle/>
                    <a:p>
                      <a:pPr indent="0" lvl="0" marL="0" rtl="0" algn="ctr">
                        <a:lnSpc>
                          <a:spcPct val="115000"/>
                        </a:lnSpc>
                        <a:spcBef>
                          <a:spcPts val="0"/>
                        </a:spcBef>
                        <a:spcAft>
                          <a:spcPts val="0"/>
                        </a:spcAft>
                        <a:buNone/>
                      </a:pPr>
                      <a:r>
                        <a:rPr b="1" lang="en" sz="500">
                          <a:latin typeface="Proxima Nova"/>
                          <a:ea typeface="Proxima Nova"/>
                          <a:cs typeface="Proxima Nova"/>
                          <a:sym typeface="Proxima Nova"/>
                        </a:rPr>
                        <a:t>Trading Summary</a:t>
                      </a:r>
                      <a:endParaRPr b="1"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r>
              <a:tr h="131200">
                <a:tc>
                  <a:txBody>
                    <a:bodyPr/>
                    <a:lstStyle/>
                    <a:p>
                      <a:pPr indent="0" lvl="0" marL="0" rtl="0" algn="ctr">
                        <a:lnSpc>
                          <a:spcPct val="115000"/>
                        </a:lnSpc>
                        <a:spcBef>
                          <a:spcPts val="0"/>
                        </a:spcBef>
                        <a:spcAft>
                          <a:spcPts val="0"/>
                        </a:spcAft>
                        <a:buNone/>
                      </a:pPr>
                      <a:r>
                        <a:rPr b="1" lang="en" sz="500">
                          <a:latin typeface="Proxima Nova"/>
                          <a:ea typeface="Proxima Nova"/>
                          <a:cs typeface="Proxima Nova"/>
                          <a:sym typeface="Proxima Nova"/>
                        </a:rPr>
                        <a:t>Type</a:t>
                      </a:r>
                      <a:endParaRPr b="1"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500">
                          <a:latin typeface="Proxima Nova"/>
                          <a:ea typeface="Proxima Nova"/>
                          <a:cs typeface="Proxima Nova"/>
                          <a:sym typeface="Proxima Nova"/>
                        </a:rPr>
                        <a:t>2023</a:t>
                      </a:r>
                      <a:endParaRPr b="1"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500">
                          <a:latin typeface="Proxima Nova"/>
                          <a:ea typeface="Proxima Nova"/>
                          <a:cs typeface="Proxima Nova"/>
                          <a:sym typeface="Proxima Nova"/>
                        </a:rPr>
                        <a:t>2024</a:t>
                      </a:r>
                      <a:endParaRPr b="1"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 sz="500">
                          <a:latin typeface="Proxima Nova"/>
                          <a:ea typeface="Proxima Nova"/>
                          <a:cs typeface="Proxima Nova"/>
                          <a:sym typeface="Proxima Nova"/>
                        </a:rPr>
                        <a:t>Growth %</a:t>
                      </a:r>
                      <a:endParaRPr b="1"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131200">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Avg </a:t>
                      </a:r>
                      <a:r>
                        <a:rPr lang="en" sz="500">
                          <a:latin typeface="Proxima Nova"/>
                          <a:ea typeface="Proxima Nova"/>
                          <a:cs typeface="Proxima Nova"/>
                          <a:sym typeface="Proxima Nova"/>
                        </a:rPr>
                        <a:t>Trade Frequency</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22339</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33577</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500">
                          <a:solidFill>
                            <a:srgbClr val="6AA84F"/>
                          </a:solidFill>
                          <a:latin typeface="Proxima Nova"/>
                          <a:ea typeface="Proxima Nova"/>
                          <a:cs typeface="Proxima Nova"/>
                          <a:sym typeface="Proxima Nova"/>
                        </a:rPr>
                        <a:t>50.30%</a:t>
                      </a:r>
                      <a:endParaRPr b="1" sz="500">
                        <a:solidFill>
                          <a:srgbClr val="6AA84F"/>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7450">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Avg Trade Frequency (Weekly)</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523</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1194</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500">
                          <a:solidFill>
                            <a:srgbClr val="6AA84F"/>
                          </a:solidFill>
                          <a:latin typeface="Proxima Nova"/>
                          <a:ea typeface="Proxima Nova"/>
                          <a:cs typeface="Proxima Nova"/>
                          <a:sym typeface="Proxima Nova"/>
                        </a:rPr>
                        <a:t>128.29%</a:t>
                      </a:r>
                      <a:endParaRPr b="1" sz="500">
                        <a:solidFill>
                          <a:srgbClr val="6AA84F"/>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1200">
                <a:tc>
                  <a:txBody>
                    <a:bodyPr/>
                    <a:lstStyle/>
                    <a:p>
                      <a:pPr indent="0" lvl="0" marL="0" rtl="0" algn="ctr">
                        <a:lnSpc>
                          <a:spcPct val="115000"/>
                        </a:lnSpc>
                        <a:spcBef>
                          <a:spcPts val="0"/>
                        </a:spcBef>
                        <a:spcAft>
                          <a:spcPts val="0"/>
                        </a:spcAft>
                        <a:buNone/>
                      </a:pPr>
                      <a:r>
                        <a:rPr lang="en" sz="500">
                          <a:solidFill>
                            <a:schemeClr val="dk1"/>
                          </a:solidFill>
                          <a:latin typeface="Proxima Nova"/>
                          <a:ea typeface="Proxima Nova"/>
                          <a:cs typeface="Proxima Nova"/>
                          <a:sym typeface="Proxima Nova"/>
                        </a:rPr>
                        <a:t>Avg Trade Frequency (Monthly)</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2113</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5030</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500">
                          <a:solidFill>
                            <a:srgbClr val="34A853"/>
                          </a:solidFill>
                          <a:latin typeface="Proxima Nova"/>
                          <a:ea typeface="Proxima Nova"/>
                          <a:cs typeface="Proxima Nova"/>
                          <a:sym typeface="Proxima Nova"/>
                        </a:rPr>
                        <a:t>138.05%</a:t>
                      </a:r>
                      <a:endParaRPr b="1" sz="500">
                        <a:solidFill>
                          <a:srgbClr val="34A853"/>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1200">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Avg Trade Frequency (Daily)</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100</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196</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500">
                          <a:solidFill>
                            <a:srgbClr val="34A853"/>
                          </a:solidFill>
                          <a:latin typeface="Proxima Nova"/>
                          <a:ea typeface="Proxima Nova"/>
                          <a:cs typeface="Proxima Nova"/>
                          <a:sym typeface="Proxima Nova"/>
                        </a:rPr>
                        <a:t>96.00%</a:t>
                      </a:r>
                      <a:endParaRPr b="1" sz="500">
                        <a:solidFill>
                          <a:srgbClr val="34A853"/>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1200">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Trade Volume</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17,883,337,088,878</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32,405,274,812,555</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500">
                          <a:solidFill>
                            <a:srgbClr val="6AA84F"/>
                          </a:solidFill>
                          <a:latin typeface="Proxima Nova"/>
                          <a:ea typeface="Proxima Nova"/>
                          <a:cs typeface="Proxima Nova"/>
                          <a:sym typeface="Proxima Nova"/>
                        </a:rPr>
                        <a:t>81.20%</a:t>
                      </a:r>
                      <a:endParaRPr b="1" sz="500">
                        <a:solidFill>
                          <a:srgbClr val="6AA84F"/>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1200">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Avg Basket Size</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338,678,091.30</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latin typeface="Proxima Nova"/>
                          <a:ea typeface="Proxima Nova"/>
                          <a:cs typeface="Proxima Nova"/>
                          <a:sym typeface="Proxima Nova"/>
                        </a:rPr>
                        <a:t>172,915,248.50</a:t>
                      </a:r>
                      <a:endParaRPr sz="500">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500">
                          <a:solidFill>
                            <a:srgbClr val="FF0000"/>
                          </a:solidFill>
                          <a:latin typeface="Proxima Nova"/>
                          <a:ea typeface="Proxima Nova"/>
                          <a:cs typeface="Proxima Nova"/>
                          <a:sym typeface="Proxima Nova"/>
                        </a:rPr>
                        <a:t>-48.94%</a:t>
                      </a:r>
                      <a:endParaRPr b="1" sz="500">
                        <a:solidFill>
                          <a:srgbClr val="FF0000"/>
                        </a:solidFill>
                        <a:latin typeface="Proxima Nova"/>
                        <a:ea typeface="Proxima Nova"/>
                        <a:cs typeface="Proxima Nova"/>
                        <a:sym typeface="Proxima Nova"/>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7" name="Google Shape;87;p14"/>
          <p:cNvSpPr txBox="1"/>
          <p:nvPr/>
        </p:nvSpPr>
        <p:spPr>
          <a:xfrm>
            <a:off x="6733725" y="4200300"/>
            <a:ext cx="2145900" cy="81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2"/>
                </a:solidFill>
              </a:rPr>
              <a:t>Institutional traders experienced an increase in their trading volume and frequency, increasing by 81.2% and 56.59% respectively. In addition, when compared to other segments, these institutional traders also have the </a:t>
            </a:r>
            <a:r>
              <a:rPr b="1" lang="en" sz="700">
                <a:solidFill>
                  <a:schemeClr val="dk2"/>
                </a:solidFill>
              </a:rPr>
              <a:t>highest trading volume</a:t>
            </a:r>
            <a:r>
              <a:rPr lang="en" sz="700">
                <a:solidFill>
                  <a:schemeClr val="dk2"/>
                </a:solidFill>
              </a:rPr>
              <a:t> and </a:t>
            </a:r>
            <a:r>
              <a:rPr b="1" lang="en" sz="700">
                <a:solidFill>
                  <a:schemeClr val="dk2"/>
                </a:solidFill>
              </a:rPr>
              <a:t>trading frequency</a:t>
            </a:r>
            <a:r>
              <a:rPr lang="en" sz="700">
                <a:solidFill>
                  <a:schemeClr val="dk2"/>
                </a:solidFill>
              </a:rPr>
              <a:t>.</a:t>
            </a:r>
            <a:endParaRPr sz="700">
              <a:solidFill>
                <a:schemeClr val="dk2"/>
              </a:solidFill>
            </a:endParaRPr>
          </a:p>
        </p:txBody>
      </p:sp>
      <p:sp>
        <p:nvSpPr>
          <p:cNvPr id="88" name="Google Shape;88;p14"/>
          <p:cNvSpPr txBox="1"/>
          <p:nvPr/>
        </p:nvSpPr>
        <p:spPr>
          <a:xfrm>
            <a:off x="6708825" y="1482250"/>
            <a:ext cx="2245800" cy="995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Institutional traders have the most trade volume for Top Altcoins such as ETH, ADA, SOL, XRP and DOT. From 2023 to 2024 the trading volume of Top Altcoins increased by 55.38%.</a:t>
            </a:r>
            <a:endParaRPr sz="700">
              <a:solidFill>
                <a:schemeClr val="dk2"/>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7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700">
                <a:solidFill>
                  <a:schemeClr val="dk2"/>
                </a:solidFill>
                <a:latin typeface="Proxima Nova"/>
                <a:ea typeface="Proxima Nova"/>
                <a:cs typeface="Proxima Nova"/>
                <a:sym typeface="Proxima Nova"/>
              </a:rPr>
              <a:t>Institutional traders are also much more interested in MEME coins in 2024, as their trading volume increased by 98.95% (2.96T → 5.89T)</a:t>
            </a:r>
            <a:endParaRPr sz="700">
              <a:solidFill>
                <a:schemeClr val="dk2"/>
              </a:solidFill>
              <a:latin typeface="Proxima Nova"/>
              <a:ea typeface="Proxima Nova"/>
              <a:cs typeface="Proxima Nova"/>
              <a:sym typeface="Proxima Nova"/>
            </a:endParaRPr>
          </a:p>
        </p:txBody>
      </p:sp>
      <p:grpSp>
        <p:nvGrpSpPr>
          <p:cNvPr id="89" name="Google Shape;89;p14"/>
          <p:cNvGrpSpPr/>
          <p:nvPr/>
        </p:nvGrpSpPr>
        <p:grpSpPr>
          <a:xfrm>
            <a:off x="6733723" y="417531"/>
            <a:ext cx="2196002" cy="995540"/>
            <a:chOff x="402110" y="613093"/>
            <a:chExt cx="2196002" cy="995540"/>
          </a:xfrm>
        </p:grpSpPr>
        <p:grpSp>
          <p:nvGrpSpPr>
            <p:cNvPr id="90" name="Google Shape;90;p14"/>
            <p:cNvGrpSpPr/>
            <p:nvPr/>
          </p:nvGrpSpPr>
          <p:grpSpPr>
            <a:xfrm>
              <a:off x="402110" y="613093"/>
              <a:ext cx="986303" cy="995540"/>
              <a:chOff x="249693" y="613125"/>
              <a:chExt cx="1724607" cy="1741063"/>
            </a:xfrm>
          </p:grpSpPr>
          <p:pic>
            <p:nvPicPr>
              <p:cNvPr id="91" name="Google Shape;91;p14"/>
              <p:cNvPicPr preferRelativeResize="0"/>
              <p:nvPr/>
            </p:nvPicPr>
            <p:blipFill>
              <a:blip r:embed="rId11">
                <a:alphaModFix/>
              </a:blip>
              <a:stretch>
                <a:fillRect/>
              </a:stretch>
            </p:blipFill>
            <p:spPr>
              <a:xfrm>
                <a:off x="831475" y="1827513"/>
                <a:ext cx="526675" cy="526675"/>
              </a:xfrm>
              <a:prstGeom prst="rect">
                <a:avLst/>
              </a:prstGeom>
              <a:noFill/>
              <a:ln>
                <a:noFill/>
              </a:ln>
            </p:spPr>
          </p:pic>
          <p:pic>
            <p:nvPicPr>
              <p:cNvPr id="92" name="Google Shape;92;p14"/>
              <p:cNvPicPr preferRelativeResize="0"/>
              <p:nvPr/>
            </p:nvPicPr>
            <p:blipFill>
              <a:blip r:embed="rId12">
                <a:alphaModFix/>
              </a:blip>
              <a:stretch>
                <a:fillRect/>
              </a:stretch>
            </p:blipFill>
            <p:spPr>
              <a:xfrm>
                <a:off x="831475" y="613125"/>
                <a:ext cx="526675" cy="526675"/>
              </a:xfrm>
              <a:prstGeom prst="rect">
                <a:avLst/>
              </a:prstGeom>
              <a:noFill/>
              <a:ln>
                <a:noFill/>
              </a:ln>
            </p:spPr>
          </p:pic>
          <p:pic>
            <p:nvPicPr>
              <p:cNvPr id="93" name="Google Shape;93;p14"/>
              <p:cNvPicPr preferRelativeResize="0"/>
              <p:nvPr/>
            </p:nvPicPr>
            <p:blipFill>
              <a:blip r:embed="rId13">
                <a:alphaModFix/>
              </a:blip>
              <a:stretch>
                <a:fillRect/>
              </a:stretch>
            </p:blipFill>
            <p:spPr>
              <a:xfrm>
                <a:off x="1447625" y="1220338"/>
                <a:ext cx="526675" cy="526675"/>
              </a:xfrm>
              <a:prstGeom prst="rect">
                <a:avLst/>
              </a:prstGeom>
              <a:noFill/>
              <a:ln>
                <a:noFill/>
              </a:ln>
            </p:spPr>
          </p:pic>
          <p:pic>
            <p:nvPicPr>
              <p:cNvPr id="94" name="Google Shape;94;p14"/>
              <p:cNvPicPr preferRelativeResize="0"/>
              <p:nvPr/>
            </p:nvPicPr>
            <p:blipFill>
              <a:blip r:embed="rId14">
                <a:alphaModFix/>
              </a:blip>
              <a:stretch>
                <a:fillRect/>
              </a:stretch>
            </p:blipFill>
            <p:spPr>
              <a:xfrm flipH="1">
                <a:off x="831476" y="1220325"/>
                <a:ext cx="526674" cy="526674"/>
              </a:xfrm>
              <a:prstGeom prst="rect">
                <a:avLst/>
              </a:prstGeom>
              <a:noFill/>
              <a:ln>
                <a:noFill/>
              </a:ln>
            </p:spPr>
          </p:pic>
          <p:pic>
            <p:nvPicPr>
              <p:cNvPr id="95" name="Google Shape;95;p14"/>
              <p:cNvPicPr preferRelativeResize="0"/>
              <p:nvPr/>
            </p:nvPicPr>
            <p:blipFill>
              <a:blip r:embed="rId15">
                <a:alphaModFix/>
              </a:blip>
              <a:stretch>
                <a:fillRect/>
              </a:stretch>
            </p:blipFill>
            <p:spPr>
              <a:xfrm>
                <a:off x="249693" y="1237523"/>
                <a:ext cx="492298" cy="492298"/>
              </a:xfrm>
              <a:prstGeom prst="rect">
                <a:avLst/>
              </a:prstGeom>
              <a:noFill/>
              <a:ln>
                <a:noFill/>
              </a:ln>
            </p:spPr>
          </p:pic>
        </p:grpSp>
        <p:grpSp>
          <p:nvGrpSpPr>
            <p:cNvPr id="96" name="Google Shape;96;p14"/>
            <p:cNvGrpSpPr/>
            <p:nvPr/>
          </p:nvGrpSpPr>
          <p:grpSpPr>
            <a:xfrm>
              <a:off x="1766488" y="736213"/>
              <a:ext cx="831625" cy="749300"/>
              <a:chOff x="2006250" y="663775"/>
              <a:chExt cx="831625" cy="749300"/>
            </a:xfrm>
          </p:grpSpPr>
          <p:pic>
            <p:nvPicPr>
              <p:cNvPr id="97" name="Google Shape;97;p14"/>
              <p:cNvPicPr preferRelativeResize="0"/>
              <p:nvPr/>
            </p:nvPicPr>
            <p:blipFill>
              <a:blip r:embed="rId16">
                <a:alphaModFix/>
              </a:blip>
              <a:stretch>
                <a:fillRect/>
              </a:stretch>
            </p:blipFill>
            <p:spPr>
              <a:xfrm>
                <a:off x="2250371" y="663775"/>
                <a:ext cx="352100" cy="352100"/>
              </a:xfrm>
              <a:prstGeom prst="rect">
                <a:avLst/>
              </a:prstGeom>
              <a:noFill/>
              <a:ln>
                <a:noFill/>
              </a:ln>
            </p:spPr>
          </p:pic>
          <p:pic>
            <p:nvPicPr>
              <p:cNvPr id="98" name="Google Shape;98;p14"/>
              <p:cNvPicPr preferRelativeResize="0"/>
              <p:nvPr/>
            </p:nvPicPr>
            <p:blipFill>
              <a:blip r:embed="rId17">
                <a:alphaModFix/>
              </a:blip>
              <a:stretch>
                <a:fillRect/>
              </a:stretch>
            </p:blipFill>
            <p:spPr>
              <a:xfrm flipH="1">
                <a:off x="2006250" y="1051350"/>
                <a:ext cx="352100" cy="352100"/>
              </a:xfrm>
              <a:prstGeom prst="rect">
                <a:avLst/>
              </a:prstGeom>
              <a:noFill/>
              <a:ln>
                <a:noFill/>
              </a:ln>
            </p:spPr>
          </p:pic>
          <p:pic>
            <p:nvPicPr>
              <p:cNvPr id="99" name="Google Shape;99;p14"/>
              <p:cNvPicPr preferRelativeResize="0"/>
              <p:nvPr/>
            </p:nvPicPr>
            <p:blipFill>
              <a:blip r:embed="rId18">
                <a:alphaModFix/>
              </a:blip>
              <a:stretch>
                <a:fillRect/>
              </a:stretch>
            </p:blipFill>
            <p:spPr>
              <a:xfrm>
                <a:off x="2485775" y="1060975"/>
                <a:ext cx="352100" cy="352100"/>
              </a:xfrm>
              <a:prstGeom prst="rect">
                <a:avLst/>
              </a:prstGeom>
              <a:noFill/>
              <a:ln>
                <a:noFill/>
              </a:ln>
            </p:spPr>
          </p:pic>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5"/>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Institution 2023 vs Institution 2024</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sp>
        <p:nvSpPr>
          <p:cNvPr id="105" name="Google Shape;105;p15"/>
          <p:cNvSpPr txBox="1"/>
          <p:nvPr/>
        </p:nvSpPr>
        <p:spPr>
          <a:xfrm>
            <a:off x="559513" y="5369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Staking</a:t>
            </a:r>
            <a:endParaRPr b="1" sz="1000">
              <a:solidFill>
                <a:schemeClr val="dk2"/>
              </a:solidFill>
            </a:endParaRPr>
          </a:p>
        </p:txBody>
      </p:sp>
      <p:sp>
        <p:nvSpPr>
          <p:cNvPr id="106" name="Google Shape;106;p15"/>
          <p:cNvSpPr txBox="1"/>
          <p:nvPr/>
        </p:nvSpPr>
        <p:spPr>
          <a:xfrm>
            <a:off x="4571988" y="5369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API Trading</a:t>
            </a:r>
            <a:endParaRPr b="1" sz="1000">
              <a:solidFill>
                <a:schemeClr val="dk2"/>
              </a:solidFill>
            </a:endParaRPr>
          </a:p>
        </p:txBody>
      </p:sp>
      <p:graphicFrame>
        <p:nvGraphicFramePr>
          <p:cNvPr id="107" name="Google Shape;107;p15"/>
          <p:cNvGraphicFramePr/>
          <p:nvPr/>
        </p:nvGraphicFramePr>
        <p:xfrm>
          <a:off x="435200" y="1018463"/>
          <a:ext cx="3000000" cy="3000000"/>
        </p:xfrm>
        <a:graphic>
          <a:graphicData uri="http://schemas.openxmlformats.org/drawingml/2006/table">
            <a:tbl>
              <a:tblPr>
                <a:noFill/>
                <a:tableStyleId>{0287243F-39C1-4460-8421-3307866EDBE6}</a:tableStyleId>
              </a:tblPr>
              <a:tblGrid>
                <a:gridCol w="620450"/>
                <a:gridCol w="620450"/>
                <a:gridCol w="730000"/>
                <a:gridCol w="382850"/>
              </a:tblGrid>
              <a:tr h="22637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Wealthy Individual</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677,486,191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2,024,787,431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198.87%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108" name="Google Shape;108;p15"/>
          <p:cNvGraphicFramePr/>
          <p:nvPr/>
        </p:nvGraphicFramePr>
        <p:xfrm>
          <a:off x="4572000" y="896688"/>
          <a:ext cx="3000000" cy="3000000"/>
        </p:xfrm>
        <a:graphic>
          <a:graphicData uri="http://schemas.openxmlformats.org/drawingml/2006/table">
            <a:tbl>
              <a:tblPr>
                <a:noFill/>
                <a:tableStyleId>{0287243F-39C1-4460-8421-3307866EDBE6}</a:tableStyleId>
              </a:tblPr>
              <a:tblGrid>
                <a:gridCol w="666575"/>
                <a:gridCol w="666575"/>
                <a:gridCol w="784250"/>
                <a:gridCol w="411300"/>
              </a:tblGrid>
              <a:tr h="232150">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91125">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93600">
                <a:tc>
                  <a:txBody>
                    <a:bodyPr/>
                    <a:lstStyle/>
                    <a:p>
                      <a:pPr indent="0" lvl="0" marL="0" rtl="0" algn="l">
                        <a:lnSpc>
                          <a:spcPct val="115000"/>
                        </a:lnSpc>
                        <a:spcBef>
                          <a:spcPts val="0"/>
                        </a:spcBef>
                        <a:spcAft>
                          <a:spcPts val="0"/>
                        </a:spcAft>
                        <a:buNone/>
                      </a:pPr>
                      <a:r>
                        <a:rPr lang="en" sz="600"/>
                        <a:t>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677,486,191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2,024,787,431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198.87%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93600">
                <a:tc>
                  <a:txBody>
                    <a:bodyPr/>
                    <a:lstStyle/>
                    <a:p>
                      <a:pPr indent="0" lvl="0" marL="0" rtl="0" algn="l">
                        <a:lnSpc>
                          <a:spcPct val="115000"/>
                        </a:lnSpc>
                        <a:spcBef>
                          <a:spcPts val="0"/>
                        </a:spcBef>
                        <a:spcAft>
                          <a:spcPts val="0"/>
                        </a:spcAft>
                        <a:buNone/>
                      </a:pPr>
                      <a:r>
                        <a:rPr lang="en" sz="600"/>
                        <a:t>AVG 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255,885,378,808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584,716,755,649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128.51%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93600">
                <a:tc>
                  <a:txBody>
                    <a:bodyPr/>
                    <a:lstStyle/>
                    <a:p>
                      <a:pPr indent="0" lvl="0" marL="0" rtl="0" algn="l">
                        <a:lnSpc>
                          <a:spcPct val="115000"/>
                        </a:lnSpc>
                        <a:spcBef>
                          <a:spcPts val="0"/>
                        </a:spcBef>
                        <a:spcAft>
                          <a:spcPts val="0"/>
                        </a:spcAft>
                        <a:buNone/>
                      </a:pPr>
                      <a:r>
                        <a:rPr lang="en" sz="600"/>
                        <a:t>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3,785,450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6,195,335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63.66%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93600">
                <a:tc>
                  <a:txBody>
                    <a:bodyPr/>
                    <a:lstStyle/>
                    <a:p>
                      <a:pPr indent="0" lvl="0" marL="0" rtl="0" algn="l">
                        <a:lnSpc>
                          <a:spcPct val="115000"/>
                        </a:lnSpc>
                        <a:spcBef>
                          <a:spcPts val="0"/>
                        </a:spcBef>
                        <a:spcAft>
                          <a:spcPts val="0"/>
                        </a:spcAft>
                        <a:buNone/>
                      </a:pPr>
                      <a:r>
                        <a:rPr lang="en" sz="600"/>
                        <a:t>AVG 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60,087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114,728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90.94%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936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14,133,023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13,806,964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-2.31%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16"/>
          <p:cNvSpPr txBox="1"/>
          <p:nvPr>
            <p:ph type="title"/>
          </p:nvPr>
        </p:nvSpPr>
        <p:spPr>
          <a:xfrm>
            <a:off x="157625" y="1182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Persona Name: </a:t>
            </a:r>
            <a:r>
              <a:rPr b="1" lang="en" sz="1800">
                <a:solidFill>
                  <a:srgbClr val="0084B5"/>
                </a:solidFill>
                <a:latin typeface="Montserrat"/>
                <a:ea typeface="Montserrat"/>
                <a:cs typeface="Montserrat"/>
                <a:sym typeface="Montserrat"/>
              </a:rPr>
              <a:t>The</a:t>
            </a:r>
            <a:r>
              <a:rPr b="1" lang="en" sz="1800">
                <a:solidFill>
                  <a:srgbClr val="0084B5"/>
                </a:solidFill>
                <a:latin typeface="Montserrat"/>
                <a:ea typeface="Montserrat"/>
                <a:cs typeface="Montserrat"/>
                <a:sym typeface="Montserrat"/>
              </a:rPr>
              <a:t> Ruler</a:t>
            </a:r>
            <a:endParaRPr b="1" sz="1800">
              <a:solidFill>
                <a:srgbClr val="0084B5"/>
              </a:solidFill>
              <a:latin typeface="Montserrat"/>
              <a:ea typeface="Montserrat"/>
              <a:cs typeface="Montserrat"/>
              <a:sym typeface="Montserrat"/>
            </a:endParaRPr>
          </a:p>
        </p:txBody>
      </p:sp>
      <p:sp>
        <p:nvSpPr>
          <p:cNvPr id="114" name="Google Shape;114;p16"/>
          <p:cNvSpPr txBox="1"/>
          <p:nvPr>
            <p:ph type="title"/>
          </p:nvPr>
        </p:nvSpPr>
        <p:spPr>
          <a:xfrm>
            <a:off x="113475" y="503138"/>
            <a:ext cx="29322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Demographic Information</a:t>
            </a:r>
            <a:endParaRPr b="1" sz="1200">
              <a:solidFill>
                <a:srgbClr val="0084B5"/>
              </a:solidFill>
              <a:latin typeface="Montserrat"/>
              <a:ea typeface="Montserrat"/>
              <a:cs typeface="Montserrat"/>
              <a:sym typeface="Montserrat"/>
            </a:endParaRPr>
          </a:p>
        </p:txBody>
      </p:sp>
      <p:sp>
        <p:nvSpPr>
          <p:cNvPr id="115" name="Google Shape;115;p16"/>
          <p:cNvSpPr txBox="1"/>
          <p:nvPr>
            <p:ph type="title"/>
          </p:nvPr>
        </p:nvSpPr>
        <p:spPr>
          <a:xfrm>
            <a:off x="4691900" y="503138"/>
            <a:ext cx="1175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Background</a:t>
            </a:r>
            <a:endParaRPr b="1" sz="1200">
              <a:solidFill>
                <a:srgbClr val="0084B5"/>
              </a:solidFill>
              <a:latin typeface="Montserrat"/>
              <a:ea typeface="Montserrat"/>
              <a:cs typeface="Montserrat"/>
              <a:sym typeface="Montserrat"/>
            </a:endParaRPr>
          </a:p>
        </p:txBody>
      </p:sp>
      <p:sp>
        <p:nvSpPr>
          <p:cNvPr id="116" name="Google Shape;116;p16"/>
          <p:cNvSpPr txBox="1"/>
          <p:nvPr>
            <p:ph type="title"/>
          </p:nvPr>
        </p:nvSpPr>
        <p:spPr>
          <a:xfrm>
            <a:off x="60813" y="3429538"/>
            <a:ext cx="1943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Needs &amp; Expectation</a:t>
            </a:r>
            <a:endParaRPr b="1" sz="1200">
              <a:solidFill>
                <a:srgbClr val="0084B5"/>
              </a:solidFill>
              <a:latin typeface="Montserrat"/>
              <a:ea typeface="Montserrat"/>
              <a:cs typeface="Montserrat"/>
              <a:sym typeface="Montserrat"/>
            </a:endParaRPr>
          </a:p>
        </p:txBody>
      </p:sp>
      <p:sp>
        <p:nvSpPr>
          <p:cNvPr id="117" name="Google Shape;117;p16"/>
          <p:cNvSpPr txBox="1"/>
          <p:nvPr>
            <p:ph type="title"/>
          </p:nvPr>
        </p:nvSpPr>
        <p:spPr>
          <a:xfrm>
            <a:off x="4633625" y="2434800"/>
            <a:ext cx="2550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Challenge &amp; Pain Points</a:t>
            </a:r>
            <a:endParaRPr b="1" sz="1200">
              <a:solidFill>
                <a:srgbClr val="0084B5"/>
              </a:solidFill>
              <a:latin typeface="Montserrat"/>
              <a:ea typeface="Montserrat"/>
              <a:cs typeface="Montserrat"/>
              <a:sym typeface="Montserrat"/>
            </a:endParaRPr>
          </a:p>
        </p:txBody>
      </p:sp>
      <p:sp>
        <p:nvSpPr>
          <p:cNvPr id="118" name="Google Shape;118;p16"/>
          <p:cNvSpPr txBox="1"/>
          <p:nvPr>
            <p:ph type="title"/>
          </p:nvPr>
        </p:nvSpPr>
        <p:spPr>
          <a:xfrm>
            <a:off x="81375" y="2176550"/>
            <a:ext cx="2517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Motivation, Interest &amp; Goals</a:t>
            </a:r>
            <a:endParaRPr b="1" sz="1200">
              <a:solidFill>
                <a:srgbClr val="0084B5"/>
              </a:solidFill>
              <a:latin typeface="Montserrat"/>
              <a:ea typeface="Montserrat"/>
              <a:cs typeface="Montserrat"/>
              <a:sym typeface="Montserrat"/>
            </a:endParaRPr>
          </a:p>
        </p:txBody>
      </p:sp>
      <p:sp>
        <p:nvSpPr>
          <p:cNvPr id="119" name="Google Shape;119;p16"/>
          <p:cNvSpPr txBox="1"/>
          <p:nvPr/>
        </p:nvSpPr>
        <p:spPr>
          <a:xfrm>
            <a:off x="4730900" y="770375"/>
            <a:ext cx="4302300" cy="1766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 Figure who has been in the industry for decades,</a:t>
            </a:r>
            <a:r>
              <a:rPr lang="en" sz="1000">
                <a:solidFill>
                  <a:schemeClr val="dk1"/>
                </a:solidFill>
                <a:latin typeface="Montserrat"/>
                <a:ea typeface="Montserrat"/>
                <a:cs typeface="Montserrat"/>
                <a:sym typeface="Montserrat"/>
              </a:rPr>
              <a:t> They are in expert and take control of everything in their industry. They </a:t>
            </a:r>
            <a:r>
              <a:rPr b="1" lang="en" sz="1000">
                <a:solidFill>
                  <a:schemeClr val="dk1"/>
                </a:solidFill>
                <a:latin typeface="Montserrat"/>
                <a:ea typeface="Montserrat"/>
                <a:cs typeface="Montserrat"/>
                <a:sym typeface="Montserrat"/>
              </a:rPr>
              <a:t>K</a:t>
            </a:r>
            <a:r>
              <a:rPr b="1" lang="en" sz="1000">
                <a:solidFill>
                  <a:schemeClr val="dk1"/>
                </a:solidFill>
                <a:latin typeface="Montserrat"/>
                <a:ea typeface="Montserrat"/>
                <a:cs typeface="Montserrat"/>
                <a:sym typeface="Montserrat"/>
              </a:rPr>
              <a:t>now the industry very well</a:t>
            </a:r>
            <a:r>
              <a:rPr lang="en" sz="1000">
                <a:solidFill>
                  <a:schemeClr val="dk1"/>
                </a:solidFill>
                <a:latin typeface="Montserrat"/>
                <a:ea typeface="Montserrat"/>
                <a:cs typeface="Montserrat"/>
                <a:sym typeface="Montserrat"/>
              </a:rPr>
              <a:t>, might as well know what’s going on and what's come up in near future.</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100">
                <a:solidFill>
                  <a:schemeClr val="dk1"/>
                </a:solidFill>
                <a:latin typeface="Montserrat"/>
                <a:ea typeface="Montserrat"/>
                <a:cs typeface="Montserrat"/>
                <a:sym typeface="Montserrat"/>
              </a:rPr>
              <a:t>They are industry expert and feared, thus people tend to follow their footstep if they know how-to be like them. Most of them have a g</a:t>
            </a:r>
            <a:r>
              <a:rPr lang="en" sz="1000">
                <a:solidFill>
                  <a:schemeClr val="dk1"/>
                </a:solidFill>
                <a:latin typeface="Montserrat"/>
                <a:ea typeface="Montserrat"/>
                <a:cs typeface="Montserrat"/>
                <a:sym typeface="Montserrat"/>
              </a:rPr>
              <a:t>reat analytical skill and have been entrust with lots of money due to their </a:t>
            </a:r>
            <a:r>
              <a:rPr b="1" lang="en" sz="1000">
                <a:solidFill>
                  <a:schemeClr val="dk1"/>
                </a:solidFill>
                <a:latin typeface="Montserrat"/>
                <a:ea typeface="Montserrat"/>
                <a:cs typeface="Montserrat"/>
                <a:sym typeface="Montserrat"/>
              </a:rPr>
              <a:t>experience</a:t>
            </a:r>
            <a:r>
              <a:rPr lang="en" sz="1000">
                <a:solidFill>
                  <a:schemeClr val="dk1"/>
                </a:solidFill>
                <a:latin typeface="Montserrat"/>
                <a:ea typeface="Montserrat"/>
                <a:cs typeface="Montserrat"/>
                <a:sym typeface="Montserrat"/>
              </a:rPr>
              <a:t>, yet they are still striving for knowledge to be better and better in the field</a:t>
            </a:r>
            <a:endParaRPr sz="1000">
              <a:solidFill>
                <a:schemeClr val="dk1"/>
              </a:solidFill>
              <a:latin typeface="Montserrat"/>
              <a:ea typeface="Montserrat"/>
              <a:cs typeface="Montserrat"/>
              <a:sym typeface="Montserrat"/>
            </a:endParaRPr>
          </a:p>
        </p:txBody>
      </p:sp>
      <p:sp>
        <p:nvSpPr>
          <p:cNvPr id="120" name="Google Shape;120;p16"/>
          <p:cNvSpPr txBox="1"/>
          <p:nvPr/>
        </p:nvSpPr>
        <p:spPr>
          <a:xfrm>
            <a:off x="119900" y="2519450"/>
            <a:ext cx="4400100" cy="95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Diversifying</a:t>
            </a:r>
            <a:r>
              <a:rPr b="1" lang="en" sz="1000">
                <a:solidFill>
                  <a:schemeClr val="dk1"/>
                </a:solidFill>
                <a:latin typeface="Montserrat"/>
                <a:ea typeface="Montserrat"/>
                <a:cs typeface="Montserrat"/>
                <a:sym typeface="Montserrat"/>
              </a:rPr>
              <a:t> portfolio,</a:t>
            </a:r>
            <a:r>
              <a:rPr lang="en" sz="1000">
                <a:solidFill>
                  <a:schemeClr val="dk1"/>
                </a:solidFill>
                <a:latin typeface="Montserrat"/>
                <a:ea typeface="Montserrat"/>
                <a:cs typeface="Montserrat"/>
                <a:sym typeface="Montserrat"/>
              </a:rPr>
              <a:t> always seeking investment alternatives to gain more profit</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Leveraging coin Popularity,</a:t>
            </a:r>
            <a:r>
              <a:rPr lang="en" sz="1000">
                <a:solidFill>
                  <a:schemeClr val="dk1"/>
                </a:solidFill>
                <a:latin typeface="Montserrat"/>
                <a:ea typeface="Montserrat"/>
                <a:cs typeface="Montserrat"/>
                <a:sym typeface="Montserrat"/>
              </a:rPr>
              <a:t> in order to maximize profit</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Maximize return for institution,</a:t>
            </a:r>
            <a:r>
              <a:rPr lang="en" sz="1000">
                <a:solidFill>
                  <a:schemeClr val="dk1"/>
                </a:solidFill>
                <a:latin typeface="Montserrat"/>
                <a:ea typeface="Montserrat"/>
                <a:cs typeface="Montserrat"/>
                <a:sym typeface="Montserrat"/>
              </a:rPr>
              <a:t> the better the return the more success they become in their career</a:t>
            </a:r>
            <a:endParaRPr sz="1000">
              <a:solidFill>
                <a:schemeClr val="dk1"/>
              </a:solidFill>
              <a:latin typeface="Montserrat"/>
              <a:ea typeface="Montserrat"/>
              <a:cs typeface="Montserrat"/>
              <a:sym typeface="Montserrat"/>
            </a:endParaRPr>
          </a:p>
        </p:txBody>
      </p:sp>
      <p:sp>
        <p:nvSpPr>
          <p:cNvPr id="121" name="Google Shape;121;p16"/>
          <p:cNvSpPr txBox="1"/>
          <p:nvPr/>
        </p:nvSpPr>
        <p:spPr>
          <a:xfrm>
            <a:off x="97588" y="3772450"/>
            <a:ext cx="8985600" cy="1031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27000" lvl="0" marL="171450" rtl="0" algn="l">
              <a:spcBef>
                <a:spcPts val="0"/>
              </a:spcBef>
              <a:spcAft>
                <a:spcPts val="0"/>
              </a:spcAft>
              <a:buClr>
                <a:schemeClr val="dk1"/>
              </a:buClr>
              <a:buSzPts val="1100"/>
              <a:buFont typeface="Montserrat"/>
              <a:buChar char="●"/>
            </a:pPr>
            <a:r>
              <a:rPr b="1" lang="en" sz="1100">
                <a:solidFill>
                  <a:schemeClr val="dk1"/>
                </a:solidFill>
                <a:latin typeface="Montserrat"/>
                <a:ea typeface="Montserrat"/>
                <a:cs typeface="Montserrat"/>
                <a:sym typeface="Montserrat"/>
              </a:rPr>
              <a:t>A Risk-taker, </a:t>
            </a:r>
            <a:r>
              <a:rPr lang="en" sz="1100">
                <a:solidFill>
                  <a:schemeClr val="dk1"/>
                </a:solidFill>
                <a:latin typeface="Montserrat"/>
                <a:ea typeface="Montserrat"/>
                <a:cs typeface="Montserrat"/>
                <a:sym typeface="Montserrat"/>
              </a:rPr>
              <a:t>to be able to generate a better result compared to previous and projected number</a:t>
            </a:r>
            <a:endParaRPr sz="1100">
              <a:solidFill>
                <a:schemeClr val="dk1"/>
              </a:solidFill>
              <a:latin typeface="Montserrat"/>
              <a:ea typeface="Montserrat"/>
              <a:cs typeface="Montserrat"/>
              <a:sym typeface="Montserrat"/>
            </a:endParaRPr>
          </a:p>
          <a:p>
            <a:pPr indent="-127000" lvl="0" marL="171450" rtl="0" algn="l">
              <a:spcBef>
                <a:spcPts val="0"/>
              </a:spcBef>
              <a:spcAft>
                <a:spcPts val="0"/>
              </a:spcAft>
              <a:buClr>
                <a:schemeClr val="dk1"/>
              </a:buClr>
              <a:buSzPts val="1100"/>
              <a:buFont typeface="Montserrat"/>
              <a:buChar char="●"/>
            </a:pPr>
            <a:r>
              <a:rPr b="1" lang="en" sz="1100">
                <a:solidFill>
                  <a:schemeClr val="dk1"/>
                </a:solidFill>
                <a:latin typeface="Montserrat"/>
                <a:ea typeface="Montserrat"/>
                <a:cs typeface="Montserrat"/>
                <a:sym typeface="Montserrat"/>
              </a:rPr>
              <a:t>Execution speed,</a:t>
            </a:r>
            <a:r>
              <a:rPr lang="en" sz="1100">
                <a:solidFill>
                  <a:schemeClr val="dk1"/>
                </a:solidFill>
                <a:latin typeface="Montserrat"/>
                <a:ea typeface="Montserrat"/>
                <a:cs typeface="Montserrat"/>
                <a:sym typeface="Montserrat"/>
              </a:rPr>
              <a:t> since most of them transact with big amounts of money and probably affecting the market. </a:t>
            </a:r>
            <a:r>
              <a:rPr b="1" lang="en" sz="1100">
                <a:solidFill>
                  <a:schemeClr val="dk1"/>
                </a:solidFill>
                <a:latin typeface="Montserrat"/>
                <a:ea typeface="Montserrat"/>
                <a:cs typeface="Montserrat"/>
                <a:sym typeface="Montserrat"/>
              </a:rPr>
              <a:t>They need platform able to facilitate the activity and trusted.</a:t>
            </a:r>
            <a:endParaRPr b="1" sz="1100">
              <a:solidFill>
                <a:schemeClr val="dk1"/>
              </a:solidFill>
              <a:latin typeface="Montserrat"/>
              <a:ea typeface="Montserrat"/>
              <a:cs typeface="Montserrat"/>
              <a:sym typeface="Montserrat"/>
            </a:endParaRPr>
          </a:p>
          <a:p>
            <a:pPr indent="-127000" lvl="0" marL="171450" rtl="0" algn="l">
              <a:spcBef>
                <a:spcPts val="0"/>
              </a:spcBef>
              <a:spcAft>
                <a:spcPts val="0"/>
              </a:spcAft>
              <a:buClr>
                <a:schemeClr val="dk1"/>
              </a:buClr>
              <a:buSzPts val="1100"/>
              <a:buFont typeface="Montserrat"/>
              <a:buChar char="●"/>
            </a:pPr>
            <a:r>
              <a:rPr b="1" lang="en" sz="1100">
                <a:solidFill>
                  <a:schemeClr val="dk1"/>
                </a:solidFill>
                <a:latin typeface="Montserrat"/>
                <a:ea typeface="Montserrat"/>
                <a:cs typeface="Montserrat"/>
                <a:sym typeface="Montserrat"/>
              </a:rPr>
              <a:t>Strategic think and data-driven person</a:t>
            </a:r>
            <a:r>
              <a:rPr lang="en" sz="1100">
                <a:solidFill>
                  <a:schemeClr val="dk1"/>
                </a:solidFill>
                <a:latin typeface="Montserrat"/>
                <a:ea typeface="Montserrat"/>
                <a:cs typeface="Montserrat"/>
                <a:sym typeface="Montserrat"/>
              </a:rPr>
              <a:t>, they will tap in and out more frequently compared to others to match others buy, sell and smoothly affect market</a:t>
            </a:r>
            <a:endParaRPr sz="1100">
              <a:solidFill>
                <a:schemeClr val="dk1"/>
              </a:solidFill>
              <a:latin typeface="Montserrat"/>
              <a:ea typeface="Montserrat"/>
              <a:cs typeface="Montserrat"/>
              <a:sym typeface="Montserrat"/>
            </a:endParaRPr>
          </a:p>
        </p:txBody>
      </p:sp>
      <p:sp>
        <p:nvSpPr>
          <p:cNvPr id="122" name="Google Shape;122;p16"/>
          <p:cNvSpPr txBox="1"/>
          <p:nvPr/>
        </p:nvSpPr>
        <p:spPr>
          <a:xfrm>
            <a:off x="4662500" y="2739100"/>
            <a:ext cx="4400100" cy="95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Market volatility</a:t>
            </a:r>
            <a:r>
              <a:rPr lang="en" sz="1000">
                <a:solidFill>
                  <a:schemeClr val="dk1"/>
                </a:solidFill>
                <a:latin typeface="Montserrat"/>
                <a:ea typeface="Montserrat"/>
                <a:cs typeface="Montserrat"/>
                <a:sym typeface="Montserrat"/>
              </a:rPr>
              <a:t>, with decades of experience market still a mystery even for professionals </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High-end </a:t>
            </a:r>
            <a:r>
              <a:rPr b="1" lang="en" sz="1000">
                <a:solidFill>
                  <a:schemeClr val="dk1"/>
                </a:solidFill>
                <a:latin typeface="Montserrat"/>
                <a:ea typeface="Montserrat"/>
                <a:cs typeface="Montserrat"/>
                <a:sym typeface="Montserrat"/>
              </a:rPr>
              <a:t>platform</a:t>
            </a:r>
            <a:r>
              <a:rPr b="1" lang="en" sz="1000">
                <a:solidFill>
                  <a:schemeClr val="dk1"/>
                </a:solidFill>
                <a:latin typeface="Montserrat"/>
                <a:ea typeface="Montserrat"/>
                <a:cs typeface="Montserrat"/>
                <a:sym typeface="Montserrat"/>
              </a:rPr>
              <a:t>,</a:t>
            </a:r>
            <a:r>
              <a:rPr lang="en" sz="1000">
                <a:solidFill>
                  <a:schemeClr val="dk1"/>
                </a:solidFill>
                <a:latin typeface="Montserrat"/>
                <a:ea typeface="Montserrat"/>
                <a:cs typeface="Montserrat"/>
                <a:sym typeface="Montserrat"/>
              </a:rPr>
              <a:t> for ensuring accurate and timid execution</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Regulation</a:t>
            </a:r>
            <a:r>
              <a:rPr lang="en" sz="1000">
                <a:solidFill>
                  <a:schemeClr val="dk1"/>
                </a:solidFill>
                <a:latin typeface="Montserrat"/>
                <a:ea typeface="Montserrat"/>
                <a:cs typeface="Montserrat"/>
                <a:sym typeface="Montserrat"/>
              </a:rPr>
              <a:t>, plays important role to affect market and </a:t>
            </a:r>
            <a:r>
              <a:rPr lang="en" sz="1000">
                <a:solidFill>
                  <a:schemeClr val="dk1"/>
                </a:solidFill>
                <a:latin typeface="Montserrat"/>
                <a:ea typeface="Montserrat"/>
                <a:cs typeface="Montserrat"/>
                <a:sym typeface="Montserrat"/>
              </a:rPr>
              <a:t>institution</a:t>
            </a:r>
            <a:r>
              <a:rPr lang="en" sz="1000">
                <a:solidFill>
                  <a:schemeClr val="dk1"/>
                </a:solidFill>
                <a:latin typeface="Montserrat"/>
                <a:ea typeface="Montserrat"/>
                <a:cs typeface="Montserrat"/>
                <a:sym typeface="Montserrat"/>
              </a:rPr>
              <a:t> activity, thus they need to be aware of it.</a:t>
            </a:r>
            <a:endParaRPr sz="1000">
              <a:solidFill>
                <a:schemeClr val="dk1"/>
              </a:solidFill>
              <a:latin typeface="Montserrat"/>
              <a:ea typeface="Montserrat"/>
              <a:cs typeface="Montserrat"/>
              <a:sym typeface="Montserrat"/>
            </a:endParaRPr>
          </a:p>
        </p:txBody>
      </p:sp>
      <p:sp>
        <p:nvSpPr>
          <p:cNvPr id="123" name="Google Shape;123;p16"/>
          <p:cNvSpPr txBox="1"/>
          <p:nvPr/>
        </p:nvSpPr>
        <p:spPr>
          <a:xfrm>
            <a:off x="113475" y="801900"/>
            <a:ext cx="4437000" cy="969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Age</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Gender</a:t>
            </a:r>
            <a:r>
              <a:rPr lang="en" sz="1000">
                <a:solidFill>
                  <a:schemeClr val="dk1"/>
                </a:solidFill>
                <a:latin typeface="Montserrat"/>
                <a:ea typeface="Montserrat"/>
                <a:cs typeface="Montserrat"/>
                <a:sym typeface="Montserrat"/>
              </a:rPr>
              <a:t>: Male &amp; Female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Location</a:t>
            </a:r>
            <a:r>
              <a:rPr lang="en" sz="1000">
                <a:solidFill>
                  <a:schemeClr val="dk1"/>
                </a:solidFill>
                <a:latin typeface="Montserrat"/>
                <a:ea typeface="Montserrat"/>
                <a:cs typeface="Montserrat"/>
                <a:sym typeface="Montserrat"/>
              </a:rPr>
              <a:t>: Jakarta &amp; Bali</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Occupation</a:t>
            </a:r>
            <a:r>
              <a:rPr lang="en" sz="1000">
                <a:solidFill>
                  <a:schemeClr val="dk1"/>
                </a:solidFill>
                <a:latin typeface="Montserrat"/>
                <a:ea typeface="Montserrat"/>
                <a:cs typeface="Montserrat"/>
                <a:sym typeface="Montserrat"/>
              </a:rPr>
              <a:t>: </a:t>
            </a:r>
            <a:r>
              <a:rPr lang="en" sz="1100">
                <a:solidFill>
                  <a:schemeClr val="dk1"/>
                </a:solidFill>
                <a:latin typeface="Montserrat"/>
                <a:ea typeface="Montserrat"/>
                <a:cs typeface="Montserrat"/>
                <a:sym typeface="Montserrat"/>
              </a:rPr>
              <a:t>Manage High Networth people portfolio</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Income Level</a:t>
            </a:r>
            <a:r>
              <a:rPr lang="en" sz="1000">
                <a:solidFill>
                  <a:schemeClr val="dk1"/>
                </a:solidFill>
                <a:latin typeface="Montserrat"/>
                <a:ea typeface="Montserrat"/>
                <a:cs typeface="Montserrat"/>
                <a:sym typeface="Montserrat"/>
              </a:rPr>
              <a:t>: High-networth people allocation/ High AUM</a:t>
            </a:r>
            <a:endParaRPr sz="1000">
              <a:solidFill>
                <a:schemeClr val="dk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17"/>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Wealthy Individual 2023 vs Wealthy Individual 2024</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pic>
        <p:nvPicPr>
          <p:cNvPr id="129" name="Google Shape;129;p17"/>
          <p:cNvPicPr preferRelativeResize="0"/>
          <p:nvPr/>
        </p:nvPicPr>
        <p:blipFill>
          <a:blip r:embed="rId4">
            <a:alphaModFix/>
          </a:blip>
          <a:stretch>
            <a:fillRect/>
          </a:stretch>
        </p:blipFill>
        <p:spPr>
          <a:xfrm>
            <a:off x="428596" y="640700"/>
            <a:ext cx="1632900" cy="1088600"/>
          </a:xfrm>
          <a:prstGeom prst="rect">
            <a:avLst/>
          </a:prstGeom>
          <a:noFill/>
          <a:ln>
            <a:noFill/>
          </a:ln>
        </p:spPr>
      </p:pic>
      <p:sp>
        <p:nvSpPr>
          <p:cNvPr id="130" name="Google Shape;130;p17"/>
          <p:cNvSpPr txBox="1"/>
          <p:nvPr/>
        </p:nvSpPr>
        <p:spPr>
          <a:xfrm>
            <a:off x="3569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Wiraswasta </a:t>
            </a:r>
            <a:endParaRPr b="1" sz="1000">
              <a:solidFill>
                <a:schemeClr val="dk2"/>
              </a:solidFill>
            </a:endParaRPr>
          </a:p>
        </p:txBody>
      </p:sp>
      <p:sp>
        <p:nvSpPr>
          <p:cNvPr id="131" name="Google Shape;131;p17"/>
          <p:cNvSpPr txBox="1"/>
          <p:nvPr/>
        </p:nvSpPr>
        <p:spPr>
          <a:xfrm>
            <a:off x="2914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Common Traders Age Group 2023 &amp; 2024</a:t>
            </a:r>
            <a:endParaRPr b="1" sz="1000">
              <a:solidFill>
                <a:schemeClr val="dk2"/>
              </a:solidFill>
            </a:endParaRPr>
          </a:p>
        </p:txBody>
      </p:sp>
      <p:sp>
        <p:nvSpPr>
          <p:cNvPr id="132" name="Google Shape;132;p17"/>
          <p:cNvSpPr txBox="1"/>
          <p:nvPr/>
        </p:nvSpPr>
        <p:spPr>
          <a:xfrm>
            <a:off x="304800" y="3063200"/>
            <a:ext cx="27537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Age group of 26-35 &amp; 36-45 are dominating in this segment. In 2023, Men dominating by 88.56% in this segment, meanwhile in 2024, it slightly decreased to 88.29%</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graphicFrame>
        <p:nvGraphicFramePr>
          <p:cNvPr id="133" name="Google Shape;133;p17"/>
          <p:cNvGraphicFramePr/>
          <p:nvPr/>
        </p:nvGraphicFramePr>
        <p:xfrm>
          <a:off x="357000" y="3815100"/>
          <a:ext cx="3000000" cy="3000000"/>
        </p:xfrm>
        <a:graphic>
          <a:graphicData uri="http://schemas.openxmlformats.org/drawingml/2006/table">
            <a:tbl>
              <a:tblPr>
                <a:noFill/>
                <a:tableStyleId>{0287243F-39C1-4460-8421-3307866EDBE6}</a:tableStyleId>
              </a:tblPr>
              <a:tblGrid>
                <a:gridCol w="639550"/>
                <a:gridCol w="639550"/>
                <a:gridCol w="639550"/>
                <a:gridCol w="639550"/>
              </a:tblGrid>
              <a:tr h="140925">
                <a:tc gridSpan="3">
                  <a:txBody>
                    <a:bodyPr/>
                    <a:lstStyle/>
                    <a:p>
                      <a:pPr indent="0" lvl="0" marL="0" rtl="0" algn="ctr">
                        <a:lnSpc>
                          <a:spcPct val="115000"/>
                        </a:lnSpc>
                        <a:spcBef>
                          <a:spcPts val="0"/>
                        </a:spcBef>
                        <a:spcAft>
                          <a:spcPts val="0"/>
                        </a:spcAft>
                        <a:buNone/>
                      </a:pPr>
                      <a:r>
                        <a:rPr b="1" lang="en" sz="600"/>
                        <a:t>Number of Traders (Wiraswasta)</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rowSpan="2">
                  <a:txBody>
                    <a:bodyPr/>
                    <a:lstStyle/>
                    <a:p>
                      <a:pPr indent="0" lvl="0" marL="0" rtl="0" algn="ctr">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140925">
                <a:tc>
                  <a:txBody>
                    <a:bodyPr/>
                    <a:lstStyle/>
                    <a:p>
                      <a:pPr indent="0" lvl="0" marL="0" rtl="0" algn="ctr">
                        <a:lnSpc>
                          <a:spcPct val="115000"/>
                        </a:lnSpc>
                        <a:spcBef>
                          <a:spcPts val="0"/>
                        </a:spcBef>
                        <a:spcAft>
                          <a:spcPts val="0"/>
                        </a:spcAft>
                        <a:buNone/>
                      </a:pPr>
                      <a:r>
                        <a:rPr b="1" lang="en" sz="600"/>
                        <a:t>Age Group</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vMerge="1"/>
              </a:tr>
              <a:tr h="140925">
                <a:tc>
                  <a:txBody>
                    <a:bodyPr/>
                    <a:lstStyle/>
                    <a:p>
                      <a:pPr indent="0" lvl="0" marL="0" rtl="0" algn="ctr">
                        <a:lnSpc>
                          <a:spcPct val="115000"/>
                        </a:lnSpc>
                        <a:spcBef>
                          <a:spcPts val="0"/>
                        </a:spcBef>
                        <a:spcAft>
                          <a:spcPts val="0"/>
                        </a:spcAft>
                        <a:buNone/>
                      </a:pPr>
                      <a:r>
                        <a:rPr lang="en" sz="600"/>
                        <a:t>26-35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528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787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49.05%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t>36-45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697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907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30.12%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134" name="Google Shape;134;p17"/>
          <p:cNvSpPr txBox="1"/>
          <p:nvPr/>
        </p:nvSpPr>
        <p:spPr>
          <a:xfrm>
            <a:off x="3023113" y="1767688"/>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135" name="Google Shape;135;p17"/>
          <p:cNvPicPr preferRelativeResize="0"/>
          <p:nvPr/>
        </p:nvPicPr>
        <p:blipFill>
          <a:blip r:embed="rId5">
            <a:alphaModFix/>
          </a:blip>
          <a:stretch>
            <a:fillRect/>
          </a:stretch>
        </p:blipFill>
        <p:spPr>
          <a:xfrm>
            <a:off x="3197725" y="2100525"/>
            <a:ext cx="1681325" cy="939725"/>
          </a:xfrm>
          <a:prstGeom prst="rect">
            <a:avLst/>
          </a:prstGeom>
          <a:noFill/>
          <a:ln>
            <a:noFill/>
          </a:ln>
        </p:spPr>
      </p:pic>
      <p:sp>
        <p:nvSpPr>
          <p:cNvPr id="136" name="Google Shape;136;p17"/>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2,591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120,370,394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137" name="Google Shape;137;p17"/>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3,024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83,367,944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138" name="Google Shape;138;p17"/>
          <p:cNvPicPr preferRelativeResize="0"/>
          <p:nvPr/>
        </p:nvPicPr>
        <p:blipFill>
          <a:blip r:embed="rId6">
            <a:alphaModFix/>
          </a:blip>
          <a:stretch>
            <a:fillRect/>
          </a:stretch>
        </p:blipFill>
        <p:spPr>
          <a:xfrm>
            <a:off x="3083088" y="3115075"/>
            <a:ext cx="1849200" cy="844975"/>
          </a:xfrm>
          <a:prstGeom prst="rect">
            <a:avLst/>
          </a:prstGeom>
          <a:noFill/>
          <a:ln>
            <a:noFill/>
          </a:ln>
        </p:spPr>
      </p:pic>
      <p:sp>
        <p:nvSpPr>
          <p:cNvPr id="139" name="Google Shape;139;p17"/>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2,060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119,239,162</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140" name="Google Shape;140;p17"/>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1.877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86,332,967</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141" name="Google Shape;141;p17"/>
          <p:cNvPicPr preferRelativeResize="0"/>
          <p:nvPr/>
        </p:nvPicPr>
        <p:blipFill>
          <a:blip r:embed="rId7">
            <a:alphaModFix/>
          </a:blip>
          <a:stretch>
            <a:fillRect/>
          </a:stretch>
        </p:blipFill>
        <p:spPr>
          <a:xfrm>
            <a:off x="3346262" y="4110275"/>
            <a:ext cx="1322875" cy="878701"/>
          </a:xfrm>
          <a:prstGeom prst="rect">
            <a:avLst/>
          </a:prstGeom>
          <a:noFill/>
          <a:ln>
            <a:noFill/>
          </a:ln>
        </p:spPr>
      </p:pic>
      <p:sp>
        <p:nvSpPr>
          <p:cNvPr id="142" name="Google Shape;142;p17"/>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1,367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132,828,535</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143" name="Google Shape;143;p17"/>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1,225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92,188,734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144" name="Google Shape;144;p17"/>
          <p:cNvPicPr preferRelativeResize="0"/>
          <p:nvPr/>
        </p:nvPicPr>
        <p:blipFill>
          <a:blip r:embed="rId8">
            <a:alphaModFix/>
          </a:blip>
          <a:stretch>
            <a:fillRect/>
          </a:stretch>
        </p:blipFill>
        <p:spPr>
          <a:xfrm>
            <a:off x="6863751" y="103213"/>
            <a:ext cx="1935950" cy="1353800"/>
          </a:xfrm>
          <a:prstGeom prst="rect">
            <a:avLst/>
          </a:prstGeom>
          <a:noFill/>
          <a:ln>
            <a:noFill/>
          </a:ln>
        </p:spPr>
      </p:pic>
      <p:sp>
        <p:nvSpPr>
          <p:cNvPr id="145" name="Google Shape;145;p17"/>
          <p:cNvSpPr txBox="1"/>
          <p:nvPr/>
        </p:nvSpPr>
        <p:spPr>
          <a:xfrm>
            <a:off x="6863775" y="1564713"/>
            <a:ext cx="1935900" cy="1293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Jakarta become a top 1 region for wealthy individuals users with the population of 1,007 traders in 2023, and in 2024, Jakarta still at first place of wealthy individuals traders with the population of 1,553, and it is grow by 54.22% from last year.</a:t>
            </a:r>
            <a:endParaRPr sz="900">
              <a:solidFill>
                <a:schemeClr val="dk2"/>
              </a:solidFill>
            </a:endParaRPr>
          </a:p>
        </p:txBody>
      </p:sp>
      <p:cxnSp>
        <p:nvCxnSpPr>
          <p:cNvPr id="146" name="Google Shape;146;p17"/>
          <p:cNvCxnSpPr/>
          <p:nvPr/>
        </p:nvCxnSpPr>
        <p:spPr>
          <a:xfrm>
            <a:off x="4874000" y="2605925"/>
            <a:ext cx="179100" cy="0"/>
          </a:xfrm>
          <a:prstGeom prst="straightConnector1">
            <a:avLst/>
          </a:prstGeom>
          <a:noFill/>
          <a:ln cap="flat" cmpd="sng" w="9525">
            <a:solidFill>
              <a:schemeClr val="dk2"/>
            </a:solidFill>
            <a:prstDash val="solid"/>
            <a:round/>
            <a:headEnd len="med" w="med" type="none"/>
            <a:tailEnd len="med" w="med" type="stealth"/>
          </a:ln>
        </p:spPr>
      </p:cxnSp>
      <p:cxnSp>
        <p:nvCxnSpPr>
          <p:cNvPr id="147" name="Google Shape;147;p17"/>
          <p:cNvCxnSpPr/>
          <p:nvPr/>
        </p:nvCxnSpPr>
        <p:spPr>
          <a:xfrm>
            <a:off x="4709250" y="3551525"/>
            <a:ext cx="236400" cy="0"/>
          </a:xfrm>
          <a:prstGeom prst="straightConnector1">
            <a:avLst/>
          </a:prstGeom>
          <a:noFill/>
          <a:ln cap="flat" cmpd="sng" w="9525">
            <a:solidFill>
              <a:schemeClr val="dk2"/>
            </a:solidFill>
            <a:prstDash val="solid"/>
            <a:round/>
            <a:headEnd len="med" w="med" type="none"/>
            <a:tailEnd len="med" w="med" type="stealth"/>
          </a:ln>
        </p:spPr>
      </p:cxnSp>
      <p:cxnSp>
        <p:nvCxnSpPr>
          <p:cNvPr id="148" name="Google Shape;148;p17"/>
          <p:cNvCxnSpPr>
            <a:stCxn id="141"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graphicFrame>
        <p:nvGraphicFramePr>
          <p:cNvPr id="149" name="Google Shape;149;p17"/>
          <p:cNvGraphicFramePr/>
          <p:nvPr/>
        </p:nvGraphicFramePr>
        <p:xfrm>
          <a:off x="6758725" y="2965713"/>
          <a:ext cx="3000000" cy="3000000"/>
        </p:xfrm>
        <a:graphic>
          <a:graphicData uri="http://schemas.openxmlformats.org/drawingml/2006/table">
            <a:tbl>
              <a:tblPr>
                <a:noFill/>
                <a:tableStyleId>{0287243F-39C1-4460-8421-3307866EDBE6}</a:tableStyleId>
              </a:tblPr>
              <a:tblGrid>
                <a:gridCol w="565675"/>
                <a:gridCol w="565675"/>
                <a:gridCol w="565675"/>
                <a:gridCol w="448950"/>
              </a:tblGrid>
              <a:tr h="146075">
                <a:tc gridSpan="4">
                  <a:txBody>
                    <a:bodyPr/>
                    <a:lstStyle/>
                    <a:p>
                      <a:pPr indent="0" lvl="0" marL="0" rtl="0" algn="ctr">
                        <a:lnSpc>
                          <a:spcPct val="115000"/>
                        </a:lnSpc>
                        <a:spcBef>
                          <a:spcPts val="0"/>
                        </a:spcBef>
                        <a:spcAft>
                          <a:spcPts val="0"/>
                        </a:spcAft>
                        <a:buNone/>
                      </a:pPr>
                      <a:r>
                        <a:rPr b="1" lang="en" sz="600"/>
                        <a:t>Trading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2461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246100">
                <a:tc>
                  <a:txBody>
                    <a:bodyPr/>
                    <a:lstStyle/>
                    <a:p>
                      <a:pPr indent="0" lvl="0" marL="0" rtl="0" algn="l">
                        <a:lnSpc>
                          <a:spcPct val="115000"/>
                        </a:lnSpc>
                        <a:spcBef>
                          <a:spcPts val="0"/>
                        </a:spcBef>
                        <a:spcAft>
                          <a:spcPts val="0"/>
                        </a:spcAft>
                        <a:buNone/>
                      </a:pPr>
                      <a:r>
                        <a:rPr lang="en" sz="600"/>
                        <a:t>Avg </a:t>
                      </a:r>
                      <a:r>
                        <a:rPr lang="en" sz="600"/>
                        <a:t>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1248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1323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a:t>
                      </a:r>
                      <a:r>
                        <a:rPr lang="en" sz="600"/>
                        <a:t> Trade Frequency (Weekly)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121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44.04%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Trade Freq (Monthly)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293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443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51.19%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Trade Freq (Daily)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24.00%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13,634,070,092,577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21,010,371,788,747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54.10%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78,924,413.42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88,846,707.98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12.57%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150" name="Google Shape;150;p17"/>
          <p:cNvSpPr txBox="1"/>
          <p:nvPr/>
        </p:nvSpPr>
        <p:spPr>
          <a:xfrm>
            <a:off x="3035513" y="70487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2023 Wealthy Individual: 1,757 Traders</a:t>
            </a:r>
            <a:endParaRPr b="1" sz="1000">
              <a:solidFill>
                <a:schemeClr val="dk2"/>
              </a:solidFill>
            </a:endParaRPr>
          </a:p>
        </p:txBody>
      </p:sp>
      <p:sp>
        <p:nvSpPr>
          <p:cNvPr id="151" name="Google Shape;151;p17"/>
          <p:cNvSpPr txBox="1"/>
          <p:nvPr/>
        </p:nvSpPr>
        <p:spPr>
          <a:xfrm>
            <a:off x="3080988" y="140711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2024 Wealthy Individual: 2,597 Traders</a:t>
            </a:r>
            <a:endParaRPr b="1" sz="1000">
              <a:solidFill>
                <a:schemeClr val="dk2"/>
              </a:solidFill>
            </a:endParaRPr>
          </a:p>
        </p:txBody>
      </p:sp>
      <p:sp>
        <p:nvSpPr>
          <p:cNvPr id="152" name="Google Shape;152;p17"/>
          <p:cNvSpPr txBox="1"/>
          <p:nvPr/>
        </p:nvSpPr>
        <p:spPr>
          <a:xfrm>
            <a:off x="3739613" y="1001400"/>
            <a:ext cx="11205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⬆47,81%</a:t>
            </a:r>
            <a:endParaRPr b="1" sz="1600">
              <a:solidFill>
                <a:srgbClr val="6AA84F"/>
              </a:solidFill>
            </a:endParaRPr>
          </a:p>
        </p:txBody>
      </p:sp>
      <p:sp>
        <p:nvSpPr>
          <p:cNvPr id="153" name="Google Shape;153;p17"/>
          <p:cNvSpPr txBox="1"/>
          <p:nvPr/>
        </p:nvSpPr>
        <p:spPr>
          <a:xfrm>
            <a:off x="1915400" y="4521925"/>
            <a:ext cx="1017300" cy="57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2"/>
                </a:solidFill>
              </a:rPr>
              <a:t>Source:</a:t>
            </a:r>
            <a:endParaRPr sz="500">
              <a:solidFill>
                <a:schemeClr val="dk2"/>
              </a:solidFill>
            </a:endParaRPr>
          </a:p>
          <a:p>
            <a:pPr indent="0" lvl="0" marL="0" rtl="0" algn="l">
              <a:spcBef>
                <a:spcPts val="0"/>
              </a:spcBef>
              <a:spcAft>
                <a:spcPts val="0"/>
              </a:spcAft>
              <a:buNone/>
            </a:pPr>
            <a:r>
              <a:rPr lang="en" sz="500" u="sng">
                <a:solidFill>
                  <a:schemeClr val="hlink"/>
                </a:solidFill>
                <a:hlinkClick r:id="rId9"/>
              </a:rPr>
              <a:t>Source of Location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0"/>
              </a:rPr>
              <a:t>Source of Deposit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1"/>
              </a:rPr>
              <a:t>Source of Age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2"/>
              </a:rPr>
              <a:t>Source of Trade Data</a:t>
            </a:r>
            <a:endParaRPr sz="500">
              <a:solidFill>
                <a:schemeClr val="dk2"/>
              </a:solidFill>
            </a:endParaRPr>
          </a:p>
        </p:txBody>
      </p:sp>
      <p:cxnSp>
        <p:nvCxnSpPr>
          <p:cNvPr id="154" name="Google Shape;154;p17"/>
          <p:cNvCxnSpPr/>
          <p:nvPr/>
        </p:nvCxnSpPr>
        <p:spPr>
          <a:xfrm flipH="1">
            <a:off x="6664950" y="485500"/>
            <a:ext cx="938400" cy="86100"/>
          </a:xfrm>
          <a:prstGeom prst="straightConnector1">
            <a:avLst/>
          </a:prstGeom>
          <a:noFill/>
          <a:ln cap="flat" cmpd="sng" w="9525">
            <a:solidFill>
              <a:srgbClr val="FF0000"/>
            </a:solidFill>
            <a:prstDash val="dash"/>
            <a:round/>
            <a:headEnd len="med" w="med" type="none"/>
            <a:tailEnd len="med" w="med" type="stealth"/>
          </a:ln>
        </p:spPr>
      </p:cxnSp>
      <p:sp>
        <p:nvSpPr>
          <p:cNvPr id="155" name="Google Shape;155;p17"/>
          <p:cNvSpPr txBox="1"/>
          <p:nvPr/>
        </p:nvSpPr>
        <p:spPr>
          <a:xfrm>
            <a:off x="5368300" y="459775"/>
            <a:ext cx="1462500" cy="939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500">
                <a:solidFill>
                  <a:schemeClr val="dk2"/>
                </a:solidFill>
              </a:rPr>
              <a:t>Top 3 City in Jakarta:</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West Jakarta:</a:t>
            </a:r>
            <a:endParaRPr b="1" sz="500">
              <a:solidFill>
                <a:schemeClr val="dk2"/>
              </a:solidFill>
            </a:endParaRPr>
          </a:p>
          <a:p>
            <a:pPr indent="0" lvl="0" marL="457200" rtl="0" algn="l">
              <a:spcBef>
                <a:spcPts val="0"/>
              </a:spcBef>
              <a:spcAft>
                <a:spcPts val="0"/>
              </a:spcAft>
              <a:buNone/>
            </a:pPr>
            <a:r>
              <a:rPr b="1" lang="en" sz="500">
                <a:solidFill>
                  <a:schemeClr val="dk2"/>
                </a:solidFill>
              </a:rPr>
              <a:t>2023 (306 users), 2024 (505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North Jakarta:</a:t>
            </a:r>
            <a:endParaRPr b="1" sz="500">
              <a:solidFill>
                <a:schemeClr val="dk2"/>
              </a:solidFill>
            </a:endParaRPr>
          </a:p>
          <a:p>
            <a:pPr indent="0" lvl="0" marL="457200" rtl="0" algn="l">
              <a:spcBef>
                <a:spcPts val="0"/>
              </a:spcBef>
              <a:spcAft>
                <a:spcPts val="0"/>
              </a:spcAft>
              <a:buNone/>
            </a:pPr>
            <a:r>
              <a:rPr b="1" lang="en" sz="500">
                <a:solidFill>
                  <a:schemeClr val="dk2"/>
                </a:solidFill>
              </a:rPr>
              <a:t>2023 (234 users), 2024 (380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South Jakarta:</a:t>
            </a:r>
            <a:endParaRPr b="1" sz="500">
              <a:solidFill>
                <a:schemeClr val="dk2"/>
              </a:solidFill>
            </a:endParaRPr>
          </a:p>
          <a:p>
            <a:pPr indent="0" lvl="0" marL="457200" rtl="0" algn="l">
              <a:spcBef>
                <a:spcPts val="0"/>
              </a:spcBef>
              <a:spcAft>
                <a:spcPts val="0"/>
              </a:spcAft>
              <a:buNone/>
            </a:pPr>
            <a:r>
              <a:rPr b="1" lang="en" sz="500">
                <a:solidFill>
                  <a:schemeClr val="dk2"/>
                </a:solidFill>
              </a:rPr>
              <a:t>2023 (223 users), 2024 (295 users)</a:t>
            </a:r>
            <a:endParaRPr b="1" sz="500">
              <a:solidFill>
                <a:schemeClr val="dk2"/>
              </a:solidFill>
            </a:endParaRPr>
          </a:p>
          <a:p>
            <a:pPr indent="0" lvl="0" marL="457200" rtl="0" algn="l">
              <a:spcBef>
                <a:spcPts val="0"/>
              </a:spcBef>
              <a:spcAft>
                <a:spcPts val="0"/>
              </a:spcAft>
              <a:buNone/>
            </a:pPr>
            <a:r>
              <a:t/>
            </a:r>
            <a:endParaRPr b="1" sz="500">
              <a:solidFill>
                <a:schemeClr val="dk2"/>
              </a:solidFill>
            </a:endParaRPr>
          </a:p>
        </p:txBody>
      </p:sp>
      <p:pic>
        <p:nvPicPr>
          <p:cNvPr id="156" name="Google Shape;156;p17"/>
          <p:cNvPicPr preferRelativeResize="0"/>
          <p:nvPr/>
        </p:nvPicPr>
        <p:blipFill>
          <a:blip r:embed="rId13">
            <a:alphaModFix/>
          </a:blip>
          <a:stretch>
            <a:fillRect/>
          </a:stretch>
        </p:blipFill>
        <p:spPr>
          <a:xfrm>
            <a:off x="5964696" y="1416125"/>
            <a:ext cx="671669" cy="528141"/>
          </a:xfrm>
          <a:prstGeom prst="rect">
            <a:avLst/>
          </a:prstGeom>
          <a:noFill/>
          <a:ln>
            <a:noFill/>
          </a:ln>
        </p:spPr>
      </p:pic>
      <p:sp>
        <p:nvSpPr>
          <p:cNvPr id="157" name="Google Shape;157;p17"/>
          <p:cNvSpPr txBox="1"/>
          <p:nvPr/>
        </p:nvSpPr>
        <p:spPr>
          <a:xfrm>
            <a:off x="5685675" y="1877598"/>
            <a:ext cx="1178100" cy="2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2"/>
                </a:solidFill>
              </a:rPr>
              <a:t>Average income:</a:t>
            </a:r>
            <a:endParaRPr sz="600">
              <a:solidFill>
                <a:schemeClr val="dk2"/>
              </a:solidFill>
            </a:endParaRPr>
          </a:p>
          <a:p>
            <a:pPr indent="-266700" lvl="0" marL="457200" rtl="0" algn="l">
              <a:spcBef>
                <a:spcPts val="0"/>
              </a:spcBef>
              <a:spcAft>
                <a:spcPts val="0"/>
              </a:spcAft>
              <a:buClr>
                <a:schemeClr val="dk2"/>
              </a:buClr>
              <a:buSzPts val="600"/>
              <a:buChar char="-"/>
            </a:pPr>
            <a:r>
              <a:rPr lang="en" sz="600">
                <a:solidFill>
                  <a:schemeClr val="dk2"/>
                </a:solidFill>
              </a:rPr>
              <a:t>Indonesia : 120M/Month</a:t>
            </a:r>
            <a:endParaRPr sz="600">
              <a:solidFill>
                <a:schemeClr val="dk2"/>
              </a:solidFill>
            </a:endParaRPr>
          </a:p>
        </p:txBody>
      </p:sp>
      <p:pic>
        <p:nvPicPr>
          <p:cNvPr id="158" name="Google Shape;158;p17"/>
          <p:cNvPicPr preferRelativeResize="0"/>
          <p:nvPr/>
        </p:nvPicPr>
        <p:blipFill>
          <a:blip r:embed="rId14">
            <a:alphaModFix/>
          </a:blip>
          <a:stretch>
            <a:fillRect/>
          </a:stretch>
        </p:blipFill>
        <p:spPr>
          <a:xfrm>
            <a:off x="428594" y="1811092"/>
            <a:ext cx="301206" cy="301153"/>
          </a:xfrm>
          <a:prstGeom prst="rect">
            <a:avLst/>
          </a:prstGeom>
          <a:noFill/>
          <a:ln>
            <a:noFill/>
          </a:ln>
        </p:spPr>
      </p:pic>
      <p:pic>
        <p:nvPicPr>
          <p:cNvPr id="159" name="Google Shape;159;p17"/>
          <p:cNvPicPr preferRelativeResize="0"/>
          <p:nvPr/>
        </p:nvPicPr>
        <p:blipFill>
          <a:blip r:embed="rId15">
            <a:alphaModFix/>
          </a:blip>
          <a:stretch>
            <a:fillRect/>
          </a:stretch>
        </p:blipFill>
        <p:spPr>
          <a:xfrm>
            <a:off x="1630919" y="1811106"/>
            <a:ext cx="301206" cy="301153"/>
          </a:xfrm>
          <a:prstGeom prst="rect">
            <a:avLst/>
          </a:prstGeom>
          <a:noFill/>
          <a:ln>
            <a:noFill/>
          </a:ln>
        </p:spPr>
      </p:pic>
      <p:pic>
        <p:nvPicPr>
          <p:cNvPr id="160" name="Google Shape;160;p17"/>
          <p:cNvPicPr preferRelativeResize="0"/>
          <p:nvPr/>
        </p:nvPicPr>
        <p:blipFill>
          <a:blip r:embed="rId16">
            <a:alphaModFix/>
          </a:blip>
          <a:stretch>
            <a:fillRect/>
          </a:stretch>
        </p:blipFill>
        <p:spPr>
          <a:xfrm>
            <a:off x="1230145" y="1811110"/>
            <a:ext cx="301205" cy="301153"/>
          </a:xfrm>
          <a:prstGeom prst="rect">
            <a:avLst/>
          </a:prstGeom>
          <a:noFill/>
          <a:ln>
            <a:noFill/>
          </a:ln>
        </p:spPr>
      </p:pic>
      <p:pic>
        <p:nvPicPr>
          <p:cNvPr id="161" name="Google Shape;161;p17"/>
          <p:cNvPicPr preferRelativeResize="0"/>
          <p:nvPr/>
        </p:nvPicPr>
        <p:blipFill>
          <a:blip r:embed="rId17">
            <a:alphaModFix/>
          </a:blip>
          <a:stretch>
            <a:fillRect/>
          </a:stretch>
        </p:blipFill>
        <p:spPr>
          <a:xfrm flipH="1">
            <a:off x="829370" y="1811103"/>
            <a:ext cx="301204" cy="301153"/>
          </a:xfrm>
          <a:prstGeom prst="rect">
            <a:avLst/>
          </a:prstGeom>
          <a:noFill/>
          <a:ln>
            <a:noFill/>
          </a:ln>
        </p:spPr>
      </p:pic>
      <p:pic>
        <p:nvPicPr>
          <p:cNvPr id="162" name="Google Shape;162;p17"/>
          <p:cNvPicPr preferRelativeResize="0"/>
          <p:nvPr/>
        </p:nvPicPr>
        <p:blipFill>
          <a:blip r:embed="rId18">
            <a:alphaModFix/>
          </a:blip>
          <a:stretch>
            <a:fillRect/>
          </a:stretch>
        </p:blipFill>
        <p:spPr>
          <a:xfrm>
            <a:off x="2031701" y="1833075"/>
            <a:ext cx="281550" cy="281550"/>
          </a:xfrm>
          <a:prstGeom prst="rect">
            <a:avLst/>
          </a:prstGeom>
          <a:noFill/>
          <a:ln>
            <a:noFill/>
          </a:ln>
        </p:spPr>
      </p:pic>
      <p:sp>
        <p:nvSpPr>
          <p:cNvPr id="163" name="Google Shape;163;p17"/>
          <p:cNvSpPr txBox="1"/>
          <p:nvPr/>
        </p:nvSpPr>
        <p:spPr>
          <a:xfrm>
            <a:off x="357000" y="2184913"/>
            <a:ext cx="2528700" cy="4923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Top</a:t>
            </a:r>
            <a:r>
              <a:rPr lang="en" sz="700">
                <a:solidFill>
                  <a:schemeClr val="dk2"/>
                </a:solidFill>
                <a:latin typeface="Proxima Nova"/>
                <a:ea typeface="Proxima Nova"/>
                <a:cs typeface="Proxima Nova"/>
                <a:sym typeface="Proxima Nova"/>
              </a:rPr>
              <a:t> traders have the most trade volume for Altcoins such. From 2023 to 2024 the trading volume of Altcoins increased by 49.43% form 16.86T to 25.18T, and followed by stable coin such as USDT in 2nd places.</a:t>
            </a:r>
            <a:endParaRPr sz="700">
              <a:solidFill>
                <a:schemeClr val="dk2"/>
              </a:solidFill>
              <a:latin typeface="Proxima Nova"/>
              <a:ea typeface="Proxima Nova"/>
              <a:cs typeface="Proxima Nova"/>
              <a:sym typeface="Proxima Nova"/>
            </a:endParaRPr>
          </a:p>
        </p:txBody>
      </p:sp>
      <p:pic>
        <p:nvPicPr>
          <p:cNvPr id="164" name="Google Shape;164;p17"/>
          <p:cNvPicPr preferRelativeResize="0"/>
          <p:nvPr/>
        </p:nvPicPr>
        <p:blipFill>
          <a:blip r:embed="rId19">
            <a:alphaModFix/>
          </a:blip>
          <a:stretch>
            <a:fillRect/>
          </a:stretch>
        </p:blipFill>
        <p:spPr>
          <a:xfrm>
            <a:off x="2414325" y="1813450"/>
            <a:ext cx="301199" cy="301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8"/>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Wealthy Individual 2023 vs Wealthy Individual 2024</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sp>
        <p:nvSpPr>
          <p:cNvPr id="170" name="Google Shape;170;p18"/>
          <p:cNvSpPr txBox="1"/>
          <p:nvPr/>
        </p:nvSpPr>
        <p:spPr>
          <a:xfrm>
            <a:off x="3569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DCA</a:t>
            </a:r>
            <a:endParaRPr b="1" sz="1000">
              <a:solidFill>
                <a:schemeClr val="dk2"/>
              </a:solidFill>
            </a:endParaRPr>
          </a:p>
        </p:txBody>
      </p:sp>
      <p:sp>
        <p:nvSpPr>
          <p:cNvPr id="171" name="Google Shape;171;p18"/>
          <p:cNvSpPr txBox="1"/>
          <p:nvPr/>
        </p:nvSpPr>
        <p:spPr>
          <a:xfrm>
            <a:off x="3152763"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Staking</a:t>
            </a:r>
            <a:endParaRPr b="1" sz="1000">
              <a:solidFill>
                <a:schemeClr val="dk2"/>
              </a:solidFill>
            </a:endParaRPr>
          </a:p>
        </p:txBody>
      </p:sp>
      <p:sp>
        <p:nvSpPr>
          <p:cNvPr id="172" name="Google Shape;172;p18"/>
          <p:cNvSpPr txBox="1"/>
          <p:nvPr/>
        </p:nvSpPr>
        <p:spPr>
          <a:xfrm>
            <a:off x="6514463" y="44450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API Trading</a:t>
            </a:r>
            <a:endParaRPr b="1" sz="1000">
              <a:solidFill>
                <a:schemeClr val="dk2"/>
              </a:solidFill>
            </a:endParaRPr>
          </a:p>
        </p:txBody>
      </p:sp>
      <p:graphicFrame>
        <p:nvGraphicFramePr>
          <p:cNvPr id="173" name="Google Shape;173;p18"/>
          <p:cNvGraphicFramePr/>
          <p:nvPr/>
        </p:nvGraphicFramePr>
        <p:xfrm>
          <a:off x="141225" y="754488"/>
          <a:ext cx="3000000" cy="3000000"/>
        </p:xfrm>
        <a:graphic>
          <a:graphicData uri="http://schemas.openxmlformats.org/drawingml/2006/table">
            <a:tbl>
              <a:tblPr>
                <a:noFill/>
                <a:tableStyleId>{0287243F-39C1-4460-8421-3307866EDBE6}</a:tableStyleId>
              </a:tblPr>
              <a:tblGrid>
                <a:gridCol w="620450"/>
                <a:gridCol w="620450"/>
                <a:gridCol w="620450"/>
                <a:gridCol w="492400"/>
              </a:tblGrid>
              <a:tr h="226375">
                <a:tc gridSpan="4">
                  <a:txBody>
                    <a:bodyPr/>
                    <a:lstStyle/>
                    <a:p>
                      <a:pPr indent="0" lvl="0" marL="0" rtl="0" algn="ctr">
                        <a:lnSpc>
                          <a:spcPct val="115000"/>
                        </a:lnSpc>
                        <a:spcBef>
                          <a:spcPts val="0"/>
                        </a:spcBef>
                        <a:spcAft>
                          <a:spcPts val="0"/>
                        </a:spcAft>
                        <a:buNone/>
                      </a:pPr>
                      <a:r>
                        <a:rPr b="1" lang="en" sz="600"/>
                        <a:t>DCA</a:t>
                      </a:r>
                      <a:r>
                        <a:rPr b="1" lang="en" sz="600"/>
                        <a:t>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Total DCA Users</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372.7</a:t>
                      </a:r>
                      <a:r>
                        <a:rPr lang="en" sz="600"/>
                        <a: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179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752</a:t>
                      </a:r>
                      <a:r>
                        <a:rPr lang="en" sz="600"/>
                        <a:t>.38%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43.250.000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259.631.573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500.30%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1400">
                <a:tc>
                  <a:txBody>
                    <a:bodyPr/>
                    <a:lstStyle/>
                    <a:p>
                      <a:pPr indent="0" lvl="0" marL="0" rtl="0" algn="l">
                        <a:lnSpc>
                          <a:spcPct val="115000"/>
                        </a:lnSpc>
                        <a:spcBef>
                          <a:spcPts val="0"/>
                        </a:spcBef>
                        <a:spcAft>
                          <a:spcPts val="0"/>
                        </a:spcAft>
                        <a:buNone/>
                      </a:pPr>
                      <a:r>
                        <a:rPr lang="en" sz="600"/>
                        <a:t>Avg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50</a:t>
                      </a:r>
                      <a:r>
                        <a:rPr lang="en" sz="600"/>
                        <a:t>.00%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Avg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3.931.818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4.992.91</a:t>
                      </a:r>
                      <a:r>
                        <a:rPr lang="en" sz="600"/>
                        <a:t>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a:t>
                      </a:r>
                      <a:r>
                        <a:rPr lang="en" sz="600"/>
                        <a:t>.98%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174" name="Google Shape;174;p18"/>
          <p:cNvGraphicFramePr/>
          <p:nvPr/>
        </p:nvGraphicFramePr>
        <p:xfrm>
          <a:off x="3028450" y="754488"/>
          <a:ext cx="3000000" cy="3000000"/>
        </p:xfrm>
        <a:graphic>
          <a:graphicData uri="http://schemas.openxmlformats.org/drawingml/2006/table">
            <a:tbl>
              <a:tblPr>
                <a:noFill/>
                <a:tableStyleId>{0287243F-39C1-4460-8421-3307866EDBE6}</a:tableStyleId>
              </a:tblPr>
              <a:tblGrid>
                <a:gridCol w="620450"/>
                <a:gridCol w="620450"/>
                <a:gridCol w="730000"/>
                <a:gridCol w="382850"/>
              </a:tblGrid>
              <a:tr h="226375">
                <a:tc gridSpan="4">
                  <a:txBody>
                    <a:bodyPr/>
                    <a:lstStyle/>
                    <a:p>
                      <a:pPr indent="0" lvl="0" marL="0" rtl="0" algn="ctr">
                        <a:lnSpc>
                          <a:spcPct val="115000"/>
                        </a:lnSpc>
                        <a:spcBef>
                          <a:spcPts val="0"/>
                        </a:spcBef>
                        <a:spcAft>
                          <a:spcPts val="0"/>
                        </a:spcAft>
                        <a:buNone/>
                      </a:pPr>
                      <a:r>
                        <a:rPr b="1" lang="en" sz="600"/>
                        <a:t>Staking</a:t>
                      </a:r>
                      <a:r>
                        <a:rPr b="1" lang="en" sz="600"/>
                        <a:t>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Wealthy Individual</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53,328,028,141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154,648,598,226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189.99%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175" name="Google Shape;175;p18"/>
          <p:cNvGraphicFramePr/>
          <p:nvPr/>
        </p:nvGraphicFramePr>
        <p:xfrm>
          <a:off x="6189850" y="754500"/>
          <a:ext cx="3000000" cy="3000000"/>
        </p:xfrm>
        <a:graphic>
          <a:graphicData uri="http://schemas.openxmlformats.org/drawingml/2006/table">
            <a:tbl>
              <a:tblPr>
                <a:noFill/>
                <a:tableStyleId>{0287243F-39C1-4460-8421-3307866EDBE6}</a:tableStyleId>
              </a:tblPr>
              <a:tblGrid>
                <a:gridCol w="700575"/>
                <a:gridCol w="700575"/>
                <a:gridCol w="824250"/>
                <a:gridCol w="432275"/>
              </a:tblGrid>
              <a:tr h="24882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419225">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421900">
                <a:tc>
                  <a:txBody>
                    <a:bodyPr/>
                    <a:lstStyle/>
                    <a:p>
                      <a:pPr indent="0" lvl="0" marL="0" rtl="0" algn="l">
                        <a:lnSpc>
                          <a:spcPct val="115000"/>
                        </a:lnSpc>
                        <a:spcBef>
                          <a:spcPts val="0"/>
                        </a:spcBef>
                        <a:spcAft>
                          <a:spcPts val="0"/>
                        </a:spcAft>
                        <a:buNone/>
                      </a:pPr>
                      <a:r>
                        <a:rPr lang="en" sz="600"/>
                        <a:t>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7,335,293,165,964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15,226,419,355,998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107.58%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14,243,287,701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26,619,614,259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86.89%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4,400,940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7,936,775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80.34%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8,546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13,875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62.37%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9,454,241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7,899,714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-16.44%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176" name="Google Shape;176;p18"/>
          <p:cNvGraphicFramePr/>
          <p:nvPr/>
        </p:nvGraphicFramePr>
        <p:xfrm>
          <a:off x="58125" y="3837250"/>
          <a:ext cx="3000000" cy="3000000"/>
        </p:xfrm>
        <a:graphic>
          <a:graphicData uri="http://schemas.openxmlformats.org/drawingml/2006/table">
            <a:tbl>
              <a:tblPr>
                <a:noFill/>
                <a:tableStyleId>{0287243F-39C1-4460-8421-3307866EDBE6}</a:tableStyleId>
              </a:tblPr>
              <a:tblGrid>
                <a:gridCol w="518400"/>
                <a:gridCol w="518400"/>
                <a:gridCol w="518400"/>
                <a:gridCol w="518400"/>
                <a:gridCol w="518400"/>
                <a:gridCol w="518400"/>
                <a:gridCol w="518400"/>
                <a:gridCol w="518400"/>
                <a:gridCol w="518400"/>
                <a:gridCol w="518400"/>
                <a:gridCol w="518400"/>
                <a:gridCol w="518400"/>
                <a:gridCol w="518400"/>
                <a:gridCol w="518400"/>
                <a:gridCol w="518400"/>
                <a:gridCol w="518400"/>
              </a:tblGrid>
              <a:tr h="170475">
                <a:tc>
                  <a:txBody>
                    <a:bodyPr/>
                    <a:lstStyle/>
                    <a:p>
                      <a:pPr indent="0" lvl="0" marL="0" rtl="0" algn="l">
                        <a:spcBef>
                          <a:spcPts val="0"/>
                        </a:spcBef>
                        <a:spcAft>
                          <a:spcPts val="0"/>
                        </a:spcAft>
                        <a:buNone/>
                      </a:pPr>
                      <a:r>
                        <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700"/>
                        <a:t>Total DCA Freq</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hMerge="1"/>
                <a:tc hMerge="1"/>
                <a:tc gridSpan="3">
                  <a:txBody>
                    <a:bodyPr/>
                    <a:lstStyle/>
                    <a:p>
                      <a:pPr indent="0" lvl="0" marL="0" rtl="0" algn="ctr">
                        <a:lnSpc>
                          <a:spcPct val="115000"/>
                        </a:lnSpc>
                        <a:spcBef>
                          <a:spcPts val="0"/>
                        </a:spcBef>
                        <a:spcAft>
                          <a:spcPts val="0"/>
                        </a:spcAft>
                        <a:buNone/>
                      </a:pPr>
                      <a:r>
                        <a:rPr b="1" lang="en" sz="700"/>
                        <a:t>Total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hMerge="1"/>
                <a:tc hMerge="1"/>
                <a:tc gridSpan="3">
                  <a:txBody>
                    <a:bodyPr/>
                    <a:lstStyle/>
                    <a:p>
                      <a:pPr indent="0" lvl="0" marL="0" rtl="0" algn="ctr">
                        <a:lnSpc>
                          <a:spcPct val="115000"/>
                        </a:lnSpc>
                        <a:spcBef>
                          <a:spcPts val="0"/>
                        </a:spcBef>
                        <a:spcAft>
                          <a:spcPts val="0"/>
                        </a:spcAft>
                        <a:buNone/>
                      </a:pPr>
                      <a:r>
                        <a:rPr b="1" lang="en" sz="700"/>
                        <a:t>Average DCA Frequency</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hMerge="1"/>
                <a:tc hMerge="1"/>
                <a:tc gridSpan="3">
                  <a:txBody>
                    <a:bodyPr/>
                    <a:lstStyle/>
                    <a:p>
                      <a:pPr indent="0" lvl="0" marL="0" rtl="0" algn="ctr">
                        <a:lnSpc>
                          <a:spcPct val="115000"/>
                        </a:lnSpc>
                        <a:spcBef>
                          <a:spcPts val="0"/>
                        </a:spcBef>
                        <a:spcAft>
                          <a:spcPts val="0"/>
                        </a:spcAft>
                        <a:buNone/>
                      </a:pPr>
                      <a:r>
                        <a:rPr b="1" lang="en" sz="700"/>
                        <a:t>Average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hMerge="1"/>
                <a:tc hMerge="1"/>
              </a:tr>
              <a:tr h="15430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r>
              <a:tr h="249825">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-33.90%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-9.41%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442,379,997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217,939,573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-50.73%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33.33%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7,497,966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5,588,194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5430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-31.82%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-63.41%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69,570,000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22,800,000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-67.23%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3,162,273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1,520,000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-51.93%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5430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20,175,000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18,892,000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-6.36%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2,882,143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2,698,857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-6.36%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graphicFrame>
        <p:nvGraphicFramePr>
          <p:cNvPr id="177" name="Google Shape;177;p18"/>
          <p:cNvGraphicFramePr/>
          <p:nvPr/>
        </p:nvGraphicFramePr>
        <p:xfrm>
          <a:off x="2650125" y="1843025"/>
          <a:ext cx="3000000" cy="3000000"/>
        </p:xfrm>
        <a:graphic>
          <a:graphicData uri="http://schemas.openxmlformats.org/drawingml/2006/table">
            <a:tbl>
              <a:tblPr>
                <a:noFill/>
                <a:tableStyleId>{0287243F-39C1-4460-8421-3307866EDBE6}</a:tableStyleId>
              </a:tblPr>
              <a:tblGrid>
                <a:gridCol w="485050"/>
                <a:gridCol w="485050"/>
                <a:gridCol w="485050"/>
                <a:gridCol w="485050"/>
                <a:gridCol w="485050"/>
                <a:gridCol w="485050"/>
                <a:gridCol w="485050"/>
              </a:tblGrid>
              <a:tr h="353750">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DCA Amount</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hMerge="1"/>
                <a:tc gridSpan="2">
                  <a:txBody>
                    <a:bodyPr/>
                    <a:lstStyle/>
                    <a:p>
                      <a:pPr indent="0" lvl="0" marL="0" rtl="0" algn="ctr">
                        <a:lnSpc>
                          <a:spcPct val="115000"/>
                        </a:lnSpc>
                        <a:spcBef>
                          <a:spcPts val="0"/>
                        </a:spcBef>
                        <a:spcAft>
                          <a:spcPts val="0"/>
                        </a:spcAft>
                        <a:buNone/>
                      </a:pPr>
                      <a:r>
                        <a:rPr b="1" lang="en" sz="700"/>
                        <a:t>DCA Freq</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hMerge="1"/>
              </a:tr>
              <a:tr h="35375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r>
              <a:tr h="353750">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67.05%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63.93%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83.13%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83.94%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76.92%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86.03%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375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24.59%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13.07%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18.55%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375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7.95%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11.48%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3.79%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7.28%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5.59%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181" name="Shape 181"/>
        <p:cNvGrpSpPr/>
        <p:nvPr/>
      </p:nvGrpSpPr>
      <p:grpSpPr>
        <a:xfrm>
          <a:off x="0" y="0"/>
          <a:ext cx="0" cy="0"/>
          <a:chOff x="0" y="0"/>
          <a:chExt cx="0" cy="0"/>
        </a:xfrm>
      </p:grpSpPr>
      <p:sp>
        <p:nvSpPr>
          <p:cNvPr id="182" name="Google Shape;182;p19"/>
          <p:cNvSpPr txBox="1"/>
          <p:nvPr>
            <p:ph type="title"/>
          </p:nvPr>
        </p:nvSpPr>
        <p:spPr>
          <a:xfrm>
            <a:off x="157625" y="118200"/>
            <a:ext cx="4980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Persona Name: The Financial </a:t>
            </a:r>
            <a:r>
              <a:rPr b="1" lang="en" sz="1800">
                <a:solidFill>
                  <a:srgbClr val="0084B5"/>
                </a:solidFill>
                <a:latin typeface="Montserrat"/>
                <a:ea typeface="Montserrat"/>
                <a:cs typeface="Montserrat"/>
                <a:sym typeface="Montserrat"/>
              </a:rPr>
              <a:t>Elite</a:t>
            </a:r>
            <a:r>
              <a:rPr b="1" lang="en" sz="1800">
                <a:solidFill>
                  <a:srgbClr val="0084B5"/>
                </a:solidFill>
                <a:latin typeface="Montserrat"/>
                <a:ea typeface="Montserrat"/>
                <a:cs typeface="Montserrat"/>
                <a:sym typeface="Montserrat"/>
              </a:rPr>
              <a:t> </a:t>
            </a:r>
            <a:r>
              <a:rPr b="1" lang="en" sz="1800">
                <a:solidFill>
                  <a:srgbClr val="0084B5"/>
                </a:solidFill>
                <a:latin typeface="Montserrat"/>
                <a:ea typeface="Montserrat"/>
                <a:cs typeface="Montserrat"/>
                <a:sym typeface="Montserrat"/>
              </a:rPr>
              <a:t>r</a:t>
            </a:r>
            <a:endParaRPr b="1" sz="1800">
              <a:solidFill>
                <a:srgbClr val="0084B5"/>
              </a:solidFill>
              <a:latin typeface="Montserrat"/>
              <a:ea typeface="Montserrat"/>
              <a:cs typeface="Montserrat"/>
              <a:sym typeface="Montserrat"/>
            </a:endParaRPr>
          </a:p>
        </p:txBody>
      </p:sp>
      <p:sp>
        <p:nvSpPr>
          <p:cNvPr id="183" name="Google Shape;183;p19"/>
          <p:cNvSpPr txBox="1"/>
          <p:nvPr>
            <p:ph type="title"/>
          </p:nvPr>
        </p:nvSpPr>
        <p:spPr>
          <a:xfrm>
            <a:off x="113475" y="503138"/>
            <a:ext cx="29322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Demographic Information</a:t>
            </a:r>
            <a:endParaRPr b="1" sz="1200">
              <a:solidFill>
                <a:srgbClr val="0084B5"/>
              </a:solidFill>
              <a:latin typeface="Montserrat"/>
              <a:ea typeface="Montserrat"/>
              <a:cs typeface="Montserrat"/>
              <a:sym typeface="Montserrat"/>
            </a:endParaRPr>
          </a:p>
        </p:txBody>
      </p:sp>
      <p:sp>
        <p:nvSpPr>
          <p:cNvPr id="184" name="Google Shape;184;p19"/>
          <p:cNvSpPr txBox="1"/>
          <p:nvPr>
            <p:ph type="title"/>
          </p:nvPr>
        </p:nvSpPr>
        <p:spPr>
          <a:xfrm>
            <a:off x="4623500" y="461088"/>
            <a:ext cx="1175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Background</a:t>
            </a:r>
            <a:endParaRPr b="1" sz="1200">
              <a:solidFill>
                <a:srgbClr val="0084B5"/>
              </a:solidFill>
              <a:latin typeface="Montserrat"/>
              <a:ea typeface="Montserrat"/>
              <a:cs typeface="Montserrat"/>
              <a:sym typeface="Montserrat"/>
            </a:endParaRPr>
          </a:p>
        </p:txBody>
      </p:sp>
      <p:sp>
        <p:nvSpPr>
          <p:cNvPr id="185" name="Google Shape;185;p19"/>
          <p:cNvSpPr txBox="1"/>
          <p:nvPr>
            <p:ph type="title"/>
          </p:nvPr>
        </p:nvSpPr>
        <p:spPr>
          <a:xfrm>
            <a:off x="38175" y="3480213"/>
            <a:ext cx="1943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Needs &amp; Expectation</a:t>
            </a:r>
            <a:endParaRPr b="1" sz="1200">
              <a:solidFill>
                <a:srgbClr val="0084B5"/>
              </a:solidFill>
              <a:latin typeface="Montserrat"/>
              <a:ea typeface="Montserrat"/>
              <a:cs typeface="Montserrat"/>
              <a:sym typeface="Montserrat"/>
            </a:endParaRPr>
          </a:p>
        </p:txBody>
      </p:sp>
      <p:sp>
        <p:nvSpPr>
          <p:cNvPr id="186" name="Google Shape;186;p19"/>
          <p:cNvSpPr txBox="1"/>
          <p:nvPr>
            <p:ph type="title"/>
          </p:nvPr>
        </p:nvSpPr>
        <p:spPr>
          <a:xfrm>
            <a:off x="4572000" y="2571750"/>
            <a:ext cx="2550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Challenge &amp; </a:t>
            </a:r>
            <a:r>
              <a:rPr b="1" lang="en" sz="1200">
                <a:solidFill>
                  <a:srgbClr val="0084B5"/>
                </a:solidFill>
                <a:latin typeface="Montserrat"/>
                <a:ea typeface="Montserrat"/>
                <a:cs typeface="Montserrat"/>
                <a:sym typeface="Montserrat"/>
              </a:rPr>
              <a:t>Pain Points</a:t>
            </a:r>
            <a:endParaRPr b="1" sz="1200">
              <a:solidFill>
                <a:srgbClr val="0084B5"/>
              </a:solidFill>
              <a:latin typeface="Montserrat"/>
              <a:ea typeface="Montserrat"/>
              <a:cs typeface="Montserrat"/>
              <a:sym typeface="Montserrat"/>
            </a:endParaRPr>
          </a:p>
        </p:txBody>
      </p:sp>
      <p:sp>
        <p:nvSpPr>
          <p:cNvPr id="187" name="Google Shape;187;p19"/>
          <p:cNvSpPr txBox="1"/>
          <p:nvPr>
            <p:ph type="title"/>
          </p:nvPr>
        </p:nvSpPr>
        <p:spPr>
          <a:xfrm>
            <a:off x="74950" y="2508275"/>
            <a:ext cx="2517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Motivation, </a:t>
            </a:r>
            <a:r>
              <a:rPr b="1" lang="en" sz="1200">
                <a:solidFill>
                  <a:srgbClr val="0084B5"/>
                </a:solidFill>
                <a:latin typeface="Montserrat"/>
                <a:ea typeface="Montserrat"/>
                <a:cs typeface="Montserrat"/>
                <a:sym typeface="Montserrat"/>
              </a:rPr>
              <a:t>Interest &amp; Goals</a:t>
            </a:r>
            <a:endParaRPr b="1" sz="1200">
              <a:solidFill>
                <a:srgbClr val="0084B5"/>
              </a:solidFill>
              <a:latin typeface="Montserrat"/>
              <a:ea typeface="Montserrat"/>
              <a:cs typeface="Montserrat"/>
              <a:sym typeface="Montserrat"/>
            </a:endParaRPr>
          </a:p>
        </p:txBody>
      </p:sp>
      <p:sp>
        <p:nvSpPr>
          <p:cNvPr id="188" name="Google Shape;188;p19"/>
          <p:cNvSpPr txBox="1"/>
          <p:nvPr/>
        </p:nvSpPr>
        <p:spPr>
          <a:xfrm>
            <a:off x="4623500" y="781800"/>
            <a:ext cx="4520400" cy="178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 realistic and </a:t>
            </a:r>
            <a:r>
              <a:rPr b="1" lang="en" sz="1000">
                <a:solidFill>
                  <a:schemeClr val="dk1"/>
                </a:solidFill>
                <a:latin typeface="Montserrat"/>
                <a:ea typeface="Montserrat"/>
                <a:cs typeface="Montserrat"/>
                <a:sym typeface="Montserrat"/>
              </a:rPr>
              <a:t>hard worker</a:t>
            </a:r>
            <a:r>
              <a:rPr lang="en" sz="1000">
                <a:solidFill>
                  <a:schemeClr val="dk1"/>
                </a:solidFill>
                <a:latin typeface="Montserrat"/>
                <a:ea typeface="Montserrat"/>
                <a:cs typeface="Montserrat"/>
                <a:sym typeface="Montserrat"/>
              </a:rPr>
              <a:t> at the same time, they are people with commitment on every action. In corporate experience they climbed the corporate ladder, holding leadership positions that require managing teams, overseeing many projects, and making strategic business decisions. While as an business owner they Always keep themselves updated whats new and what significant impact they can do to achieve their goal</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1"/>
                </a:solidFill>
                <a:latin typeface="Montserrat"/>
                <a:ea typeface="Montserrat"/>
                <a:cs typeface="Montserrat"/>
                <a:sym typeface="Montserrat"/>
              </a:rPr>
              <a:t>Always </a:t>
            </a:r>
            <a:r>
              <a:rPr b="1" lang="en" sz="1000">
                <a:solidFill>
                  <a:schemeClr val="dk1"/>
                </a:solidFill>
                <a:latin typeface="Montserrat"/>
                <a:ea typeface="Montserrat"/>
                <a:cs typeface="Montserrat"/>
                <a:sym typeface="Montserrat"/>
              </a:rPr>
              <a:t>fully </a:t>
            </a:r>
            <a:r>
              <a:rPr b="1" lang="en" sz="1000">
                <a:solidFill>
                  <a:schemeClr val="dk1"/>
                </a:solidFill>
                <a:latin typeface="Montserrat"/>
                <a:ea typeface="Montserrat"/>
                <a:cs typeface="Montserrat"/>
                <a:sym typeface="Montserrat"/>
              </a:rPr>
              <a:t>committed</a:t>
            </a:r>
            <a:r>
              <a:rPr lang="en" sz="1000">
                <a:solidFill>
                  <a:schemeClr val="dk1"/>
                </a:solidFill>
                <a:latin typeface="Montserrat"/>
                <a:ea typeface="Montserrat"/>
                <a:cs typeface="Montserrat"/>
                <a:sym typeface="Montserrat"/>
              </a:rPr>
              <a:t> on what they are entrust with and deliver the most acceptable answer by </a:t>
            </a:r>
            <a:r>
              <a:rPr b="1" lang="en" sz="1000">
                <a:solidFill>
                  <a:schemeClr val="dk1"/>
                </a:solidFill>
                <a:latin typeface="Montserrat"/>
                <a:ea typeface="Montserrat"/>
                <a:cs typeface="Montserrat"/>
                <a:sym typeface="Montserrat"/>
              </a:rPr>
              <a:t>tapping in the work more frequently </a:t>
            </a:r>
            <a:r>
              <a:rPr lang="en" sz="1000">
                <a:solidFill>
                  <a:schemeClr val="dk1"/>
                </a:solidFill>
                <a:latin typeface="Montserrat"/>
                <a:ea typeface="Montserrat"/>
                <a:cs typeface="Montserrat"/>
                <a:sym typeface="Montserrat"/>
              </a:rPr>
              <a:t>compared to others peer</a:t>
            </a:r>
            <a:r>
              <a:rPr lang="en" sz="1000">
                <a:solidFill>
                  <a:schemeClr val="dk1"/>
                </a:solidFill>
                <a:latin typeface="Montserrat"/>
                <a:ea typeface="Montserrat"/>
                <a:cs typeface="Montserrat"/>
                <a:sym typeface="Montserrat"/>
              </a:rPr>
              <a:t> </a:t>
            </a:r>
            <a:endParaRPr sz="900">
              <a:solidFill>
                <a:schemeClr val="dk2"/>
              </a:solidFill>
            </a:endParaRPr>
          </a:p>
        </p:txBody>
      </p:sp>
      <p:sp>
        <p:nvSpPr>
          <p:cNvPr id="189" name="Google Shape;189;p19"/>
          <p:cNvSpPr txBox="1"/>
          <p:nvPr/>
        </p:nvSpPr>
        <p:spPr>
          <a:xfrm>
            <a:off x="113475" y="2851163"/>
            <a:ext cx="4136400" cy="646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a:t>
            </a:r>
            <a:r>
              <a:rPr lang="en" sz="1000">
                <a:solidFill>
                  <a:schemeClr val="dk1"/>
                </a:solidFill>
                <a:latin typeface="Montserrat"/>
                <a:ea typeface="Montserrat"/>
                <a:cs typeface="Montserrat"/>
                <a:sym typeface="Montserrat"/>
              </a:rPr>
              <a:t>nterest in </a:t>
            </a:r>
            <a:r>
              <a:rPr b="1" lang="en" sz="1000">
                <a:solidFill>
                  <a:schemeClr val="dk1"/>
                </a:solidFill>
                <a:latin typeface="Montserrat"/>
                <a:ea typeface="Montserrat"/>
                <a:cs typeface="Montserrat"/>
                <a:sym typeface="Montserrat"/>
              </a:rPr>
              <a:t>growth mindset </a:t>
            </a:r>
            <a:r>
              <a:rPr lang="en" sz="1000">
                <a:solidFill>
                  <a:schemeClr val="dk1"/>
                </a:solidFill>
                <a:latin typeface="Montserrat"/>
                <a:ea typeface="Montserrat"/>
                <a:cs typeface="Montserrat"/>
                <a:sym typeface="Montserrat"/>
              </a:rPr>
              <a:t>with </a:t>
            </a:r>
            <a:r>
              <a:rPr b="1" lang="en" sz="1000">
                <a:solidFill>
                  <a:schemeClr val="dk1"/>
                </a:solidFill>
                <a:latin typeface="Montserrat"/>
                <a:ea typeface="Montserrat"/>
                <a:cs typeface="Montserrat"/>
                <a:sym typeface="Montserrat"/>
              </a:rPr>
              <a:t>stability</a:t>
            </a:r>
            <a:endParaRPr b="1"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investing and </a:t>
            </a:r>
            <a:r>
              <a:rPr b="1" lang="en" sz="1000">
                <a:solidFill>
                  <a:schemeClr val="dk1"/>
                </a:solidFill>
                <a:latin typeface="Montserrat"/>
                <a:ea typeface="Montserrat"/>
                <a:cs typeface="Montserrat"/>
                <a:sym typeface="Montserrat"/>
              </a:rPr>
              <a:t>actively manages his growing wealth</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Safeness,</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maintain current status/wealth </a:t>
            </a:r>
            <a:r>
              <a:rPr b="1" lang="en" sz="1000">
                <a:solidFill>
                  <a:schemeClr val="dk1"/>
                </a:solidFill>
                <a:latin typeface="Montserrat"/>
                <a:ea typeface="Montserrat"/>
                <a:cs typeface="Montserrat"/>
                <a:sym typeface="Montserrat"/>
              </a:rPr>
              <a:t>preservation</a:t>
            </a:r>
            <a:endParaRPr b="1" sz="1000">
              <a:solidFill>
                <a:schemeClr val="dk1"/>
              </a:solidFill>
              <a:latin typeface="Montserrat"/>
              <a:ea typeface="Montserrat"/>
              <a:cs typeface="Montserrat"/>
              <a:sym typeface="Montserrat"/>
            </a:endParaRPr>
          </a:p>
        </p:txBody>
      </p:sp>
      <p:sp>
        <p:nvSpPr>
          <p:cNvPr id="190" name="Google Shape;190;p19"/>
          <p:cNvSpPr txBox="1"/>
          <p:nvPr/>
        </p:nvSpPr>
        <p:spPr>
          <a:xfrm>
            <a:off x="74950" y="3823125"/>
            <a:ext cx="8985600" cy="95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2065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High-net-worth individuals (like </a:t>
            </a:r>
            <a:r>
              <a:rPr b="1" lang="en" sz="1000">
                <a:solidFill>
                  <a:schemeClr val="dk1"/>
                </a:solidFill>
                <a:latin typeface="Montserrat"/>
                <a:ea typeface="Montserrat"/>
                <a:cs typeface="Montserrat"/>
                <a:sym typeface="Montserrat"/>
              </a:rPr>
              <a:t>The Executive</a:t>
            </a:r>
            <a:r>
              <a:rPr lang="en" sz="1000">
                <a:solidFill>
                  <a:schemeClr val="dk1"/>
                </a:solidFill>
                <a:latin typeface="Montserrat"/>
                <a:ea typeface="Montserrat"/>
                <a:cs typeface="Montserrat"/>
                <a:sym typeface="Montserrat"/>
              </a:rPr>
              <a:t>) often look to </a:t>
            </a:r>
            <a:r>
              <a:rPr b="1" lang="en" sz="1000">
                <a:solidFill>
                  <a:schemeClr val="dk1"/>
                </a:solidFill>
                <a:latin typeface="Montserrat"/>
                <a:ea typeface="Montserrat"/>
                <a:cs typeface="Montserrat"/>
                <a:sym typeface="Montserrat"/>
              </a:rPr>
              <a:t>diversify</a:t>
            </a:r>
            <a:r>
              <a:rPr lang="en" sz="1000">
                <a:solidFill>
                  <a:schemeClr val="dk1"/>
                </a:solidFill>
                <a:latin typeface="Montserrat"/>
                <a:ea typeface="Montserrat"/>
                <a:cs typeface="Montserrat"/>
                <a:sym typeface="Montserrat"/>
              </a:rPr>
              <a:t> their investments across multiple asset classes, including </a:t>
            </a:r>
            <a:r>
              <a:rPr b="1" lang="en" sz="1000">
                <a:solidFill>
                  <a:schemeClr val="dk1"/>
                </a:solidFill>
                <a:latin typeface="Montserrat"/>
                <a:ea typeface="Montserrat"/>
                <a:cs typeface="Montserrat"/>
                <a:sym typeface="Montserrat"/>
              </a:rPr>
              <a:t>cryptocurrencies</a:t>
            </a:r>
            <a:r>
              <a:rPr lang="en" sz="1000">
                <a:solidFill>
                  <a:schemeClr val="dk1"/>
                </a:solidFill>
                <a:latin typeface="Montserrat"/>
                <a:ea typeface="Montserrat"/>
                <a:cs typeface="Montserrat"/>
                <a:sym typeface="Montserrat"/>
              </a:rPr>
              <a:t> and </a:t>
            </a:r>
            <a:r>
              <a:rPr b="1" lang="en" sz="1000">
                <a:solidFill>
                  <a:schemeClr val="dk1"/>
                </a:solidFill>
                <a:latin typeface="Montserrat"/>
                <a:ea typeface="Montserrat"/>
                <a:cs typeface="Montserrat"/>
                <a:sym typeface="Montserrat"/>
              </a:rPr>
              <a:t>stocks</a:t>
            </a:r>
            <a:r>
              <a:rPr lang="en" sz="1000">
                <a:solidFill>
                  <a:schemeClr val="dk1"/>
                </a:solidFill>
                <a:latin typeface="Montserrat"/>
                <a:ea typeface="Montserrat"/>
                <a:cs typeface="Montserrat"/>
                <a:sym typeface="Montserrat"/>
              </a:rPr>
              <a:t>, to reduce risk and achieve stable growth</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Frequency on monitoring </a:t>
            </a:r>
            <a:r>
              <a:rPr lang="en" sz="1000">
                <a:solidFill>
                  <a:schemeClr val="dk1"/>
                </a:solidFill>
                <a:latin typeface="Montserrat"/>
                <a:ea typeface="Montserrat"/>
                <a:cs typeface="Montserrat"/>
                <a:sym typeface="Montserrat"/>
              </a:rPr>
              <a:t>their investment  compared to others are relatively high due the goal on growing their wealth</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Risk must be calculated </a:t>
            </a:r>
            <a:r>
              <a:rPr lang="en" sz="1000">
                <a:solidFill>
                  <a:schemeClr val="dk1"/>
                </a:solidFill>
                <a:latin typeface="Montserrat"/>
                <a:ea typeface="Montserrat"/>
                <a:cs typeface="Montserrat"/>
                <a:sym typeface="Montserrat"/>
              </a:rPr>
              <a:t>thus they prefer investment </a:t>
            </a:r>
            <a:r>
              <a:rPr lang="en" sz="1000">
                <a:solidFill>
                  <a:schemeClr val="dk1"/>
                </a:solidFill>
                <a:latin typeface="Montserrat"/>
                <a:ea typeface="Montserrat"/>
                <a:cs typeface="Montserrat"/>
                <a:sym typeface="Montserrat"/>
              </a:rPr>
              <a:t>vehicles</a:t>
            </a:r>
            <a:r>
              <a:rPr lang="en" sz="1000">
                <a:solidFill>
                  <a:schemeClr val="dk1"/>
                </a:solidFill>
                <a:latin typeface="Montserrat"/>
                <a:ea typeface="Montserrat"/>
                <a:cs typeface="Montserrat"/>
                <a:sym typeface="Montserrat"/>
              </a:rPr>
              <a:t> with more safety approach (from multiple application and more conventional deposit method)</a:t>
            </a:r>
            <a:endParaRPr sz="1000">
              <a:solidFill>
                <a:schemeClr val="dk1"/>
              </a:solidFill>
              <a:latin typeface="Montserrat"/>
              <a:ea typeface="Montserrat"/>
              <a:cs typeface="Montserrat"/>
              <a:sym typeface="Montserrat"/>
            </a:endParaRPr>
          </a:p>
        </p:txBody>
      </p:sp>
      <p:sp>
        <p:nvSpPr>
          <p:cNvPr id="191" name="Google Shape;191;p19"/>
          <p:cNvSpPr txBox="1"/>
          <p:nvPr/>
        </p:nvSpPr>
        <p:spPr>
          <a:xfrm>
            <a:off x="4623500" y="2892300"/>
            <a:ext cx="4400100" cy="800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Balancing time spend on work and investment plan, </a:t>
            </a:r>
            <a:r>
              <a:rPr b="1" lang="en" sz="1000">
                <a:solidFill>
                  <a:schemeClr val="dk1"/>
                </a:solidFill>
                <a:latin typeface="Montserrat"/>
                <a:ea typeface="Montserrat"/>
                <a:cs typeface="Montserrat"/>
                <a:sym typeface="Montserrat"/>
              </a:rPr>
              <a:t>needs reliable /trusted app and services </a:t>
            </a:r>
            <a:r>
              <a:rPr lang="en" sz="1000">
                <a:solidFill>
                  <a:schemeClr val="dk1"/>
                </a:solidFill>
                <a:latin typeface="Montserrat"/>
                <a:ea typeface="Montserrat"/>
                <a:cs typeface="Montserrat"/>
                <a:sym typeface="Montserrat"/>
              </a:rPr>
              <a:t>(willing to go extra to contain both) fee is not an issue as long it works well</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Market volatility </a:t>
            </a:r>
            <a:r>
              <a:rPr lang="en" sz="1000">
                <a:solidFill>
                  <a:schemeClr val="dk1"/>
                </a:solidFill>
                <a:latin typeface="Montserrat"/>
                <a:ea typeface="Montserrat"/>
                <a:cs typeface="Montserrat"/>
                <a:sym typeface="Montserrat"/>
              </a:rPr>
              <a:t>, manage risk and maintain growth</a:t>
            </a:r>
            <a:endParaRPr sz="1000">
              <a:solidFill>
                <a:schemeClr val="dk1"/>
              </a:solidFill>
              <a:latin typeface="Montserrat"/>
              <a:ea typeface="Montserrat"/>
              <a:cs typeface="Montserrat"/>
              <a:sym typeface="Montserrat"/>
            </a:endParaRPr>
          </a:p>
        </p:txBody>
      </p:sp>
      <p:sp>
        <p:nvSpPr>
          <p:cNvPr id="192" name="Google Shape;192;p19"/>
          <p:cNvSpPr txBox="1"/>
          <p:nvPr/>
        </p:nvSpPr>
        <p:spPr>
          <a:xfrm>
            <a:off x="113475" y="801900"/>
            <a:ext cx="4437000" cy="1723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Age</a:t>
            </a:r>
            <a:r>
              <a:rPr lang="en" sz="1000">
                <a:solidFill>
                  <a:schemeClr val="dk1"/>
                </a:solidFill>
                <a:latin typeface="Montserrat"/>
                <a:ea typeface="Montserrat"/>
                <a:cs typeface="Montserrat"/>
                <a:sym typeface="Montserrat"/>
              </a:rPr>
              <a:t>: 40 years old (fits within the dominant </a:t>
            </a:r>
            <a:r>
              <a:rPr b="1" lang="en" sz="1000">
                <a:solidFill>
                  <a:schemeClr val="dk1"/>
                </a:solidFill>
                <a:latin typeface="Montserrat"/>
                <a:ea typeface="Montserrat"/>
                <a:cs typeface="Montserrat"/>
                <a:sym typeface="Montserrat"/>
              </a:rPr>
              <a:t>36-45 age group</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Gender</a:t>
            </a:r>
            <a:r>
              <a:rPr lang="en" sz="1000">
                <a:solidFill>
                  <a:schemeClr val="dk1"/>
                </a:solidFill>
                <a:latin typeface="Montserrat"/>
                <a:ea typeface="Montserrat"/>
                <a:cs typeface="Montserrat"/>
                <a:sym typeface="Montserrat"/>
              </a:rPr>
              <a:t>: Male (reflecting the </a:t>
            </a:r>
            <a:r>
              <a:rPr b="1" lang="en" sz="1000">
                <a:solidFill>
                  <a:schemeClr val="dk1"/>
                </a:solidFill>
                <a:latin typeface="Montserrat"/>
                <a:ea typeface="Montserrat"/>
                <a:cs typeface="Montserrat"/>
                <a:sym typeface="Montserrat"/>
              </a:rPr>
              <a:t>88.29% male dominance</a:t>
            </a:r>
            <a:r>
              <a:rPr lang="en" sz="1000">
                <a:solidFill>
                  <a:schemeClr val="dk1"/>
                </a:solidFill>
                <a:latin typeface="Montserrat"/>
                <a:ea typeface="Montserrat"/>
                <a:cs typeface="Montserrat"/>
                <a:sym typeface="Montserrat"/>
              </a:rPr>
              <a:t> in this segment).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Location</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Jakarta</a:t>
            </a:r>
            <a:r>
              <a:rPr lang="en" sz="1000">
                <a:solidFill>
                  <a:schemeClr val="dk1"/>
                </a:solidFill>
                <a:latin typeface="Montserrat"/>
                <a:ea typeface="Montserrat"/>
                <a:cs typeface="Montserrat"/>
                <a:sym typeface="Montserrat"/>
              </a:rPr>
              <a:t>, Indonesia – the hub of wealthy individual traders, where the population grew significantly by </a:t>
            </a:r>
            <a:r>
              <a:rPr b="1" lang="en" sz="1000">
                <a:solidFill>
                  <a:schemeClr val="dk1"/>
                </a:solidFill>
                <a:latin typeface="Montserrat"/>
                <a:ea typeface="Montserrat"/>
                <a:cs typeface="Montserrat"/>
                <a:sym typeface="Montserrat"/>
              </a:rPr>
              <a:t>54.22%</a:t>
            </a:r>
            <a:r>
              <a:rPr lang="en" sz="1000">
                <a:solidFill>
                  <a:schemeClr val="dk1"/>
                </a:solidFill>
                <a:latin typeface="Montserrat"/>
                <a:ea typeface="Montserrat"/>
                <a:cs typeface="Montserrat"/>
                <a:sym typeface="Montserrat"/>
              </a:rPr>
              <a:t> from 2023 to 2024.</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Occupation</a:t>
            </a:r>
            <a:r>
              <a:rPr lang="en" sz="1000">
                <a:solidFill>
                  <a:schemeClr val="dk1"/>
                </a:solidFill>
                <a:latin typeface="Montserrat"/>
                <a:ea typeface="Montserrat"/>
                <a:cs typeface="Montserrat"/>
                <a:sym typeface="Montserrat"/>
              </a:rPr>
              <a:t>: Businessman, Executives, VP and etc  (likely in </a:t>
            </a:r>
            <a:r>
              <a:rPr b="1" lang="en" sz="1000">
                <a:solidFill>
                  <a:schemeClr val="dk1"/>
                </a:solidFill>
                <a:latin typeface="Montserrat"/>
                <a:ea typeface="Montserrat"/>
                <a:cs typeface="Montserrat"/>
                <a:sym typeface="Montserrat"/>
              </a:rPr>
              <a:t>FMCG</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finance or tech</a:t>
            </a:r>
            <a:r>
              <a:rPr lang="en" sz="1000">
                <a:solidFill>
                  <a:schemeClr val="dk1"/>
                </a:solidFill>
                <a:latin typeface="Montserrat"/>
                <a:ea typeface="Montserrat"/>
                <a:cs typeface="Montserrat"/>
                <a:sym typeface="Montserrat"/>
              </a:rPr>
              <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Income Level</a:t>
            </a:r>
            <a:r>
              <a:rPr lang="en" sz="1000">
                <a:solidFill>
                  <a:schemeClr val="dk1"/>
                </a:solidFill>
                <a:latin typeface="Montserrat"/>
                <a:ea typeface="Montserrat"/>
                <a:cs typeface="Montserrat"/>
                <a:sym typeface="Montserrat"/>
              </a:rPr>
              <a:t>: Upper-middle class to high-net-worth individual (IDR 120 mio/month)</a:t>
            </a:r>
            <a:endParaRPr sz="1000">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196" name="Shape 196"/>
        <p:cNvGrpSpPr/>
        <p:nvPr/>
      </p:nvGrpSpPr>
      <p:grpSpPr>
        <a:xfrm>
          <a:off x="0" y="0"/>
          <a:ext cx="0" cy="0"/>
          <a:chOff x="0" y="0"/>
          <a:chExt cx="0" cy="0"/>
        </a:xfrm>
      </p:grpSpPr>
      <p:sp>
        <p:nvSpPr>
          <p:cNvPr id="197" name="Google Shape;197;p20"/>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Emerging </a:t>
            </a:r>
            <a:r>
              <a:rPr b="1" lang="en" sz="1800">
                <a:solidFill>
                  <a:srgbClr val="0084B5"/>
                </a:solidFill>
                <a:latin typeface="Montserrat"/>
                <a:ea typeface="Montserrat"/>
                <a:cs typeface="Montserrat"/>
                <a:sym typeface="Montserrat"/>
              </a:rPr>
              <a:t>2023 vs Emerging 2024</a:t>
            </a:r>
            <a:endParaRPr b="1" sz="1800">
              <a:solidFill>
                <a:srgbClr val="0084B5"/>
              </a:solidFill>
              <a:latin typeface="Montserrat"/>
              <a:ea typeface="Montserrat"/>
              <a:cs typeface="Montserrat"/>
              <a:sym typeface="Montserrat"/>
            </a:endParaRPr>
          </a:p>
        </p:txBody>
      </p:sp>
      <p:pic>
        <p:nvPicPr>
          <p:cNvPr id="198" name="Google Shape;198;p20"/>
          <p:cNvPicPr preferRelativeResize="0"/>
          <p:nvPr/>
        </p:nvPicPr>
        <p:blipFill>
          <a:blip r:embed="rId5">
            <a:alphaModFix/>
          </a:blip>
          <a:stretch>
            <a:fillRect/>
          </a:stretch>
        </p:blipFill>
        <p:spPr>
          <a:xfrm>
            <a:off x="413071" y="686063"/>
            <a:ext cx="1681325" cy="1120878"/>
          </a:xfrm>
          <a:prstGeom prst="rect">
            <a:avLst/>
          </a:prstGeom>
          <a:noFill/>
          <a:ln>
            <a:noFill/>
          </a:ln>
        </p:spPr>
      </p:pic>
      <p:sp>
        <p:nvSpPr>
          <p:cNvPr id="199" name="Google Shape;199;p20"/>
          <p:cNvSpPr txBox="1"/>
          <p:nvPr/>
        </p:nvSpPr>
        <p:spPr>
          <a:xfrm>
            <a:off x="3083100" y="7108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2023 Emerging: 20,516 Traders</a:t>
            </a:r>
            <a:endParaRPr b="1" sz="1000">
              <a:solidFill>
                <a:schemeClr val="dk2"/>
              </a:solidFill>
            </a:endParaRPr>
          </a:p>
        </p:txBody>
      </p:sp>
      <p:sp>
        <p:nvSpPr>
          <p:cNvPr id="200" name="Google Shape;200;p20"/>
          <p:cNvSpPr txBox="1"/>
          <p:nvPr/>
        </p:nvSpPr>
        <p:spPr>
          <a:xfrm>
            <a:off x="3128575" y="1413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2024 Emerging: 30,360 Traders</a:t>
            </a:r>
            <a:endParaRPr b="1" sz="1000">
              <a:solidFill>
                <a:schemeClr val="dk2"/>
              </a:solidFill>
            </a:endParaRPr>
          </a:p>
        </p:txBody>
      </p:sp>
      <p:sp>
        <p:nvSpPr>
          <p:cNvPr id="201" name="Google Shape;201;p20"/>
          <p:cNvSpPr txBox="1"/>
          <p:nvPr/>
        </p:nvSpPr>
        <p:spPr>
          <a:xfrm>
            <a:off x="3787200" y="1007350"/>
            <a:ext cx="11205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⬆47,98%</a:t>
            </a:r>
            <a:endParaRPr b="1" sz="1600">
              <a:solidFill>
                <a:srgbClr val="6AA84F"/>
              </a:solidFill>
            </a:endParaRPr>
          </a:p>
        </p:txBody>
      </p:sp>
      <p:sp>
        <p:nvSpPr>
          <p:cNvPr id="202" name="Google Shape;202;p20"/>
          <p:cNvSpPr txBox="1"/>
          <p:nvPr/>
        </p:nvSpPr>
        <p:spPr>
          <a:xfrm>
            <a:off x="371738" y="4308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Wiraswasta </a:t>
            </a:r>
            <a:endParaRPr b="1" sz="1000">
              <a:solidFill>
                <a:schemeClr val="dk2"/>
              </a:solidFill>
            </a:endParaRPr>
          </a:p>
        </p:txBody>
      </p:sp>
      <p:sp>
        <p:nvSpPr>
          <p:cNvPr id="203" name="Google Shape;203;p20"/>
          <p:cNvSpPr txBox="1"/>
          <p:nvPr/>
        </p:nvSpPr>
        <p:spPr>
          <a:xfrm>
            <a:off x="2914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Common Traders Age Group 2023 &amp; 2024</a:t>
            </a:r>
            <a:endParaRPr b="1" sz="1000">
              <a:solidFill>
                <a:schemeClr val="dk2"/>
              </a:solidFill>
            </a:endParaRPr>
          </a:p>
        </p:txBody>
      </p:sp>
      <p:sp>
        <p:nvSpPr>
          <p:cNvPr id="204" name="Google Shape;204;p20"/>
          <p:cNvSpPr txBox="1"/>
          <p:nvPr/>
        </p:nvSpPr>
        <p:spPr>
          <a:xfrm>
            <a:off x="304800" y="3063200"/>
            <a:ext cx="27537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Age group of 26-35 &amp; 36-45 are dominating in this segment. In 2023, Men dominating by 87.74% in this segment, meanwhile in 2024, it slightly </a:t>
            </a:r>
            <a:r>
              <a:rPr lang="en" sz="900">
                <a:solidFill>
                  <a:schemeClr val="dk2"/>
                </a:solidFill>
              </a:rPr>
              <a:t>decreased</a:t>
            </a:r>
            <a:r>
              <a:rPr lang="en" sz="900">
                <a:solidFill>
                  <a:schemeClr val="dk2"/>
                </a:solidFill>
              </a:rPr>
              <a:t> to 88.43%</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graphicFrame>
        <p:nvGraphicFramePr>
          <p:cNvPr id="205" name="Google Shape;205;p20"/>
          <p:cNvGraphicFramePr/>
          <p:nvPr/>
        </p:nvGraphicFramePr>
        <p:xfrm>
          <a:off x="357000" y="3815100"/>
          <a:ext cx="3000000" cy="3000000"/>
        </p:xfrm>
        <a:graphic>
          <a:graphicData uri="http://schemas.openxmlformats.org/drawingml/2006/table">
            <a:tbl>
              <a:tblPr>
                <a:noFill/>
                <a:tableStyleId>{0287243F-39C1-4460-8421-3307866EDBE6}</a:tableStyleId>
              </a:tblPr>
              <a:tblGrid>
                <a:gridCol w="639550"/>
                <a:gridCol w="639550"/>
                <a:gridCol w="639550"/>
                <a:gridCol w="639550"/>
              </a:tblGrid>
              <a:tr h="140925">
                <a:tc gridSpan="3">
                  <a:txBody>
                    <a:bodyPr/>
                    <a:lstStyle/>
                    <a:p>
                      <a:pPr indent="0" lvl="0" marL="0" rtl="0" algn="ctr">
                        <a:lnSpc>
                          <a:spcPct val="115000"/>
                        </a:lnSpc>
                        <a:spcBef>
                          <a:spcPts val="0"/>
                        </a:spcBef>
                        <a:spcAft>
                          <a:spcPts val="0"/>
                        </a:spcAft>
                        <a:buNone/>
                      </a:pPr>
                      <a:r>
                        <a:rPr b="1" lang="en" sz="600"/>
                        <a:t>Number of Traders (Wiraswasta)</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rowSpan="2">
                  <a:txBody>
                    <a:bodyPr/>
                    <a:lstStyle/>
                    <a:p>
                      <a:pPr indent="0" lvl="0" marL="0" rtl="0" algn="ctr">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140925">
                <a:tc>
                  <a:txBody>
                    <a:bodyPr/>
                    <a:lstStyle/>
                    <a:p>
                      <a:pPr indent="0" lvl="0" marL="0" rtl="0" algn="ctr">
                        <a:lnSpc>
                          <a:spcPct val="115000"/>
                        </a:lnSpc>
                        <a:spcBef>
                          <a:spcPts val="0"/>
                        </a:spcBef>
                        <a:spcAft>
                          <a:spcPts val="0"/>
                        </a:spcAft>
                        <a:buNone/>
                      </a:pPr>
                      <a:r>
                        <a:rPr b="1" lang="en" sz="600"/>
                        <a:t>Age Group</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vMerge="1"/>
              </a:tr>
              <a:tr h="140925">
                <a:tc>
                  <a:txBody>
                    <a:bodyPr/>
                    <a:lstStyle/>
                    <a:p>
                      <a:pPr indent="0" lvl="0" marL="0" rtl="0" algn="ctr">
                        <a:lnSpc>
                          <a:spcPct val="115000"/>
                        </a:lnSpc>
                        <a:spcBef>
                          <a:spcPts val="0"/>
                        </a:spcBef>
                        <a:spcAft>
                          <a:spcPts val="0"/>
                        </a:spcAft>
                        <a:buNone/>
                      </a:pPr>
                      <a:r>
                        <a:rPr lang="en" sz="600"/>
                        <a:t>26-35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1972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2954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49</a:t>
                      </a:r>
                      <a:r>
                        <a:rPr lang="en" sz="600"/>
                        <a:t>.79%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t>36-45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2360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2916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23</a:t>
                      </a:r>
                      <a:r>
                        <a:rPr lang="en" sz="600"/>
                        <a:t>.55%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206" name="Google Shape;206;p20"/>
          <p:cNvSpPr txBox="1"/>
          <p:nvPr/>
        </p:nvSpPr>
        <p:spPr>
          <a:xfrm>
            <a:off x="3159000" y="1776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207" name="Google Shape;207;p20"/>
          <p:cNvPicPr preferRelativeResize="0"/>
          <p:nvPr/>
        </p:nvPicPr>
        <p:blipFill>
          <a:blip r:embed="rId6">
            <a:alphaModFix/>
          </a:blip>
          <a:stretch>
            <a:fillRect/>
          </a:stretch>
        </p:blipFill>
        <p:spPr>
          <a:xfrm>
            <a:off x="3197725" y="2100525"/>
            <a:ext cx="1681325" cy="939725"/>
          </a:xfrm>
          <a:prstGeom prst="rect">
            <a:avLst/>
          </a:prstGeom>
          <a:noFill/>
          <a:ln>
            <a:noFill/>
          </a:ln>
        </p:spPr>
      </p:pic>
      <p:sp>
        <p:nvSpPr>
          <p:cNvPr id="208" name="Google Shape;208;p20"/>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9,943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30,243,889</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209" name="Google Shape;209;p20"/>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9,878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21,541,795</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210" name="Google Shape;210;p20"/>
          <p:cNvPicPr preferRelativeResize="0"/>
          <p:nvPr/>
        </p:nvPicPr>
        <p:blipFill>
          <a:blip r:embed="rId7">
            <a:alphaModFix/>
          </a:blip>
          <a:stretch>
            <a:fillRect/>
          </a:stretch>
        </p:blipFill>
        <p:spPr>
          <a:xfrm>
            <a:off x="3083088" y="3115075"/>
            <a:ext cx="1849200" cy="844975"/>
          </a:xfrm>
          <a:prstGeom prst="rect">
            <a:avLst/>
          </a:prstGeom>
          <a:noFill/>
          <a:ln>
            <a:noFill/>
          </a:ln>
        </p:spPr>
      </p:pic>
      <p:sp>
        <p:nvSpPr>
          <p:cNvPr id="211" name="Google Shape;211;p20"/>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6,013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25,116,761</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212" name="Google Shape;212;p20"/>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5,043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18,942,279</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213" name="Google Shape;213;p20"/>
          <p:cNvPicPr preferRelativeResize="0"/>
          <p:nvPr/>
        </p:nvPicPr>
        <p:blipFill>
          <a:blip r:embed="rId8">
            <a:alphaModFix/>
          </a:blip>
          <a:stretch>
            <a:fillRect/>
          </a:stretch>
        </p:blipFill>
        <p:spPr>
          <a:xfrm>
            <a:off x="3346262" y="4110275"/>
            <a:ext cx="1322875" cy="878701"/>
          </a:xfrm>
          <a:prstGeom prst="rect">
            <a:avLst/>
          </a:prstGeom>
          <a:noFill/>
          <a:ln>
            <a:noFill/>
          </a:ln>
        </p:spPr>
      </p:pic>
      <p:sp>
        <p:nvSpPr>
          <p:cNvPr id="214" name="Google Shape;214;p20"/>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4,507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18,836,956</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215" name="Google Shape;215;p20"/>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3,785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15,739,450</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216" name="Google Shape;216;p20"/>
          <p:cNvPicPr preferRelativeResize="0"/>
          <p:nvPr/>
        </p:nvPicPr>
        <p:blipFill rotWithShape="1">
          <a:blip r:embed="rId9">
            <a:alphaModFix/>
          </a:blip>
          <a:srcRect b="5666" l="0" r="0" t="5657"/>
          <a:stretch/>
        </p:blipFill>
        <p:spPr>
          <a:xfrm>
            <a:off x="5302875" y="162925"/>
            <a:ext cx="1849200" cy="1293136"/>
          </a:xfrm>
          <a:prstGeom prst="rect">
            <a:avLst/>
          </a:prstGeom>
          <a:noFill/>
          <a:ln>
            <a:noFill/>
          </a:ln>
        </p:spPr>
      </p:pic>
      <p:sp>
        <p:nvSpPr>
          <p:cNvPr id="217" name="Google Shape;217;p20"/>
          <p:cNvSpPr txBox="1"/>
          <p:nvPr/>
        </p:nvSpPr>
        <p:spPr>
          <a:xfrm>
            <a:off x="7098238" y="2275712"/>
            <a:ext cx="19359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2"/>
                </a:solidFill>
              </a:rPr>
              <a:t>Jawa Barat</a:t>
            </a:r>
            <a:r>
              <a:rPr lang="en" sz="600">
                <a:solidFill>
                  <a:schemeClr val="dk2"/>
                </a:solidFill>
              </a:rPr>
              <a:t> become a top 1 region for emerging traders with the population of 3,486 traders in 2023, and it grow by 37,49% to 4,793 traders in 2024. But Jakarta become at first place of emerging traders traders in 2024 with the population of 5,296.</a:t>
            </a:r>
            <a:endParaRPr sz="600">
              <a:solidFill>
                <a:schemeClr val="dk2"/>
              </a:solidFill>
            </a:endParaRPr>
          </a:p>
        </p:txBody>
      </p:sp>
      <p:cxnSp>
        <p:nvCxnSpPr>
          <p:cNvPr id="218" name="Google Shape;218;p20"/>
          <p:cNvCxnSpPr/>
          <p:nvPr/>
        </p:nvCxnSpPr>
        <p:spPr>
          <a:xfrm>
            <a:off x="4874000" y="2605925"/>
            <a:ext cx="179100" cy="0"/>
          </a:xfrm>
          <a:prstGeom prst="straightConnector1">
            <a:avLst/>
          </a:prstGeom>
          <a:noFill/>
          <a:ln cap="flat" cmpd="sng" w="9525">
            <a:solidFill>
              <a:schemeClr val="dk2"/>
            </a:solidFill>
            <a:prstDash val="solid"/>
            <a:round/>
            <a:headEnd len="med" w="med" type="none"/>
            <a:tailEnd len="med" w="med" type="stealth"/>
          </a:ln>
        </p:spPr>
      </p:cxnSp>
      <p:cxnSp>
        <p:nvCxnSpPr>
          <p:cNvPr id="219" name="Google Shape;219;p20"/>
          <p:cNvCxnSpPr/>
          <p:nvPr/>
        </p:nvCxnSpPr>
        <p:spPr>
          <a:xfrm>
            <a:off x="4709250" y="3551525"/>
            <a:ext cx="236400" cy="0"/>
          </a:xfrm>
          <a:prstGeom prst="straightConnector1">
            <a:avLst/>
          </a:prstGeom>
          <a:noFill/>
          <a:ln cap="flat" cmpd="sng" w="9525">
            <a:solidFill>
              <a:schemeClr val="dk2"/>
            </a:solidFill>
            <a:prstDash val="solid"/>
            <a:round/>
            <a:headEnd len="med" w="med" type="none"/>
            <a:tailEnd len="med" w="med" type="stealth"/>
          </a:ln>
        </p:spPr>
      </p:cxnSp>
      <p:cxnSp>
        <p:nvCxnSpPr>
          <p:cNvPr id="220" name="Google Shape;220;p20"/>
          <p:cNvCxnSpPr>
            <a:stCxn id="213"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graphicFrame>
        <p:nvGraphicFramePr>
          <p:cNvPr id="221" name="Google Shape;221;p20"/>
          <p:cNvGraphicFramePr/>
          <p:nvPr/>
        </p:nvGraphicFramePr>
        <p:xfrm>
          <a:off x="7098238" y="3040238"/>
          <a:ext cx="3000000" cy="3000000"/>
        </p:xfrm>
        <a:graphic>
          <a:graphicData uri="http://schemas.openxmlformats.org/drawingml/2006/table">
            <a:tbl>
              <a:tblPr>
                <a:noFill/>
                <a:tableStyleId>{0287243F-39C1-4460-8421-3307866EDBE6}</a:tableStyleId>
              </a:tblPr>
              <a:tblGrid>
                <a:gridCol w="510300"/>
                <a:gridCol w="510300"/>
                <a:gridCol w="510300"/>
                <a:gridCol w="405000"/>
              </a:tblGrid>
              <a:tr h="125400">
                <a:tc gridSpan="4">
                  <a:txBody>
                    <a:bodyPr/>
                    <a:lstStyle/>
                    <a:p>
                      <a:pPr indent="0" lvl="0" marL="0" rtl="0" algn="ctr">
                        <a:lnSpc>
                          <a:spcPct val="115000"/>
                        </a:lnSpc>
                        <a:spcBef>
                          <a:spcPts val="0"/>
                        </a:spcBef>
                        <a:spcAft>
                          <a:spcPts val="0"/>
                        </a:spcAft>
                        <a:buNone/>
                      </a:pPr>
                      <a:r>
                        <a:rPr b="1" lang="en" sz="500"/>
                        <a:t>Trading Behaviour</a:t>
                      </a:r>
                      <a:endParaRPr b="1"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211275">
                <a:tc>
                  <a:txBody>
                    <a:bodyPr/>
                    <a:lstStyle/>
                    <a:p>
                      <a:pPr indent="0" lvl="0" marL="0" rtl="0" algn="l">
                        <a:lnSpc>
                          <a:spcPct val="115000"/>
                        </a:lnSpc>
                        <a:spcBef>
                          <a:spcPts val="0"/>
                        </a:spcBef>
                        <a:spcAft>
                          <a:spcPts val="0"/>
                        </a:spcAft>
                        <a:buNone/>
                      </a:pPr>
                      <a:r>
                        <a:rPr b="1" lang="en" sz="500"/>
                        <a:t>Type</a:t>
                      </a:r>
                      <a:endParaRPr b="1"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500"/>
                        <a:t>2023</a:t>
                      </a:r>
                      <a:endParaRPr b="1"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500"/>
                        <a:t>2024</a:t>
                      </a:r>
                      <a:endParaRPr b="1"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500"/>
                        <a:t>Growth %</a:t>
                      </a:r>
                      <a:endParaRPr b="1"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211275">
                <a:tc>
                  <a:txBody>
                    <a:bodyPr/>
                    <a:lstStyle/>
                    <a:p>
                      <a:pPr indent="0" lvl="0" marL="0" rtl="0" algn="l">
                        <a:lnSpc>
                          <a:spcPct val="115000"/>
                        </a:lnSpc>
                        <a:spcBef>
                          <a:spcPts val="0"/>
                        </a:spcBef>
                        <a:spcAft>
                          <a:spcPts val="0"/>
                        </a:spcAft>
                        <a:buNone/>
                      </a:pPr>
                      <a:r>
                        <a:rPr lang="en" sz="500"/>
                        <a:t>Trade Frequency</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276</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232</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-15.94%</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53500">
                <a:tc>
                  <a:txBody>
                    <a:bodyPr/>
                    <a:lstStyle/>
                    <a:p>
                      <a:pPr indent="0" lvl="0" marL="0" rtl="0" algn="l">
                        <a:lnSpc>
                          <a:spcPct val="115000"/>
                        </a:lnSpc>
                        <a:spcBef>
                          <a:spcPts val="0"/>
                        </a:spcBef>
                        <a:spcAft>
                          <a:spcPts val="0"/>
                        </a:spcAft>
                        <a:buNone/>
                      </a:pPr>
                      <a:r>
                        <a:rPr lang="en" sz="500">
                          <a:solidFill>
                            <a:schemeClr val="dk1"/>
                          </a:solidFill>
                        </a:rPr>
                        <a:t>Avg Trade Frequency (Weekly)</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25</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32</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28.00%</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53500">
                <a:tc>
                  <a:txBody>
                    <a:bodyPr/>
                    <a:lstStyle/>
                    <a:p>
                      <a:pPr indent="0" lvl="0" marL="0" rtl="0" algn="l">
                        <a:lnSpc>
                          <a:spcPct val="115000"/>
                        </a:lnSpc>
                        <a:spcBef>
                          <a:spcPts val="0"/>
                        </a:spcBef>
                        <a:spcAft>
                          <a:spcPts val="0"/>
                        </a:spcAft>
                        <a:buNone/>
                      </a:pPr>
                      <a:r>
                        <a:rPr lang="en" sz="500">
                          <a:solidFill>
                            <a:schemeClr val="dk1"/>
                          </a:solidFill>
                        </a:rPr>
                        <a:t>Avg Trade Frequency (Monthly)</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59</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92</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55.93%</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11275">
                <a:tc>
                  <a:txBody>
                    <a:bodyPr/>
                    <a:lstStyle/>
                    <a:p>
                      <a:pPr indent="0" lvl="0" marL="0" rtl="0" algn="l">
                        <a:lnSpc>
                          <a:spcPct val="115000"/>
                        </a:lnSpc>
                        <a:spcBef>
                          <a:spcPts val="0"/>
                        </a:spcBef>
                        <a:spcAft>
                          <a:spcPts val="0"/>
                        </a:spcAft>
                        <a:buNone/>
                      </a:pPr>
                      <a:r>
                        <a:rPr lang="en" sz="500"/>
                        <a:t>Avg Trade Frequency (Daily)</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10</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12</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20.00%</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11275">
                <a:tc>
                  <a:txBody>
                    <a:bodyPr/>
                    <a:lstStyle/>
                    <a:p>
                      <a:pPr indent="0" lvl="0" marL="0" rtl="0" algn="l">
                        <a:lnSpc>
                          <a:spcPct val="115000"/>
                        </a:lnSpc>
                        <a:spcBef>
                          <a:spcPts val="0"/>
                        </a:spcBef>
                        <a:spcAft>
                          <a:spcPts val="0"/>
                        </a:spcAft>
                        <a:buNone/>
                      </a:pPr>
                      <a:r>
                        <a:rPr lang="en" sz="500"/>
                        <a:t>Trade Volume</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4,018,382,657,857</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6,325,683,403,267]</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57.42%</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11275">
                <a:tc>
                  <a:txBody>
                    <a:bodyPr/>
                    <a:lstStyle/>
                    <a:p>
                      <a:pPr indent="0" lvl="0" marL="0" rtl="0" algn="l">
                        <a:lnSpc>
                          <a:spcPct val="115000"/>
                        </a:lnSpc>
                        <a:spcBef>
                          <a:spcPts val="0"/>
                        </a:spcBef>
                        <a:spcAft>
                          <a:spcPts val="0"/>
                        </a:spcAft>
                        <a:buNone/>
                      </a:pPr>
                      <a:r>
                        <a:rPr lang="en" sz="500"/>
                        <a:t>Avg Basket Size</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21,479,044.96</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26,092,425.09</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500"/>
                        <a:t>21.48%</a:t>
                      </a:r>
                      <a:endParaRPr sz="5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pic>
        <p:nvPicPr>
          <p:cNvPr id="222" name="Google Shape;222;p20"/>
          <p:cNvPicPr preferRelativeResize="0"/>
          <p:nvPr/>
        </p:nvPicPr>
        <p:blipFill>
          <a:blip r:embed="rId10">
            <a:alphaModFix/>
          </a:blip>
          <a:stretch>
            <a:fillRect/>
          </a:stretch>
        </p:blipFill>
        <p:spPr>
          <a:xfrm>
            <a:off x="7208050" y="162924"/>
            <a:ext cx="1849200" cy="1293136"/>
          </a:xfrm>
          <a:prstGeom prst="rect">
            <a:avLst/>
          </a:prstGeom>
          <a:noFill/>
          <a:ln>
            <a:noFill/>
          </a:ln>
        </p:spPr>
      </p:pic>
      <p:sp>
        <p:nvSpPr>
          <p:cNvPr id="223" name="Google Shape;223;p20"/>
          <p:cNvSpPr txBox="1"/>
          <p:nvPr/>
        </p:nvSpPr>
        <p:spPr>
          <a:xfrm>
            <a:off x="1915400" y="4521925"/>
            <a:ext cx="1017300" cy="57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2"/>
                </a:solidFill>
              </a:rPr>
              <a:t>Source:</a:t>
            </a:r>
            <a:endParaRPr sz="500">
              <a:solidFill>
                <a:schemeClr val="dk2"/>
              </a:solidFill>
            </a:endParaRPr>
          </a:p>
          <a:p>
            <a:pPr indent="0" lvl="0" marL="0" rtl="0" algn="l">
              <a:spcBef>
                <a:spcPts val="0"/>
              </a:spcBef>
              <a:spcAft>
                <a:spcPts val="0"/>
              </a:spcAft>
              <a:buNone/>
            </a:pPr>
            <a:r>
              <a:rPr lang="en" sz="500" u="sng">
                <a:solidFill>
                  <a:schemeClr val="hlink"/>
                </a:solidFill>
                <a:hlinkClick r:id="rId11"/>
              </a:rPr>
              <a:t>Source of Location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2"/>
              </a:rPr>
              <a:t>Source of Deposit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3"/>
              </a:rPr>
              <a:t>Source of Age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4"/>
              </a:rPr>
              <a:t>Source of Trade Data</a:t>
            </a:r>
            <a:endParaRPr sz="500">
              <a:solidFill>
                <a:schemeClr val="dk2"/>
              </a:solidFill>
            </a:endParaRPr>
          </a:p>
        </p:txBody>
      </p:sp>
      <p:pic>
        <p:nvPicPr>
          <p:cNvPr id="224" name="Google Shape;224;p20"/>
          <p:cNvPicPr preferRelativeResize="0"/>
          <p:nvPr/>
        </p:nvPicPr>
        <p:blipFill>
          <a:blip r:embed="rId15">
            <a:alphaModFix/>
          </a:blip>
          <a:stretch>
            <a:fillRect/>
          </a:stretch>
        </p:blipFill>
        <p:spPr>
          <a:xfrm>
            <a:off x="5939896" y="1374538"/>
            <a:ext cx="671669" cy="528141"/>
          </a:xfrm>
          <a:prstGeom prst="rect">
            <a:avLst/>
          </a:prstGeom>
          <a:noFill/>
          <a:ln>
            <a:noFill/>
          </a:ln>
        </p:spPr>
      </p:pic>
      <p:sp>
        <p:nvSpPr>
          <p:cNvPr id="225" name="Google Shape;225;p20"/>
          <p:cNvSpPr txBox="1"/>
          <p:nvPr/>
        </p:nvSpPr>
        <p:spPr>
          <a:xfrm>
            <a:off x="5638425" y="1830215"/>
            <a:ext cx="1178100" cy="63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2"/>
                </a:solidFill>
              </a:rPr>
              <a:t>Average income:</a:t>
            </a:r>
            <a:endParaRPr sz="600">
              <a:solidFill>
                <a:schemeClr val="dk2"/>
              </a:solidFill>
            </a:endParaRPr>
          </a:p>
          <a:p>
            <a:pPr indent="-266700" lvl="0" marL="457200" rtl="0" algn="l">
              <a:spcBef>
                <a:spcPts val="0"/>
              </a:spcBef>
              <a:spcAft>
                <a:spcPts val="0"/>
              </a:spcAft>
              <a:buClr>
                <a:schemeClr val="dk2"/>
              </a:buClr>
              <a:buSzPts val="600"/>
              <a:buChar char="-"/>
            </a:pPr>
            <a:r>
              <a:rPr lang="en" sz="600">
                <a:solidFill>
                  <a:schemeClr val="dk2"/>
                </a:solidFill>
              </a:rPr>
              <a:t>Indonesia : </a:t>
            </a:r>
            <a:r>
              <a:rPr lang="en" sz="600">
                <a:solidFill>
                  <a:schemeClr val="dk2"/>
                </a:solidFill>
              </a:rPr>
              <a:t>30M/Month</a:t>
            </a:r>
            <a:endParaRPr sz="600">
              <a:solidFill>
                <a:schemeClr val="dk2"/>
              </a:solidFill>
            </a:endParaRPr>
          </a:p>
        </p:txBody>
      </p:sp>
      <p:sp>
        <p:nvSpPr>
          <p:cNvPr id="226" name="Google Shape;226;p20"/>
          <p:cNvSpPr txBox="1"/>
          <p:nvPr/>
        </p:nvSpPr>
        <p:spPr>
          <a:xfrm>
            <a:off x="5539700" y="412574"/>
            <a:ext cx="1178100" cy="8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
                <a:solidFill>
                  <a:srgbClr val="FFFF00"/>
                </a:solidFill>
              </a:rPr>
              <a:t>Top 3 CIty:</a:t>
            </a:r>
            <a:endParaRPr b="1" sz="600">
              <a:solidFill>
                <a:srgbClr val="FFFF00"/>
              </a:solidFill>
            </a:endParaRPr>
          </a:p>
          <a:p>
            <a:pPr indent="0" lvl="0" marL="0" rtl="0" algn="l">
              <a:spcBef>
                <a:spcPts val="0"/>
              </a:spcBef>
              <a:spcAft>
                <a:spcPts val="0"/>
              </a:spcAft>
              <a:buNone/>
            </a:pPr>
            <a:r>
              <a:rPr b="1" lang="en" sz="600">
                <a:solidFill>
                  <a:srgbClr val="FFFF00"/>
                </a:solidFill>
              </a:rPr>
              <a:t>1. Kota Bandung: 2023(529 users), 2024(845 users)</a:t>
            </a:r>
            <a:endParaRPr b="1" sz="600">
              <a:solidFill>
                <a:srgbClr val="FFFF00"/>
              </a:solidFill>
            </a:endParaRPr>
          </a:p>
          <a:p>
            <a:pPr indent="0" lvl="0" marL="0" rtl="0" algn="l">
              <a:spcBef>
                <a:spcPts val="0"/>
              </a:spcBef>
              <a:spcAft>
                <a:spcPts val="0"/>
              </a:spcAft>
              <a:buNone/>
            </a:pPr>
            <a:r>
              <a:rPr b="1" lang="en" sz="600">
                <a:solidFill>
                  <a:srgbClr val="FFFF00"/>
                </a:solidFill>
              </a:rPr>
              <a:t>2. Kota Bekasi: 2023(500 users), 2024(693 users)</a:t>
            </a:r>
            <a:endParaRPr b="1" sz="600">
              <a:solidFill>
                <a:srgbClr val="FFFF00"/>
              </a:solidFill>
            </a:endParaRPr>
          </a:p>
          <a:p>
            <a:pPr indent="0" lvl="0" marL="0" rtl="0" algn="l">
              <a:spcBef>
                <a:spcPts val="0"/>
              </a:spcBef>
              <a:spcAft>
                <a:spcPts val="0"/>
              </a:spcAft>
              <a:buNone/>
            </a:pPr>
            <a:r>
              <a:rPr b="1" lang="en" sz="600">
                <a:solidFill>
                  <a:srgbClr val="FFFF00"/>
                </a:solidFill>
              </a:rPr>
              <a:t>3. Kota Depok: 2023(314 users), 2024(379 users)</a:t>
            </a:r>
            <a:endParaRPr b="1" sz="600">
              <a:solidFill>
                <a:srgbClr val="FFFF00"/>
              </a:solidFill>
            </a:endParaRPr>
          </a:p>
        </p:txBody>
      </p:sp>
      <p:sp>
        <p:nvSpPr>
          <p:cNvPr id="227" name="Google Shape;227;p20"/>
          <p:cNvSpPr txBox="1"/>
          <p:nvPr/>
        </p:nvSpPr>
        <p:spPr>
          <a:xfrm>
            <a:off x="7231150" y="1465579"/>
            <a:ext cx="1803000" cy="73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600">
                <a:solidFill>
                  <a:schemeClr val="dk1"/>
                </a:solidFill>
              </a:rPr>
              <a:t>Top 3 CIty:</a:t>
            </a:r>
            <a:endParaRPr b="1" sz="600">
              <a:solidFill>
                <a:schemeClr val="dk1"/>
              </a:solidFill>
            </a:endParaRPr>
          </a:p>
          <a:p>
            <a:pPr indent="0" lvl="0" marL="0" rtl="0" algn="l">
              <a:spcBef>
                <a:spcPts val="0"/>
              </a:spcBef>
              <a:spcAft>
                <a:spcPts val="0"/>
              </a:spcAft>
              <a:buNone/>
            </a:pPr>
            <a:r>
              <a:rPr b="1" lang="en" sz="600">
                <a:solidFill>
                  <a:schemeClr val="dk1"/>
                </a:solidFill>
              </a:rPr>
              <a:t>1. West Jakarta: 2023(1030 users), 2024(1736 users)</a:t>
            </a:r>
            <a:endParaRPr b="1" sz="600">
              <a:solidFill>
                <a:schemeClr val="dk1"/>
              </a:solidFill>
            </a:endParaRPr>
          </a:p>
          <a:p>
            <a:pPr indent="0" lvl="0" marL="0" rtl="0" algn="l">
              <a:spcBef>
                <a:spcPts val="0"/>
              </a:spcBef>
              <a:spcAft>
                <a:spcPts val="0"/>
              </a:spcAft>
              <a:buNone/>
            </a:pPr>
            <a:r>
              <a:rPr b="1" lang="en" sz="600">
                <a:solidFill>
                  <a:schemeClr val="dk1"/>
                </a:solidFill>
              </a:rPr>
              <a:t>2. North Jakarta: 2023(738 users), 2024(1292 users)</a:t>
            </a:r>
            <a:endParaRPr b="1" sz="600">
              <a:solidFill>
                <a:schemeClr val="dk1"/>
              </a:solidFill>
            </a:endParaRPr>
          </a:p>
          <a:p>
            <a:pPr indent="0" lvl="0" marL="0" rtl="0" algn="l">
              <a:spcBef>
                <a:spcPts val="0"/>
              </a:spcBef>
              <a:spcAft>
                <a:spcPts val="0"/>
              </a:spcAft>
              <a:buNone/>
            </a:pPr>
            <a:r>
              <a:rPr b="1" lang="en" sz="600">
                <a:solidFill>
                  <a:schemeClr val="dk1"/>
                </a:solidFill>
              </a:rPr>
              <a:t>3. South Jakarta: 2023(633 users), 2024(934 users)</a:t>
            </a:r>
            <a:endParaRPr b="1" sz="600">
              <a:solidFill>
                <a:schemeClr val="dk1"/>
              </a:solidFill>
            </a:endParaRPr>
          </a:p>
        </p:txBody>
      </p:sp>
      <p:pic>
        <p:nvPicPr>
          <p:cNvPr id="228" name="Google Shape;228;p20"/>
          <p:cNvPicPr preferRelativeResize="0"/>
          <p:nvPr/>
        </p:nvPicPr>
        <p:blipFill>
          <a:blip r:embed="rId16">
            <a:alphaModFix/>
          </a:blip>
          <a:stretch>
            <a:fillRect/>
          </a:stretch>
        </p:blipFill>
        <p:spPr>
          <a:xfrm>
            <a:off x="413069" y="1860242"/>
            <a:ext cx="301206" cy="301153"/>
          </a:xfrm>
          <a:prstGeom prst="rect">
            <a:avLst/>
          </a:prstGeom>
          <a:noFill/>
          <a:ln>
            <a:noFill/>
          </a:ln>
        </p:spPr>
      </p:pic>
      <p:pic>
        <p:nvPicPr>
          <p:cNvPr id="229" name="Google Shape;229;p20"/>
          <p:cNvPicPr preferRelativeResize="0"/>
          <p:nvPr/>
        </p:nvPicPr>
        <p:blipFill>
          <a:blip r:embed="rId17">
            <a:alphaModFix/>
          </a:blip>
          <a:stretch>
            <a:fillRect/>
          </a:stretch>
        </p:blipFill>
        <p:spPr>
          <a:xfrm>
            <a:off x="1615394" y="1860256"/>
            <a:ext cx="301206" cy="301153"/>
          </a:xfrm>
          <a:prstGeom prst="rect">
            <a:avLst/>
          </a:prstGeom>
          <a:noFill/>
          <a:ln>
            <a:noFill/>
          </a:ln>
        </p:spPr>
      </p:pic>
      <p:pic>
        <p:nvPicPr>
          <p:cNvPr id="230" name="Google Shape;230;p20"/>
          <p:cNvPicPr preferRelativeResize="0"/>
          <p:nvPr/>
        </p:nvPicPr>
        <p:blipFill>
          <a:blip r:embed="rId18">
            <a:alphaModFix/>
          </a:blip>
          <a:stretch>
            <a:fillRect/>
          </a:stretch>
        </p:blipFill>
        <p:spPr>
          <a:xfrm>
            <a:off x="1214620" y="1860260"/>
            <a:ext cx="301205" cy="301153"/>
          </a:xfrm>
          <a:prstGeom prst="rect">
            <a:avLst/>
          </a:prstGeom>
          <a:noFill/>
          <a:ln>
            <a:noFill/>
          </a:ln>
        </p:spPr>
      </p:pic>
      <p:pic>
        <p:nvPicPr>
          <p:cNvPr id="231" name="Google Shape;231;p20"/>
          <p:cNvPicPr preferRelativeResize="0"/>
          <p:nvPr/>
        </p:nvPicPr>
        <p:blipFill>
          <a:blip r:embed="rId19">
            <a:alphaModFix/>
          </a:blip>
          <a:stretch>
            <a:fillRect/>
          </a:stretch>
        </p:blipFill>
        <p:spPr>
          <a:xfrm flipH="1">
            <a:off x="813845" y="1860253"/>
            <a:ext cx="301204" cy="301153"/>
          </a:xfrm>
          <a:prstGeom prst="rect">
            <a:avLst/>
          </a:prstGeom>
          <a:noFill/>
          <a:ln>
            <a:noFill/>
          </a:ln>
        </p:spPr>
      </p:pic>
      <p:pic>
        <p:nvPicPr>
          <p:cNvPr id="232" name="Google Shape;232;p20"/>
          <p:cNvPicPr preferRelativeResize="0"/>
          <p:nvPr/>
        </p:nvPicPr>
        <p:blipFill>
          <a:blip r:embed="rId20">
            <a:alphaModFix/>
          </a:blip>
          <a:stretch>
            <a:fillRect/>
          </a:stretch>
        </p:blipFill>
        <p:spPr>
          <a:xfrm>
            <a:off x="2016176" y="1882225"/>
            <a:ext cx="281550" cy="281550"/>
          </a:xfrm>
          <a:prstGeom prst="rect">
            <a:avLst/>
          </a:prstGeom>
          <a:noFill/>
          <a:ln>
            <a:noFill/>
          </a:ln>
        </p:spPr>
      </p:pic>
      <p:sp>
        <p:nvSpPr>
          <p:cNvPr id="233" name="Google Shape;233;p20"/>
          <p:cNvSpPr txBox="1"/>
          <p:nvPr/>
        </p:nvSpPr>
        <p:spPr>
          <a:xfrm>
            <a:off x="357000" y="2184913"/>
            <a:ext cx="2528700" cy="4923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Valuable</a:t>
            </a:r>
            <a:r>
              <a:rPr lang="en" sz="700">
                <a:solidFill>
                  <a:schemeClr val="dk2"/>
                </a:solidFill>
                <a:latin typeface="Proxima Nova"/>
                <a:ea typeface="Proxima Nova"/>
                <a:cs typeface="Proxima Nova"/>
                <a:sym typeface="Proxima Nova"/>
              </a:rPr>
              <a:t> traders have the most trade volume for Altcoins such. From 2023 to 2024 the trading volume of Altcoins increased by 52.63% from 8.36T to 12.76T. Followed by MEME coin in 2nd places.</a:t>
            </a:r>
            <a:endParaRPr sz="700">
              <a:solidFill>
                <a:schemeClr val="dk2"/>
              </a:solidFill>
              <a:latin typeface="Proxima Nova"/>
              <a:ea typeface="Proxima Nova"/>
              <a:cs typeface="Proxima Nova"/>
              <a:sym typeface="Proxima Nova"/>
            </a:endParaRPr>
          </a:p>
        </p:txBody>
      </p:sp>
      <p:grpSp>
        <p:nvGrpSpPr>
          <p:cNvPr id="234" name="Google Shape;234;p20"/>
          <p:cNvGrpSpPr/>
          <p:nvPr/>
        </p:nvGrpSpPr>
        <p:grpSpPr>
          <a:xfrm>
            <a:off x="2130013" y="986275"/>
            <a:ext cx="831625" cy="749300"/>
            <a:chOff x="2006250" y="663775"/>
            <a:chExt cx="831625" cy="749300"/>
          </a:xfrm>
        </p:grpSpPr>
        <p:pic>
          <p:nvPicPr>
            <p:cNvPr id="235" name="Google Shape;235;p20"/>
            <p:cNvPicPr preferRelativeResize="0"/>
            <p:nvPr/>
          </p:nvPicPr>
          <p:blipFill>
            <a:blip r:embed="rId21">
              <a:alphaModFix/>
            </a:blip>
            <a:stretch>
              <a:fillRect/>
            </a:stretch>
          </p:blipFill>
          <p:spPr>
            <a:xfrm>
              <a:off x="2250371" y="663775"/>
              <a:ext cx="352100" cy="352100"/>
            </a:xfrm>
            <a:prstGeom prst="rect">
              <a:avLst/>
            </a:prstGeom>
            <a:noFill/>
            <a:ln>
              <a:noFill/>
            </a:ln>
          </p:spPr>
        </p:pic>
        <p:pic>
          <p:nvPicPr>
            <p:cNvPr id="236" name="Google Shape;236;p20"/>
            <p:cNvPicPr preferRelativeResize="0"/>
            <p:nvPr/>
          </p:nvPicPr>
          <p:blipFill>
            <a:blip r:embed="rId22">
              <a:alphaModFix/>
            </a:blip>
            <a:stretch>
              <a:fillRect/>
            </a:stretch>
          </p:blipFill>
          <p:spPr>
            <a:xfrm flipH="1">
              <a:off x="2006250" y="1051350"/>
              <a:ext cx="352100" cy="352100"/>
            </a:xfrm>
            <a:prstGeom prst="rect">
              <a:avLst/>
            </a:prstGeom>
            <a:noFill/>
            <a:ln>
              <a:noFill/>
            </a:ln>
          </p:spPr>
        </p:pic>
        <p:pic>
          <p:nvPicPr>
            <p:cNvPr id="237" name="Google Shape;237;p20"/>
            <p:cNvPicPr preferRelativeResize="0"/>
            <p:nvPr/>
          </p:nvPicPr>
          <p:blipFill>
            <a:blip r:embed="rId23">
              <a:alphaModFix/>
            </a:blip>
            <a:stretch>
              <a:fillRect/>
            </a:stretch>
          </p:blipFill>
          <p:spPr>
            <a:xfrm>
              <a:off x="2485775" y="1060975"/>
              <a:ext cx="352100" cy="3521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1" name="Shape 241"/>
        <p:cNvGrpSpPr/>
        <p:nvPr/>
      </p:nvGrpSpPr>
      <p:grpSpPr>
        <a:xfrm>
          <a:off x="0" y="0"/>
          <a:ext cx="0" cy="0"/>
          <a:chOff x="0" y="0"/>
          <a:chExt cx="0" cy="0"/>
        </a:xfrm>
      </p:grpSpPr>
      <p:sp>
        <p:nvSpPr>
          <p:cNvPr id="242" name="Google Shape;242;p21"/>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Emerging</a:t>
            </a:r>
            <a:r>
              <a:rPr b="1" lang="en" sz="1800">
                <a:solidFill>
                  <a:srgbClr val="0084B5"/>
                </a:solidFill>
                <a:latin typeface="Montserrat"/>
                <a:ea typeface="Montserrat"/>
                <a:cs typeface="Montserrat"/>
                <a:sym typeface="Montserrat"/>
              </a:rPr>
              <a:t> Individual 2023 vs Emerging Individual 2024</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sp>
        <p:nvSpPr>
          <p:cNvPr id="243" name="Google Shape;243;p21"/>
          <p:cNvSpPr txBox="1"/>
          <p:nvPr/>
        </p:nvSpPr>
        <p:spPr>
          <a:xfrm>
            <a:off x="3569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DCA</a:t>
            </a:r>
            <a:endParaRPr b="1" sz="1000">
              <a:solidFill>
                <a:schemeClr val="dk2"/>
              </a:solidFill>
            </a:endParaRPr>
          </a:p>
        </p:txBody>
      </p:sp>
      <p:sp>
        <p:nvSpPr>
          <p:cNvPr id="244" name="Google Shape;244;p21"/>
          <p:cNvSpPr txBox="1"/>
          <p:nvPr/>
        </p:nvSpPr>
        <p:spPr>
          <a:xfrm>
            <a:off x="3152763"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Staking</a:t>
            </a:r>
            <a:endParaRPr b="1" sz="1000">
              <a:solidFill>
                <a:schemeClr val="dk2"/>
              </a:solidFill>
            </a:endParaRPr>
          </a:p>
        </p:txBody>
      </p:sp>
      <p:sp>
        <p:nvSpPr>
          <p:cNvPr id="245" name="Google Shape;245;p21"/>
          <p:cNvSpPr txBox="1"/>
          <p:nvPr/>
        </p:nvSpPr>
        <p:spPr>
          <a:xfrm>
            <a:off x="6189838" y="4231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API Trading</a:t>
            </a:r>
            <a:endParaRPr b="1" sz="1000">
              <a:solidFill>
                <a:schemeClr val="dk2"/>
              </a:solidFill>
            </a:endParaRPr>
          </a:p>
        </p:txBody>
      </p:sp>
      <p:graphicFrame>
        <p:nvGraphicFramePr>
          <p:cNvPr id="246" name="Google Shape;246;p21"/>
          <p:cNvGraphicFramePr/>
          <p:nvPr/>
        </p:nvGraphicFramePr>
        <p:xfrm>
          <a:off x="125200" y="702488"/>
          <a:ext cx="3000000" cy="3000000"/>
        </p:xfrm>
        <a:graphic>
          <a:graphicData uri="http://schemas.openxmlformats.org/drawingml/2006/table">
            <a:tbl>
              <a:tblPr>
                <a:noFill/>
                <a:tableStyleId>{0287243F-39C1-4460-8421-3307866EDBE6}</a:tableStyleId>
              </a:tblPr>
              <a:tblGrid>
                <a:gridCol w="620450"/>
                <a:gridCol w="620450"/>
                <a:gridCol w="620450"/>
                <a:gridCol w="492400"/>
              </a:tblGrid>
              <a:tr h="226375">
                <a:tc gridSpan="4">
                  <a:txBody>
                    <a:bodyPr/>
                    <a:lstStyle/>
                    <a:p>
                      <a:pPr indent="0" lvl="0" marL="0" rtl="0" algn="ctr">
                        <a:lnSpc>
                          <a:spcPct val="115000"/>
                        </a:lnSpc>
                        <a:spcBef>
                          <a:spcPts val="0"/>
                        </a:spcBef>
                        <a:spcAft>
                          <a:spcPts val="0"/>
                        </a:spcAft>
                        <a:buNone/>
                      </a:pPr>
                      <a:r>
                        <a:rPr b="1" lang="en" sz="600"/>
                        <a:t>DCA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Total DCA Users</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80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193.75%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153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794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418.95%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225.590.892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1.465.181.498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549.48%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1400">
                <a:tc>
                  <a:txBody>
                    <a:bodyPr/>
                    <a:lstStyle/>
                    <a:p>
                      <a:pPr indent="0" lvl="0" marL="0" rtl="0" algn="l">
                        <a:lnSpc>
                          <a:spcPct val="115000"/>
                        </a:lnSpc>
                        <a:spcBef>
                          <a:spcPts val="0"/>
                        </a:spcBef>
                        <a:spcAft>
                          <a:spcPts val="0"/>
                        </a:spcAft>
                        <a:buNone/>
                      </a:pPr>
                      <a:r>
                        <a:rPr lang="en" sz="600"/>
                        <a:t>Avg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50.00%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Avg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2.819.886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6.234.814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121.10%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247" name="Google Shape;247;p21"/>
          <p:cNvGraphicFramePr/>
          <p:nvPr/>
        </p:nvGraphicFramePr>
        <p:xfrm>
          <a:off x="3012450" y="702488"/>
          <a:ext cx="3000000" cy="3000000"/>
        </p:xfrm>
        <a:graphic>
          <a:graphicData uri="http://schemas.openxmlformats.org/drawingml/2006/table">
            <a:tbl>
              <a:tblPr>
                <a:noFill/>
                <a:tableStyleId>{0287243F-39C1-4460-8421-3307866EDBE6}</a:tableStyleId>
              </a:tblPr>
              <a:tblGrid>
                <a:gridCol w="620450"/>
                <a:gridCol w="620450"/>
                <a:gridCol w="670600"/>
                <a:gridCol w="442250"/>
              </a:tblGrid>
              <a:tr h="22637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Emerging</a:t>
                      </a:r>
                      <a:endParaRPr sz="600"/>
                    </a:p>
                    <a:p>
                      <a:pPr indent="0" lvl="0" marL="0" rtl="0" algn="l">
                        <a:lnSpc>
                          <a:spcPct val="115000"/>
                        </a:lnSpc>
                        <a:spcBef>
                          <a:spcPts val="0"/>
                        </a:spcBef>
                        <a:spcAft>
                          <a:spcPts val="0"/>
                        </a:spcAft>
                        <a:buNone/>
                      </a:pPr>
                      <a:r>
                        <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73,292,898,577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134,402,189,769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83.38%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248" name="Google Shape;248;p21"/>
          <p:cNvGraphicFramePr/>
          <p:nvPr/>
        </p:nvGraphicFramePr>
        <p:xfrm>
          <a:off x="6189850" y="702488"/>
          <a:ext cx="3000000" cy="3000000"/>
        </p:xfrm>
        <a:graphic>
          <a:graphicData uri="http://schemas.openxmlformats.org/drawingml/2006/table">
            <a:tbl>
              <a:tblPr>
                <a:noFill/>
                <a:tableStyleId>{0287243F-39C1-4460-8421-3307866EDBE6}</a:tableStyleId>
              </a:tblPr>
              <a:tblGrid>
                <a:gridCol w="700575"/>
                <a:gridCol w="700575"/>
                <a:gridCol w="824250"/>
                <a:gridCol w="432275"/>
              </a:tblGrid>
              <a:tr h="24882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419225">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421900">
                <a:tc>
                  <a:txBody>
                    <a:bodyPr/>
                    <a:lstStyle/>
                    <a:p>
                      <a:pPr indent="0" lvl="0" marL="0" rtl="0" algn="l">
                        <a:lnSpc>
                          <a:spcPct val="115000"/>
                        </a:lnSpc>
                        <a:spcBef>
                          <a:spcPts val="0"/>
                        </a:spcBef>
                        <a:spcAft>
                          <a:spcPts val="0"/>
                        </a:spcAft>
                        <a:buNone/>
                      </a:pPr>
                      <a:r>
                        <a:rPr lang="en" sz="600"/>
                        <a:t>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7,335,293,165,964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15,226,419,355,998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107.58%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14,243,287,701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26,619,614,259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86.89%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4,400,940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7,936,775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80.34%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8,546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13,875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62.37%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9,454,241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7,899,714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-16.44%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249" name="Google Shape;249;p21"/>
          <p:cNvGraphicFramePr/>
          <p:nvPr/>
        </p:nvGraphicFramePr>
        <p:xfrm>
          <a:off x="90800" y="3570850"/>
          <a:ext cx="3000000" cy="3000000"/>
        </p:xfrm>
        <a:graphic>
          <a:graphicData uri="http://schemas.openxmlformats.org/drawingml/2006/table">
            <a:tbl>
              <a:tblPr>
                <a:noFill/>
                <a:tableStyleId>{0287243F-39C1-4460-8421-3307866EDBE6}</a:tableStyleId>
              </a:tblPr>
              <a:tblGrid>
                <a:gridCol w="545150"/>
                <a:gridCol w="545150"/>
                <a:gridCol w="545150"/>
                <a:gridCol w="545150"/>
                <a:gridCol w="545150"/>
                <a:gridCol w="545150"/>
                <a:gridCol w="545150"/>
                <a:gridCol w="545150"/>
                <a:gridCol w="545150"/>
                <a:gridCol w="545150"/>
                <a:gridCol w="545150"/>
                <a:gridCol w="545150"/>
                <a:gridCol w="545150"/>
                <a:gridCol w="545150"/>
                <a:gridCol w="545150"/>
                <a:gridCol w="545150"/>
              </a:tblGrid>
              <a:tr h="200025">
                <a:tc>
                  <a:txBody>
                    <a:bodyPr/>
                    <a:lstStyle/>
                    <a:p>
                      <a:pPr indent="0" lvl="0" marL="0" rtl="0" algn="l">
                        <a:spcBef>
                          <a:spcPts val="0"/>
                        </a:spcBef>
                        <a:spcAft>
                          <a:spcPts val="0"/>
                        </a:spcAft>
                        <a:buNone/>
                      </a:pPr>
                      <a:r>
                        <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700"/>
                        <a:t>Total DCA Freq</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hMerge="1"/>
                <a:tc hMerge="1"/>
                <a:tc gridSpan="3">
                  <a:txBody>
                    <a:bodyPr/>
                    <a:lstStyle/>
                    <a:p>
                      <a:pPr indent="0" lvl="0" marL="0" rtl="0" algn="ctr">
                        <a:lnSpc>
                          <a:spcPct val="115000"/>
                        </a:lnSpc>
                        <a:spcBef>
                          <a:spcPts val="0"/>
                        </a:spcBef>
                        <a:spcAft>
                          <a:spcPts val="0"/>
                        </a:spcAft>
                        <a:buNone/>
                      </a:pPr>
                      <a:r>
                        <a:rPr b="1" lang="en" sz="700"/>
                        <a:t>Total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hMerge="1"/>
                <a:tc hMerge="1"/>
                <a:tc gridSpan="3">
                  <a:txBody>
                    <a:bodyPr/>
                    <a:lstStyle/>
                    <a:p>
                      <a:pPr indent="0" lvl="0" marL="0" rtl="0" algn="ctr">
                        <a:lnSpc>
                          <a:spcPct val="115000"/>
                        </a:lnSpc>
                        <a:spcBef>
                          <a:spcPts val="0"/>
                        </a:spcBef>
                        <a:spcAft>
                          <a:spcPts val="0"/>
                        </a:spcAft>
                        <a:buNone/>
                      </a:pPr>
                      <a:r>
                        <a:rPr b="1" lang="en" sz="700"/>
                        <a:t>Average DCA Frequency</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hMerge="1"/>
                <a:tc hMerge="1"/>
                <a:tc gridSpan="3">
                  <a:txBody>
                    <a:bodyPr/>
                    <a:lstStyle/>
                    <a:p>
                      <a:pPr indent="0" lvl="0" marL="0" rtl="0" algn="ctr">
                        <a:lnSpc>
                          <a:spcPct val="115000"/>
                        </a:lnSpc>
                        <a:spcBef>
                          <a:spcPts val="0"/>
                        </a:spcBef>
                        <a:spcAft>
                          <a:spcPts val="0"/>
                        </a:spcAft>
                        <a:buNone/>
                      </a:pPr>
                      <a:r>
                        <a:rPr b="1" lang="en" sz="700"/>
                        <a:t>Average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hMerge="1"/>
                <a:tc hMerge="1"/>
              </a:tr>
              <a:tr h="200025">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284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-28.87%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826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524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-36.56%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1,031,653,891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748,158,300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-27.48%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-33.33%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3,632,584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3,703,754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-28.05%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46.27%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147,402,000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516,790,200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250.60%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1,797,585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8,759,156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387.27%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20.97%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81,537,000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200,232,998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145.57%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2,548,031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8,343,042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227.43%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graphicFrame>
        <p:nvGraphicFramePr>
          <p:cNvPr id="250" name="Google Shape;250;p21"/>
          <p:cNvGraphicFramePr/>
          <p:nvPr/>
        </p:nvGraphicFramePr>
        <p:xfrm>
          <a:off x="2586200" y="1792450"/>
          <a:ext cx="3000000" cy="3000000"/>
        </p:xfrm>
        <a:graphic>
          <a:graphicData uri="http://schemas.openxmlformats.org/drawingml/2006/table">
            <a:tbl>
              <a:tblPr>
                <a:noFill/>
                <a:tableStyleId>{0287243F-39C1-4460-8421-3307866EDBE6}</a:tableStyleId>
              </a:tblPr>
              <a:tblGrid>
                <a:gridCol w="484425"/>
                <a:gridCol w="484425"/>
                <a:gridCol w="484425"/>
                <a:gridCol w="484425"/>
                <a:gridCol w="484425"/>
                <a:gridCol w="484425"/>
                <a:gridCol w="484425"/>
              </a:tblGrid>
              <a:tr h="332050">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DCA Amount</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hMerge="1"/>
                <a:tc gridSpan="2">
                  <a:txBody>
                    <a:bodyPr/>
                    <a:lstStyle/>
                    <a:p>
                      <a:pPr indent="0" lvl="0" marL="0" rtl="0" algn="ctr">
                        <a:lnSpc>
                          <a:spcPct val="115000"/>
                        </a:lnSpc>
                        <a:spcBef>
                          <a:spcPts val="0"/>
                        </a:spcBef>
                        <a:spcAft>
                          <a:spcPts val="0"/>
                        </a:spcAft>
                        <a:buNone/>
                      </a:pPr>
                      <a:r>
                        <a:rPr b="1" lang="en" sz="700"/>
                        <a:t>DCA Freq</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hMerge="1"/>
              </a:tr>
              <a:tr h="33205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r>
              <a:tr h="332050">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71.36%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70.88%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81.84%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51.06%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80.82%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65.91%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205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20.60%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11.69%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35.27%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13.11%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24.65%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205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8.04%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8.42%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6.07%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9.43%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254" name="Shape 254"/>
        <p:cNvGrpSpPr/>
        <p:nvPr/>
      </p:nvGrpSpPr>
      <p:grpSpPr>
        <a:xfrm>
          <a:off x="0" y="0"/>
          <a:ext cx="0" cy="0"/>
          <a:chOff x="0" y="0"/>
          <a:chExt cx="0" cy="0"/>
        </a:xfrm>
      </p:grpSpPr>
      <p:sp>
        <p:nvSpPr>
          <p:cNvPr id="255" name="Google Shape;255;p22"/>
          <p:cNvSpPr txBox="1"/>
          <p:nvPr>
            <p:ph type="title"/>
          </p:nvPr>
        </p:nvSpPr>
        <p:spPr>
          <a:xfrm>
            <a:off x="157625" y="1182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Persona Name: </a:t>
            </a:r>
            <a:r>
              <a:rPr b="1" lang="en" sz="1800">
                <a:solidFill>
                  <a:srgbClr val="0084B5"/>
                </a:solidFill>
                <a:latin typeface="Montserrat"/>
                <a:ea typeface="Montserrat"/>
                <a:cs typeface="Montserrat"/>
                <a:sym typeface="Montserrat"/>
              </a:rPr>
              <a:t>The</a:t>
            </a:r>
            <a:r>
              <a:rPr b="1" lang="en" sz="1800">
                <a:solidFill>
                  <a:srgbClr val="0084B5"/>
                </a:solidFill>
                <a:latin typeface="Montserrat"/>
                <a:ea typeface="Montserrat"/>
                <a:cs typeface="Montserrat"/>
                <a:sym typeface="Montserrat"/>
              </a:rPr>
              <a:t> Visioner</a:t>
            </a:r>
            <a:endParaRPr b="1" sz="1800">
              <a:solidFill>
                <a:srgbClr val="0084B5"/>
              </a:solidFill>
              <a:latin typeface="Montserrat"/>
              <a:ea typeface="Montserrat"/>
              <a:cs typeface="Montserrat"/>
              <a:sym typeface="Montserrat"/>
            </a:endParaRPr>
          </a:p>
        </p:txBody>
      </p:sp>
      <p:sp>
        <p:nvSpPr>
          <p:cNvPr id="256" name="Google Shape;256;p22"/>
          <p:cNvSpPr txBox="1"/>
          <p:nvPr>
            <p:ph type="title"/>
          </p:nvPr>
        </p:nvSpPr>
        <p:spPr>
          <a:xfrm>
            <a:off x="113475" y="503138"/>
            <a:ext cx="29322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Demographic Information</a:t>
            </a:r>
            <a:endParaRPr b="1" sz="1200">
              <a:solidFill>
                <a:srgbClr val="0084B5"/>
              </a:solidFill>
              <a:latin typeface="Montserrat"/>
              <a:ea typeface="Montserrat"/>
              <a:cs typeface="Montserrat"/>
              <a:sym typeface="Montserrat"/>
            </a:endParaRPr>
          </a:p>
        </p:txBody>
      </p:sp>
      <p:sp>
        <p:nvSpPr>
          <p:cNvPr id="257" name="Google Shape;257;p22"/>
          <p:cNvSpPr txBox="1"/>
          <p:nvPr>
            <p:ph type="title"/>
          </p:nvPr>
        </p:nvSpPr>
        <p:spPr>
          <a:xfrm>
            <a:off x="4623500" y="461088"/>
            <a:ext cx="1175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Background</a:t>
            </a:r>
            <a:endParaRPr b="1" sz="1200">
              <a:solidFill>
                <a:srgbClr val="0084B5"/>
              </a:solidFill>
              <a:latin typeface="Montserrat"/>
              <a:ea typeface="Montserrat"/>
              <a:cs typeface="Montserrat"/>
              <a:sym typeface="Montserrat"/>
            </a:endParaRPr>
          </a:p>
        </p:txBody>
      </p:sp>
      <p:sp>
        <p:nvSpPr>
          <p:cNvPr id="258" name="Google Shape;258;p22"/>
          <p:cNvSpPr txBox="1"/>
          <p:nvPr>
            <p:ph type="title"/>
          </p:nvPr>
        </p:nvSpPr>
        <p:spPr>
          <a:xfrm>
            <a:off x="60800" y="3559138"/>
            <a:ext cx="1943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Needs &amp; Expectation</a:t>
            </a:r>
            <a:endParaRPr b="1" sz="1200">
              <a:solidFill>
                <a:srgbClr val="0084B5"/>
              </a:solidFill>
              <a:latin typeface="Montserrat"/>
              <a:ea typeface="Montserrat"/>
              <a:cs typeface="Montserrat"/>
              <a:sym typeface="Montserrat"/>
            </a:endParaRPr>
          </a:p>
        </p:txBody>
      </p:sp>
      <p:sp>
        <p:nvSpPr>
          <p:cNvPr id="259" name="Google Shape;259;p22"/>
          <p:cNvSpPr txBox="1"/>
          <p:nvPr>
            <p:ph type="title"/>
          </p:nvPr>
        </p:nvSpPr>
        <p:spPr>
          <a:xfrm>
            <a:off x="4572000" y="2522500"/>
            <a:ext cx="2550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Challenge &amp; Pain Points</a:t>
            </a:r>
            <a:endParaRPr b="1" sz="1200">
              <a:solidFill>
                <a:srgbClr val="0084B5"/>
              </a:solidFill>
              <a:latin typeface="Montserrat"/>
              <a:ea typeface="Montserrat"/>
              <a:cs typeface="Montserrat"/>
              <a:sym typeface="Montserrat"/>
            </a:endParaRPr>
          </a:p>
        </p:txBody>
      </p:sp>
      <p:sp>
        <p:nvSpPr>
          <p:cNvPr id="260" name="Google Shape;260;p22"/>
          <p:cNvSpPr txBox="1"/>
          <p:nvPr>
            <p:ph type="title"/>
          </p:nvPr>
        </p:nvSpPr>
        <p:spPr>
          <a:xfrm>
            <a:off x="74950" y="2440150"/>
            <a:ext cx="2517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Motivation, Interest &amp; Goals</a:t>
            </a:r>
            <a:endParaRPr b="1" sz="1200">
              <a:solidFill>
                <a:srgbClr val="0084B5"/>
              </a:solidFill>
              <a:latin typeface="Montserrat"/>
              <a:ea typeface="Montserrat"/>
              <a:cs typeface="Montserrat"/>
              <a:sym typeface="Montserrat"/>
            </a:endParaRPr>
          </a:p>
        </p:txBody>
      </p:sp>
      <p:sp>
        <p:nvSpPr>
          <p:cNvPr id="261" name="Google Shape;261;p22"/>
          <p:cNvSpPr txBox="1"/>
          <p:nvPr/>
        </p:nvSpPr>
        <p:spPr>
          <a:xfrm>
            <a:off x="4623500" y="729150"/>
            <a:ext cx="4520400" cy="1842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 semi </a:t>
            </a:r>
            <a:r>
              <a:rPr b="1" lang="en" sz="1000">
                <a:solidFill>
                  <a:schemeClr val="dk1"/>
                </a:solidFill>
                <a:latin typeface="Montserrat"/>
                <a:ea typeface="Montserrat"/>
                <a:cs typeface="Montserrat"/>
                <a:sym typeface="Montserrat"/>
              </a:rPr>
              <a:t>pragmatic, </a:t>
            </a:r>
            <a:r>
              <a:rPr b="1" lang="en" sz="1000">
                <a:solidFill>
                  <a:schemeClr val="dk1"/>
                </a:solidFill>
                <a:latin typeface="Montserrat"/>
                <a:ea typeface="Montserrat"/>
                <a:cs typeface="Montserrat"/>
                <a:sym typeface="Montserrat"/>
              </a:rPr>
              <a:t>realistic  and ambitious worker</a:t>
            </a:r>
            <a:r>
              <a:rPr lang="en" sz="1000">
                <a:solidFill>
                  <a:schemeClr val="dk1"/>
                </a:solidFill>
                <a:latin typeface="Montserrat"/>
                <a:ea typeface="Montserrat"/>
                <a:cs typeface="Montserrat"/>
                <a:sym typeface="Montserrat"/>
              </a:rPr>
              <a:t> they are goal driven and detail oriented as a middle management, which mostly handling new employee. Willing to go extra mile to achieve their goal,Know the sense of possible trade-off needed that they need to know what their doing.</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1"/>
                </a:solidFill>
                <a:latin typeface="Montserrat"/>
                <a:ea typeface="Montserrat"/>
                <a:cs typeface="Montserrat"/>
                <a:sym typeface="Montserrat"/>
              </a:rPr>
              <a:t>As a </a:t>
            </a:r>
            <a:r>
              <a:rPr b="1" lang="en" sz="1000">
                <a:solidFill>
                  <a:schemeClr val="dk1"/>
                </a:solidFill>
                <a:latin typeface="Montserrat"/>
                <a:ea typeface="Montserrat"/>
                <a:cs typeface="Montserrat"/>
                <a:sym typeface="Montserrat"/>
              </a:rPr>
              <a:t>middle management </a:t>
            </a:r>
            <a:r>
              <a:rPr lang="en" sz="1000">
                <a:solidFill>
                  <a:schemeClr val="dk1"/>
                </a:solidFill>
                <a:latin typeface="Montserrat"/>
                <a:ea typeface="Montserrat"/>
                <a:cs typeface="Montserrat"/>
                <a:sym typeface="Montserrat"/>
              </a:rPr>
              <a:t>most of the time they are not envision </a:t>
            </a:r>
            <a:r>
              <a:rPr lang="en" sz="1000">
                <a:solidFill>
                  <a:schemeClr val="dk1"/>
                </a:solidFill>
                <a:latin typeface="Montserrat"/>
                <a:ea typeface="Montserrat"/>
                <a:cs typeface="Montserrat"/>
                <a:sym typeface="Montserrat"/>
              </a:rPr>
              <a:t>what's</a:t>
            </a:r>
            <a:r>
              <a:rPr lang="en" sz="1000">
                <a:solidFill>
                  <a:schemeClr val="dk1"/>
                </a:solidFill>
                <a:latin typeface="Montserrat"/>
                <a:ea typeface="Montserrat"/>
                <a:cs typeface="Montserrat"/>
                <a:sym typeface="Montserrat"/>
              </a:rPr>
              <a:t> come and </a:t>
            </a:r>
            <a:r>
              <a:rPr b="1" lang="en" sz="1000">
                <a:solidFill>
                  <a:schemeClr val="dk1"/>
                </a:solidFill>
                <a:latin typeface="Montserrat"/>
                <a:ea typeface="Montserrat"/>
                <a:cs typeface="Montserrat"/>
                <a:sym typeface="Montserrat"/>
              </a:rPr>
              <a:t>focus on current task with detail deliverables</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Making sure there peers doing well in their task and submit it to higher management with objectives on getting Approval to go (bit narrow POV compared to The manager/previous segment)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2"/>
              </a:solidFill>
            </a:endParaRPr>
          </a:p>
        </p:txBody>
      </p:sp>
      <p:sp>
        <p:nvSpPr>
          <p:cNvPr id="262" name="Google Shape;262;p22"/>
          <p:cNvSpPr txBox="1"/>
          <p:nvPr/>
        </p:nvSpPr>
        <p:spPr>
          <a:xfrm>
            <a:off x="113475" y="2783050"/>
            <a:ext cx="4400100" cy="646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Interest in </a:t>
            </a:r>
            <a:r>
              <a:rPr b="1" lang="en" sz="1000">
                <a:solidFill>
                  <a:schemeClr val="dk1"/>
                </a:solidFill>
                <a:latin typeface="Montserrat"/>
                <a:ea typeface="Montserrat"/>
                <a:cs typeface="Montserrat"/>
                <a:sym typeface="Montserrat"/>
              </a:rPr>
              <a:t>wealth accumulation</a:t>
            </a:r>
            <a:endParaRPr b="1"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Experience continual learning</a:t>
            </a:r>
            <a:r>
              <a:rPr lang="en" sz="1000">
                <a:solidFill>
                  <a:schemeClr val="dk1"/>
                </a:solidFill>
                <a:latin typeface="Montserrat"/>
                <a:ea typeface="Montserrat"/>
                <a:cs typeface="Montserrat"/>
                <a:sym typeface="Montserrat"/>
              </a:rPr>
              <a:t> for Multiple financial vehicles </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Financial security</a:t>
            </a:r>
            <a:r>
              <a:rPr lang="en" sz="1000">
                <a:solidFill>
                  <a:schemeClr val="dk1"/>
                </a:solidFill>
                <a:latin typeface="Montserrat"/>
                <a:ea typeface="Montserrat"/>
                <a:cs typeface="Montserrat"/>
                <a:sym typeface="Montserrat"/>
              </a:rPr>
              <a:t>, driven by desire for financial independence</a:t>
            </a:r>
            <a:endParaRPr b="1" sz="1000">
              <a:solidFill>
                <a:schemeClr val="dk1"/>
              </a:solidFill>
              <a:latin typeface="Montserrat"/>
              <a:ea typeface="Montserrat"/>
              <a:cs typeface="Montserrat"/>
              <a:sym typeface="Montserrat"/>
            </a:endParaRPr>
          </a:p>
        </p:txBody>
      </p:sp>
      <p:sp>
        <p:nvSpPr>
          <p:cNvPr id="263" name="Google Shape;263;p22"/>
          <p:cNvSpPr txBox="1"/>
          <p:nvPr/>
        </p:nvSpPr>
        <p:spPr>
          <a:xfrm>
            <a:off x="97575" y="3902050"/>
            <a:ext cx="8985600" cy="110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14300" lvl="0" marL="171450" rtl="0" algn="l">
              <a:spcBef>
                <a:spcPts val="0"/>
              </a:spcBef>
              <a:spcAft>
                <a:spcPts val="0"/>
              </a:spcAft>
              <a:buClr>
                <a:schemeClr val="dk1"/>
              </a:buClr>
              <a:buSzPts val="900"/>
              <a:buFont typeface="Montserrat"/>
              <a:buChar char="●"/>
            </a:pPr>
            <a:r>
              <a:rPr lang="en" sz="1000">
                <a:solidFill>
                  <a:schemeClr val="dk1"/>
                </a:solidFill>
                <a:latin typeface="Montserrat"/>
                <a:ea typeface="Montserrat"/>
                <a:cs typeface="Montserrat"/>
                <a:sym typeface="Montserrat"/>
              </a:rPr>
              <a:t>Continual Learner</a:t>
            </a:r>
            <a:r>
              <a:rPr b="1" lang="en" sz="1000">
                <a:solidFill>
                  <a:schemeClr val="dk1"/>
                </a:solidFill>
                <a:latin typeface="Montserrat"/>
                <a:ea typeface="Montserrat"/>
                <a:cs typeface="Montserrat"/>
                <a:sym typeface="Montserrat"/>
              </a:rPr>
              <a:t> takes every opportunity to educate herself on investment strategies</a:t>
            </a:r>
            <a:r>
              <a:rPr lang="en" sz="1000">
                <a:solidFill>
                  <a:schemeClr val="dk1"/>
                </a:solidFill>
                <a:latin typeface="Montserrat"/>
                <a:ea typeface="Montserrat"/>
                <a:cs typeface="Montserrat"/>
                <a:sym typeface="Montserrat"/>
              </a:rPr>
              <a:t>, attending webinars and reading financial blogs just to make sure they know what they doing.</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Char char="●"/>
            </a:pPr>
            <a:r>
              <a:rPr b="1" lang="en" sz="1000">
                <a:solidFill>
                  <a:schemeClr val="dk1"/>
                </a:solidFill>
                <a:latin typeface="Montserrat"/>
                <a:ea typeface="Montserrat"/>
                <a:cs typeface="Montserrat"/>
                <a:sym typeface="Montserrat"/>
              </a:rPr>
              <a:t>Monitoring Frequency</a:t>
            </a:r>
            <a:r>
              <a:rPr lang="en" sz="1000">
                <a:solidFill>
                  <a:schemeClr val="dk1"/>
                </a:solidFill>
                <a:latin typeface="Montserrat"/>
                <a:ea typeface="Montserrat"/>
                <a:cs typeface="Montserrat"/>
                <a:sym typeface="Montserrat"/>
              </a:rPr>
              <a:t> on their multiple investment asset is </a:t>
            </a:r>
            <a:r>
              <a:rPr lang="en" sz="1000">
                <a:solidFill>
                  <a:schemeClr val="dk1"/>
                </a:solidFill>
                <a:latin typeface="Montserrat"/>
                <a:ea typeface="Montserrat"/>
                <a:cs typeface="Montserrat"/>
                <a:sym typeface="Montserrat"/>
              </a:rPr>
              <a:t>probably</a:t>
            </a:r>
            <a:r>
              <a:rPr lang="en" sz="1000">
                <a:solidFill>
                  <a:schemeClr val="dk1"/>
                </a:solidFill>
                <a:latin typeface="Montserrat"/>
                <a:ea typeface="Montserrat"/>
                <a:cs typeface="Montserrat"/>
                <a:sym typeface="Montserrat"/>
              </a:rPr>
              <a:t> higher compared to those common people who are just following the trend since they want to experience everything due to wealth accumulation and financial </a:t>
            </a:r>
            <a:r>
              <a:rPr lang="en" sz="1000">
                <a:solidFill>
                  <a:schemeClr val="dk1"/>
                </a:solidFill>
                <a:latin typeface="Montserrat"/>
                <a:ea typeface="Montserrat"/>
                <a:cs typeface="Montserrat"/>
                <a:sym typeface="Montserrat"/>
              </a:rPr>
              <a:t>security</a:t>
            </a:r>
            <a:r>
              <a:rPr lang="en" sz="1000">
                <a:solidFill>
                  <a:schemeClr val="dk1"/>
                </a:solidFill>
                <a:latin typeface="Montserrat"/>
                <a:ea typeface="Montserrat"/>
                <a:cs typeface="Montserrat"/>
                <a:sym typeface="Montserrat"/>
              </a:rPr>
              <a:t> goals </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Pragmatic Risk-Taker</a:t>
            </a:r>
            <a:r>
              <a:rPr lang="en" sz="1000">
                <a:solidFill>
                  <a:schemeClr val="dk1"/>
                </a:solidFill>
                <a:latin typeface="Montserrat"/>
                <a:ea typeface="Montserrat"/>
                <a:cs typeface="Montserrat"/>
                <a:sym typeface="Montserrat"/>
              </a:rPr>
              <a:t>, individual who are intrigued by the potential gains but remains cautious. doesn’t go “all in” but instead makes incremental investments</a:t>
            </a:r>
            <a:endParaRPr sz="1000">
              <a:solidFill>
                <a:schemeClr val="dk1"/>
              </a:solidFill>
              <a:latin typeface="Montserrat"/>
              <a:ea typeface="Montserrat"/>
              <a:cs typeface="Montserrat"/>
              <a:sym typeface="Montserrat"/>
            </a:endParaRPr>
          </a:p>
        </p:txBody>
      </p:sp>
      <p:sp>
        <p:nvSpPr>
          <p:cNvPr id="264" name="Google Shape;264;p22"/>
          <p:cNvSpPr txBox="1"/>
          <p:nvPr/>
        </p:nvSpPr>
        <p:spPr>
          <a:xfrm>
            <a:off x="4623500" y="2865400"/>
            <a:ext cx="4400100" cy="95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As a </a:t>
            </a:r>
            <a:r>
              <a:rPr b="1" lang="en" sz="1000">
                <a:solidFill>
                  <a:schemeClr val="dk1"/>
                </a:solidFill>
                <a:latin typeface="Montserrat"/>
                <a:ea typeface="Montserrat"/>
                <a:cs typeface="Montserrat"/>
                <a:sym typeface="Montserrat"/>
              </a:rPr>
              <a:t>Wealth accumulation</a:t>
            </a:r>
            <a:r>
              <a:rPr lang="en" sz="1000">
                <a:solidFill>
                  <a:schemeClr val="dk1"/>
                </a:solidFill>
                <a:latin typeface="Montserrat"/>
                <a:ea typeface="Montserrat"/>
                <a:cs typeface="Montserrat"/>
                <a:sym typeface="Montserrat"/>
              </a:rPr>
              <a:t> age group they N</a:t>
            </a:r>
            <a:r>
              <a:rPr lang="en" sz="1000">
                <a:solidFill>
                  <a:schemeClr val="dk1"/>
                </a:solidFill>
                <a:latin typeface="Montserrat"/>
                <a:ea typeface="Montserrat"/>
                <a:cs typeface="Montserrat"/>
                <a:sym typeface="Montserrat"/>
              </a:rPr>
              <a:t>eeds </a:t>
            </a:r>
            <a:r>
              <a:rPr lang="en" sz="1000">
                <a:solidFill>
                  <a:schemeClr val="dk1"/>
                </a:solidFill>
                <a:latin typeface="Montserrat"/>
                <a:ea typeface="Montserrat"/>
                <a:cs typeface="Montserrat"/>
                <a:sym typeface="Montserrat"/>
              </a:rPr>
              <a:t>reliable /</a:t>
            </a:r>
            <a:r>
              <a:rPr lang="en" sz="1000">
                <a:solidFill>
                  <a:schemeClr val="dk1"/>
                </a:solidFill>
                <a:latin typeface="Montserrat"/>
                <a:ea typeface="Montserrat"/>
                <a:cs typeface="Montserrat"/>
                <a:sym typeface="Montserrat"/>
              </a:rPr>
              <a:t>trusted app and services to do so (fee &amp; extra mi</a:t>
            </a:r>
            <a:r>
              <a:rPr lang="en" sz="1000">
                <a:solidFill>
                  <a:schemeClr val="dk1"/>
                </a:solidFill>
                <a:latin typeface="Montserrat"/>
                <a:ea typeface="Montserrat"/>
                <a:cs typeface="Montserrat"/>
                <a:sym typeface="Montserrat"/>
              </a:rPr>
              <a:t>le </a:t>
            </a:r>
            <a:r>
              <a:rPr lang="en" sz="1000">
                <a:solidFill>
                  <a:schemeClr val="dk1"/>
                </a:solidFill>
                <a:latin typeface="Montserrat"/>
                <a:ea typeface="Montserrat"/>
                <a:cs typeface="Montserrat"/>
                <a:sym typeface="Montserrat"/>
              </a:rPr>
              <a:t>is not an issue)</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Unstable Emotion </a:t>
            </a:r>
            <a:r>
              <a:rPr lang="en" sz="1000">
                <a:solidFill>
                  <a:schemeClr val="dk1"/>
                </a:solidFill>
                <a:latin typeface="Montserrat"/>
                <a:ea typeface="Montserrat"/>
                <a:cs typeface="Montserrat"/>
                <a:sym typeface="Montserrat"/>
              </a:rPr>
              <a:t>within exploring financial </a:t>
            </a:r>
            <a:r>
              <a:rPr lang="en" sz="1000">
                <a:solidFill>
                  <a:schemeClr val="dk1"/>
                </a:solidFill>
                <a:latin typeface="Montserrat"/>
                <a:ea typeface="Montserrat"/>
                <a:cs typeface="Montserrat"/>
                <a:sym typeface="Montserrat"/>
              </a:rPr>
              <a:t>vehicles</a:t>
            </a:r>
            <a:r>
              <a:rPr lang="en" sz="1000">
                <a:solidFill>
                  <a:schemeClr val="dk1"/>
                </a:solidFill>
                <a:latin typeface="Montserrat"/>
                <a:ea typeface="Montserrat"/>
                <a:cs typeface="Montserrat"/>
                <a:sym typeface="Montserrat"/>
              </a:rPr>
              <a:t> activities (due to inexperience and willingness to learn from it)</a:t>
            </a:r>
            <a:endParaRPr sz="1000">
              <a:solidFill>
                <a:schemeClr val="dk1"/>
              </a:solidFill>
              <a:latin typeface="Montserrat"/>
              <a:ea typeface="Montserrat"/>
              <a:cs typeface="Montserrat"/>
              <a:sym typeface="Montserrat"/>
            </a:endParaRPr>
          </a:p>
        </p:txBody>
      </p:sp>
      <p:sp>
        <p:nvSpPr>
          <p:cNvPr id="265" name="Google Shape;265;p22"/>
          <p:cNvSpPr txBox="1"/>
          <p:nvPr/>
        </p:nvSpPr>
        <p:spPr>
          <a:xfrm>
            <a:off x="113475" y="801900"/>
            <a:ext cx="4437000" cy="156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Age</a:t>
            </a:r>
            <a:r>
              <a:rPr lang="en" sz="1000">
                <a:solidFill>
                  <a:schemeClr val="dk1"/>
                </a:solidFill>
                <a:latin typeface="Montserrat"/>
                <a:ea typeface="Montserrat"/>
                <a:cs typeface="Montserrat"/>
                <a:sym typeface="Montserrat"/>
              </a:rPr>
              <a:t>: 30 years old (fits within the dominant </a:t>
            </a:r>
            <a:r>
              <a:rPr b="1" lang="en" sz="1000">
                <a:solidFill>
                  <a:schemeClr val="dk1"/>
                </a:solidFill>
                <a:latin typeface="Montserrat"/>
                <a:ea typeface="Montserrat"/>
                <a:cs typeface="Montserrat"/>
                <a:sym typeface="Montserrat"/>
              </a:rPr>
              <a:t>26</a:t>
            </a:r>
            <a:r>
              <a:rPr b="1" lang="en" sz="1000">
                <a:solidFill>
                  <a:schemeClr val="dk1"/>
                </a:solidFill>
                <a:latin typeface="Montserrat"/>
                <a:ea typeface="Montserrat"/>
                <a:cs typeface="Montserrat"/>
                <a:sym typeface="Montserrat"/>
              </a:rPr>
              <a:t>-35 age group</a:t>
            </a:r>
            <a:r>
              <a:rPr lang="en" sz="1000">
                <a:solidFill>
                  <a:schemeClr val="dk1"/>
                </a:solidFill>
                <a:latin typeface="Montserrat"/>
                <a:ea typeface="Montserrat"/>
                <a:cs typeface="Montserrat"/>
                <a:sym typeface="Montserrat"/>
              </a:rPr>
              <a:t>) from highest growth and small difference in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Gender</a:t>
            </a:r>
            <a:r>
              <a:rPr lang="en" sz="1000">
                <a:solidFill>
                  <a:schemeClr val="dk1"/>
                </a:solidFill>
                <a:latin typeface="Montserrat"/>
                <a:ea typeface="Montserrat"/>
                <a:cs typeface="Montserrat"/>
                <a:sym typeface="Montserrat"/>
              </a:rPr>
              <a:t>: Male (reflecting the </a:t>
            </a:r>
            <a:r>
              <a:rPr b="1" lang="en" sz="1000">
                <a:solidFill>
                  <a:schemeClr val="dk1"/>
                </a:solidFill>
                <a:latin typeface="Montserrat"/>
                <a:ea typeface="Montserrat"/>
                <a:cs typeface="Montserrat"/>
                <a:sym typeface="Montserrat"/>
              </a:rPr>
              <a:t>88.43% male dominance</a:t>
            </a:r>
            <a:r>
              <a:rPr lang="en" sz="1000">
                <a:solidFill>
                  <a:schemeClr val="dk1"/>
                </a:solidFill>
                <a:latin typeface="Montserrat"/>
                <a:ea typeface="Montserrat"/>
                <a:cs typeface="Montserrat"/>
                <a:sym typeface="Montserrat"/>
              </a:rPr>
              <a:t> in this segment).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Location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Bandung, Bekasi and Depok</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Occupation</a:t>
            </a:r>
            <a:r>
              <a:rPr lang="en" sz="1000">
                <a:solidFill>
                  <a:schemeClr val="dk1"/>
                </a:solidFill>
                <a:latin typeface="Montserrat"/>
                <a:ea typeface="Montserrat"/>
                <a:cs typeface="Montserrat"/>
                <a:sym typeface="Montserrat"/>
              </a:rPr>
              <a:t>: Small Business owner or Managerial level in company located in Jakarta</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Income Level</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middle class to upper-middle net-worth individual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1"/>
                </a:solidFill>
                <a:latin typeface="Montserrat"/>
                <a:ea typeface="Montserrat"/>
                <a:cs typeface="Montserrat"/>
                <a:sym typeface="Montserrat"/>
              </a:rPr>
              <a:t> (IDR 30 Mio/month)</a:t>
            </a:r>
            <a:endParaRPr sz="1000">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9" name="Shape 269"/>
        <p:cNvGrpSpPr/>
        <p:nvPr/>
      </p:nvGrpSpPr>
      <p:grpSpPr>
        <a:xfrm>
          <a:off x="0" y="0"/>
          <a:ext cx="0" cy="0"/>
          <a:chOff x="0" y="0"/>
          <a:chExt cx="0" cy="0"/>
        </a:xfrm>
      </p:grpSpPr>
      <p:sp>
        <p:nvSpPr>
          <p:cNvPr id="270" name="Google Shape;270;p23"/>
          <p:cNvSpPr txBox="1"/>
          <p:nvPr>
            <p:ph type="title"/>
          </p:nvPr>
        </p:nvSpPr>
        <p:spPr>
          <a:xfrm>
            <a:off x="304800" y="44625"/>
            <a:ext cx="4748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rgbClr val="0084B5"/>
                </a:solidFill>
                <a:latin typeface="Montserrat"/>
                <a:ea typeface="Montserrat"/>
                <a:cs typeface="Montserrat"/>
                <a:sym typeface="Montserrat"/>
              </a:rPr>
              <a:t>Common User 2023 vs Common User 2024</a:t>
            </a:r>
            <a:endParaRPr b="1" sz="1600">
              <a:solidFill>
                <a:srgbClr val="0084B5"/>
              </a:solidFill>
              <a:latin typeface="Montserrat"/>
              <a:ea typeface="Montserrat"/>
              <a:cs typeface="Montserrat"/>
              <a:sym typeface="Montserrat"/>
            </a:endParaRPr>
          </a:p>
        </p:txBody>
      </p:sp>
      <p:pic>
        <p:nvPicPr>
          <p:cNvPr id="271" name="Google Shape;271;p23"/>
          <p:cNvPicPr preferRelativeResize="0"/>
          <p:nvPr/>
        </p:nvPicPr>
        <p:blipFill rotWithShape="1">
          <a:blip r:embed="rId4">
            <a:alphaModFix/>
          </a:blip>
          <a:srcRect b="0" l="1390" r="1390" t="0"/>
          <a:stretch/>
        </p:blipFill>
        <p:spPr>
          <a:xfrm>
            <a:off x="389225" y="636200"/>
            <a:ext cx="1681325" cy="1120877"/>
          </a:xfrm>
          <a:prstGeom prst="rect">
            <a:avLst/>
          </a:prstGeom>
          <a:noFill/>
          <a:ln>
            <a:noFill/>
          </a:ln>
        </p:spPr>
      </p:pic>
      <p:sp>
        <p:nvSpPr>
          <p:cNvPr id="272" name="Google Shape;272;p23"/>
          <p:cNvSpPr txBox="1"/>
          <p:nvPr/>
        </p:nvSpPr>
        <p:spPr>
          <a:xfrm>
            <a:off x="2975650" y="7121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2023 Common User : 71,211 Traders</a:t>
            </a:r>
            <a:endParaRPr b="1" sz="1000">
              <a:solidFill>
                <a:schemeClr val="dk2"/>
              </a:solidFill>
            </a:endParaRPr>
          </a:p>
        </p:txBody>
      </p:sp>
      <p:sp>
        <p:nvSpPr>
          <p:cNvPr id="273" name="Google Shape;273;p23"/>
          <p:cNvSpPr txBox="1"/>
          <p:nvPr/>
        </p:nvSpPr>
        <p:spPr>
          <a:xfrm>
            <a:off x="3021125" y="14143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2024 Common User : 128,491 Traders</a:t>
            </a:r>
            <a:endParaRPr b="1" sz="1000">
              <a:solidFill>
                <a:schemeClr val="dk2"/>
              </a:solidFill>
            </a:endParaRPr>
          </a:p>
        </p:txBody>
      </p:sp>
      <p:sp>
        <p:nvSpPr>
          <p:cNvPr id="274" name="Google Shape;274;p23"/>
          <p:cNvSpPr txBox="1"/>
          <p:nvPr/>
        </p:nvSpPr>
        <p:spPr>
          <a:xfrm>
            <a:off x="3679750" y="1008650"/>
            <a:ext cx="11205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⬆80,43%</a:t>
            </a:r>
            <a:endParaRPr b="1" sz="1600">
              <a:solidFill>
                <a:srgbClr val="6AA84F"/>
              </a:solidFill>
            </a:endParaRPr>
          </a:p>
        </p:txBody>
      </p:sp>
      <p:sp>
        <p:nvSpPr>
          <p:cNvPr id="275" name="Google Shape;275;p23"/>
          <p:cNvSpPr txBox="1"/>
          <p:nvPr/>
        </p:nvSpPr>
        <p:spPr>
          <a:xfrm>
            <a:off x="371738" y="3854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Karyawan Swasta </a:t>
            </a:r>
            <a:endParaRPr b="1" sz="1000">
              <a:solidFill>
                <a:schemeClr val="dk2"/>
              </a:solidFill>
            </a:endParaRPr>
          </a:p>
        </p:txBody>
      </p:sp>
      <p:sp>
        <p:nvSpPr>
          <p:cNvPr id="276" name="Google Shape;276;p23"/>
          <p:cNvSpPr txBox="1"/>
          <p:nvPr/>
        </p:nvSpPr>
        <p:spPr>
          <a:xfrm>
            <a:off x="2914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Common Traders Age Group 2023 &amp; 2024</a:t>
            </a:r>
            <a:endParaRPr b="1" sz="1000">
              <a:solidFill>
                <a:schemeClr val="dk2"/>
              </a:solidFill>
            </a:endParaRPr>
          </a:p>
        </p:txBody>
      </p:sp>
      <p:sp>
        <p:nvSpPr>
          <p:cNvPr id="277" name="Google Shape;277;p23"/>
          <p:cNvSpPr txBox="1"/>
          <p:nvPr/>
        </p:nvSpPr>
        <p:spPr>
          <a:xfrm>
            <a:off x="304800" y="3063200"/>
            <a:ext cx="27537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Age group of </a:t>
            </a:r>
            <a:r>
              <a:rPr lang="en" sz="900">
                <a:solidFill>
                  <a:schemeClr val="dk2"/>
                </a:solidFill>
              </a:rPr>
              <a:t>26</a:t>
            </a:r>
            <a:r>
              <a:rPr lang="en" sz="900">
                <a:solidFill>
                  <a:schemeClr val="dk2"/>
                </a:solidFill>
              </a:rPr>
              <a:t>-</a:t>
            </a:r>
            <a:r>
              <a:rPr lang="en" sz="900">
                <a:solidFill>
                  <a:schemeClr val="dk2"/>
                </a:solidFill>
              </a:rPr>
              <a:t>3</a:t>
            </a:r>
            <a:r>
              <a:rPr lang="en" sz="900">
                <a:solidFill>
                  <a:schemeClr val="dk2"/>
                </a:solidFill>
              </a:rPr>
              <a:t>5 &amp; </a:t>
            </a:r>
            <a:r>
              <a:rPr lang="en" sz="900">
                <a:solidFill>
                  <a:schemeClr val="dk2"/>
                </a:solidFill>
              </a:rPr>
              <a:t>3</a:t>
            </a:r>
            <a:r>
              <a:rPr lang="en" sz="900">
                <a:solidFill>
                  <a:schemeClr val="dk2"/>
                </a:solidFill>
              </a:rPr>
              <a:t>6-</a:t>
            </a:r>
            <a:r>
              <a:rPr lang="en" sz="900">
                <a:solidFill>
                  <a:schemeClr val="dk2"/>
                </a:solidFill>
              </a:rPr>
              <a:t>4</a:t>
            </a:r>
            <a:r>
              <a:rPr lang="en" sz="900">
                <a:solidFill>
                  <a:schemeClr val="dk2"/>
                </a:solidFill>
              </a:rPr>
              <a:t>5 are dominating in this segment. In 2023, Men dominating by 89.19% in this segment, meanwhile in 2024, it slightly decreased to 87.46%</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graphicFrame>
        <p:nvGraphicFramePr>
          <p:cNvPr id="278" name="Google Shape;278;p23"/>
          <p:cNvGraphicFramePr/>
          <p:nvPr/>
        </p:nvGraphicFramePr>
        <p:xfrm>
          <a:off x="357000" y="3815100"/>
          <a:ext cx="3000000" cy="3000000"/>
        </p:xfrm>
        <a:graphic>
          <a:graphicData uri="http://schemas.openxmlformats.org/drawingml/2006/table">
            <a:tbl>
              <a:tblPr>
                <a:noFill/>
                <a:tableStyleId>{0287243F-39C1-4460-8421-3307866EDBE6}</a:tableStyleId>
              </a:tblPr>
              <a:tblGrid>
                <a:gridCol w="639550"/>
                <a:gridCol w="639550"/>
                <a:gridCol w="639550"/>
                <a:gridCol w="639550"/>
              </a:tblGrid>
              <a:tr h="140925">
                <a:tc gridSpan="3">
                  <a:txBody>
                    <a:bodyPr/>
                    <a:lstStyle/>
                    <a:p>
                      <a:pPr indent="0" lvl="0" marL="0" rtl="0" algn="ctr">
                        <a:lnSpc>
                          <a:spcPct val="115000"/>
                        </a:lnSpc>
                        <a:spcBef>
                          <a:spcPts val="0"/>
                        </a:spcBef>
                        <a:spcAft>
                          <a:spcPts val="0"/>
                        </a:spcAft>
                        <a:buNone/>
                      </a:pPr>
                      <a:r>
                        <a:rPr b="1" lang="en" sz="600"/>
                        <a:t>Number of Traders (Karyawan Swasta)</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rowSpan="2">
                  <a:txBody>
                    <a:bodyPr/>
                    <a:lstStyle/>
                    <a:p>
                      <a:pPr indent="0" lvl="0" marL="0" rtl="0" algn="ctr">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140925">
                <a:tc>
                  <a:txBody>
                    <a:bodyPr/>
                    <a:lstStyle/>
                    <a:p>
                      <a:pPr indent="0" lvl="0" marL="0" rtl="0" algn="ctr">
                        <a:lnSpc>
                          <a:spcPct val="115000"/>
                        </a:lnSpc>
                        <a:spcBef>
                          <a:spcPts val="0"/>
                        </a:spcBef>
                        <a:spcAft>
                          <a:spcPts val="0"/>
                        </a:spcAft>
                        <a:buNone/>
                      </a:pPr>
                      <a:r>
                        <a:rPr b="1" lang="en" sz="600"/>
                        <a:t>Age Group</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vMerge="1"/>
              </a:tr>
              <a:tr h="140925">
                <a:tc>
                  <a:txBody>
                    <a:bodyPr/>
                    <a:lstStyle/>
                    <a:p>
                      <a:pPr indent="0" lvl="0" marL="0" rtl="0" algn="ctr">
                        <a:lnSpc>
                          <a:spcPct val="115000"/>
                        </a:lnSpc>
                        <a:spcBef>
                          <a:spcPts val="0"/>
                        </a:spcBef>
                        <a:spcAft>
                          <a:spcPts val="0"/>
                        </a:spcAft>
                        <a:buNone/>
                      </a:pPr>
                      <a:r>
                        <a:rPr lang="en" sz="600"/>
                        <a:t>26-35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9,611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15,394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60.17%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t>36-45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7239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9.791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35.25%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279" name="Google Shape;279;p23"/>
          <p:cNvSpPr txBox="1"/>
          <p:nvPr/>
        </p:nvSpPr>
        <p:spPr>
          <a:xfrm>
            <a:off x="3051550" y="17773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280" name="Google Shape;280;p23"/>
          <p:cNvPicPr preferRelativeResize="0"/>
          <p:nvPr/>
        </p:nvPicPr>
        <p:blipFill>
          <a:blip r:embed="rId5">
            <a:alphaModFix/>
          </a:blip>
          <a:stretch>
            <a:fillRect/>
          </a:stretch>
        </p:blipFill>
        <p:spPr>
          <a:xfrm>
            <a:off x="3197725" y="2100525"/>
            <a:ext cx="1681325" cy="939725"/>
          </a:xfrm>
          <a:prstGeom prst="rect">
            <a:avLst/>
          </a:prstGeom>
          <a:noFill/>
          <a:ln>
            <a:noFill/>
          </a:ln>
        </p:spPr>
      </p:pic>
      <p:sp>
        <p:nvSpPr>
          <p:cNvPr id="281" name="Google Shape;281;p23"/>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28,543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9,187,217</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282" name="Google Shape;282;p23"/>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27,516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7,455,084</a:t>
            </a:r>
            <a:endParaRPr sz="700">
              <a:solidFill>
                <a:schemeClr val="dk2"/>
              </a:solidFill>
            </a:endParaRPr>
          </a:p>
        </p:txBody>
      </p:sp>
      <p:sp>
        <p:nvSpPr>
          <p:cNvPr id="283" name="Google Shape;283;p23"/>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11,907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1,779,492</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284" name="Google Shape;284;p23"/>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11,636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1,335,074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285" name="Google Shape;285;p23"/>
          <p:cNvPicPr preferRelativeResize="0"/>
          <p:nvPr/>
        </p:nvPicPr>
        <p:blipFill>
          <a:blip r:embed="rId6">
            <a:alphaModFix/>
          </a:blip>
          <a:stretch>
            <a:fillRect/>
          </a:stretch>
        </p:blipFill>
        <p:spPr>
          <a:xfrm>
            <a:off x="3346262" y="4110275"/>
            <a:ext cx="1322875" cy="878701"/>
          </a:xfrm>
          <a:prstGeom prst="rect">
            <a:avLst/>
          </a:prstGeom>
          <a:noFill/>
          <a:ln>
            <a:noFill/>
          </a:ln>
        </p:spPr>
      </p:pic>
      <p:sp>
        <p:nvSpPr>
          <p:cNvPr id="286" name="Google Shape;286;p23"/>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13,209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5,835,289</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287" name="Google Shape;287;p23"/>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11,373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5,274,804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288" name="Google Shape;288;p23"/>
          <p:cNvPicPr preferRelativeResize="0"/>
          <p:nvPr/>
        </p:nvPicPr>
        <p:blipFill rotWithShape="1">
          <a:blip r:embed="rId7">
            <a:alphaModFix/>
          </a:blip>
          <a:srcRect b="5666" l="0" r="0" t="5657"/>
          <a:stretch/>
        </p:blipFill>
        <p:spPr>
          <a:xfrm>
            <a:off x="6907075" y="163900"/>
            <a:ext cx="1849201" cy="1293136"/>
          </a:xfrm>
          <a:prstGeom prst="rect">
            <a:avLst/>
          </a:prstGeom>
          <a:noFill/>
          <a:ln>
            <a:noFill/>
          </a:ln>
        </p:spPr>
      </p:pic>
      <p:sp>
        <p:nvSpPr>
          <p:cNvPr id="289" name="Google Shape;289;p23"/>
          <p:cNvSpPr txBox="1"/>
          <p:nvPr/>
        </p:nvSpPr>
        <p:spPr>
          <a:xfrm>
            <a:off x="6863775" y="1564713"/>
            <a:ext cx="1935900" cy="1293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Jawa Barat become a top 1 region for emerging traders with the population of 13,585 traders in 2023, and it grow by 63,57% to 22,222 traders in 2024. </a:t>
            </a:r>
            <a:endParaRPr sz="900">
              <a:solidFill>
                <a:schemeClr val="dk2"/>
              </a:solidFill>
            </a:endParaRPr>
          </a:p>
        </p:txBody>
      </p:sp>
      <p:cxnSp>
        <p:nvCxnSpPr>
          <p:cNvPr id="290" name="Google Shape;290;p23"/>
          <p:cNvCxnSpPr/>
          <p:nvPr/>
        </p:nvCxnSpPr>
        <p:spPr>
          <a:xfrm>
            <a:off x="4874000" y="2605925"/>
            <a:ext cx="179100" cy="0"/>
          </a:xfrm>
          <a:prstGeom prst="straightConnector1">
            <a:avLst/>
          </a:prstGeom>
          <a:noFill/>
          <a:ln cap="flat" cmpd="sng" w="9525">
            <a:solidFill>
              <a:schemeClr val="dk2"/>
            </a:solidFill>
            <a:prstDash val="solid"/>
            <a:round/>
            <a:headEnd len="med" w="med" type="none"/>
            <a:tailEnd len="med" w="med" type="stealth"/>
          </a:ln>
        </p:spPr>
      </p:cxnSp>
      <p:cxnSp>
        <p:nvCxnSpPr>
          <p:cNvPr id="291" name="Google Shape;291;p23"/>
          <p:cNvCxnSpPr/>
          <p:nvPr/>
        </p:nvCxnSpPr>
        <p:spPr>
          <a:xfrm>
            <a:off x="4709250" y="3551525"/>
            <a:ext cx="236400" cy="0"/>
          </a:xfrm>
          <a:prstGeom prst="straightConnector1">
            <a:avLst/>
          </a:prstGeom>
          <a:noFill/>
          <a:ln cap="flat" cmpd="sng" w="9525">
            <a:solidFill>
              <a:schemeClr val="dk2"/>
            </a:solidFill>
            <a:prstDash val="solid"/>
            <a:round/>
            <a:headEnd len="med" w="med" type="none"/>
            <a:tailEnd len="med" w="med" type="stealth"/>
          </a:ln>
        </p:spPr>
      </p:cxnSp>
      <p:cxnSp>
        <p:nvCxnSpPr>
          <p:cNvPr id="292" name="Google Shape;292;p23"/>
          <p:cNvCxnSpPr>
            <a:stCxn id="285"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graphicFrame>
        <p:nvGraphicFramePr>
          <p:cNvPr id="293" name="Google Shape;293;p23"/>
          <p:cNvGraphicFramePr/>
          <p:nvPr/>
        </p:nvGraphicFramePr>
        <p:xfrm>
          <a:off x="6758725" y="2965713"/>
          <a:ext cx="3000000" cy="3000000"/>
        </p:xfrm>
        <a:graphic>
          <a:graphicData uri="http://schemas.openxmlformats.org/drawingml/2006/table">
            <a:tbl>
              <a:tblPr>
                <a:noFill/>
                <a:tableStyleId>{0287243F-39C1-4460-8421-3307866EDBE6}</a:tableStyleId>
              </a:tblPr>
              <a:tblGrid>
                <a:gridCol w="565675"/>
                <a:gridCol w="565675"/>
                <a:gridCol w="565675"/>
                <a:gridCol w="448950"/>
              </a:tblGrid>
              <a:tr h="146075">
                <a:tc gridSpan="4">
                  <a:txBody>
                    <a:bodyPr/>
                    <a:lstStyle/>
                    <a:p>
                      <a:pPr indent="0" lvl="0" marL="0" rtl="0" algn="ctr">
                        <a:lnSpc>
                          <a:spcPct val="115000"/>
                        </a:lnSpc>
                        <a:spcBef>
                          <a:spcPts val="0"/>
                        </a:spcBef>
                        <a:spcAft>
                          <a:spcPts val="0"/>
                        </a:spcAft>
                        <a:buNone/>
                      </a:pPr>
                      <a:r>
                        <a:rPr b="1" lang="en" sz="600"/>
                        <a:t>Trading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2461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246100">
                <a:tc>
                  <a:txBody>
                    <a:bodyPr/>
                    <a:lstStyle/>
                    <a:p>
                      <a:pPr indent="0" lvl="0" marL="0" rtl="0" algn="l">
                        <a:lnSpc>
                          <a:spcPct val="115000"/>
                        </a:lnSpc>
                        <a:spcBef>
                          <a:spcPts val="0"/>
                        </a:spcBef>
                        <a:spcAft>
                          <a:spcPts val="0"/>
                        </a:spcAft>
                        <a:buNone/>
                      </a:pPr>
                      <a:r>
                        <a:rPr lang="en" sz="600"/>
                        <a:t>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-6.97%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Trade Freq (Weekly)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27.27%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solidFill>
                            <a:schemeClr val="dk1"/>
                          </a:solidFill>
                        </a:rPr>
                        <a:t>Avg Trade Freq (Monthly)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32.00%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solidFill>
                            <a:schemeClr val="dk1"/>
                          </a:solidFill>
                        </a:rPr>
                        <a:t>Avg Trade Freq (Daily)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20.00%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1,859,063,074,295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2,962,631,034,162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59.36%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5,528,196.37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5,827,284.66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5.41%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pic>
        <p:nvPicPr>
          <p:cNvPr id="294" name="Google Shape;294;p23"/>
          <p:cNvPicPr preferRelativeResize="0"/>
          <p:nvPr/>
        </p:nvPicPr>
        <p:blipFill>
          <a:blip r:embed="rId8">
            <a:alphaModFix/>
          </a:blip>
          <a:stretch>
            <a:fillRect/>
          </a:stretch>
        </p:blipFill>
        <p:spPr>
          <a:xfrm>
            <a:off x="3558525" y="3105403"/>
            <a:ext cx="930581" cy="939725"/>
          </a:xfrm>
          <a:prstGeom prst="rect">
            <a:avLst/>
          </a:prstGeom>
          <a:noFill/>
          <a:ln>
            <a:noFill/>
          </a:ln>
        </p:spPr>
      </p:pic>
      <p:sp>
        <p:nvSpPr>
          <p:cNvPr id="295" name="Google Shape;295;p23"/>
          <p:cNvSpPr txBox="1"/>
          <p:nvPr/>
        </p:nvSpPr>
        <p:spPr>
          <a:xfrm>
            <a:off x="1915400" y="4521925"/>
            <a:ext cx="1017300" cy="57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2"/>
                </a:solidFill>
              </a:rPr>
              <a:t>Source:</a:t>
            </a:r>
            <a:endParaRPr sz="500">
              <a:solidFill>
                <a:schemeClr val="dk2"/>
              </a:solidFill>
            </a:endParaRPr>
          </a:p>
          <a:p>
            <a:pPr indent="0" lvl="0" marL="0" rtl="0" algn="l">
              <a:spcBef>
                <a:spcPts val="0"/>
              </a:spcBef>
              <a:spcAft>
                <a:spcPts val="0"/>
              </a:spcAft>
              <a:buNone/>
            </a:pPr>
            <a:r>
              <a:rPr lang="en" sz="500" u="sng">
                <a:solidFill>
                  <a:schemeClr val="hlink"/>
                </a:solidFill>
                <a:hlinkClick r:id="rId9"/>
              </a:rPr>
              <a:t>Source of Location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0"/>
              </a:rPr>
              <a:t>Source of Deposit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1"/>
              </a:rPr>
              <a:t>Source of Age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2"/>
              </a:rPr>
              <a:t>Source of Trade Data</a:t>
            </a:r>
            <a:endParaRPr sz="500">
              <a:solidFill>
                <a:schemeClr val="dk2"/>
              </a:solidFill>
            </a:endParaRPr>
          </a:p>
        </p:txBody>
      </p:sp>
      <p:pic>
        <p:nvPicPr>
          <p:cNvPr id="296" name="Google Shape;296;p23"/>
          <p:cNvPicPr preferRelativeResize="0"/>
          <p:nvPr/>
        </p:nvPicPr>
        <p:blipFill>
          <a:blip r:embed="rId13">
            <a:alphaModFix/>
          </a:blip>
          <a:stretch>
            <a:fillRect/>
          </a:stretch>
        </p:blipFill>
        <p:spPr>
          <a:xfrm>
            <a:off x="5731000" y="982550"/>
            <a:ext cx="694200" cy="694200"/>
          </a:xfrm>
          <a:prstGeom prst="rect">
            <a:avLst/>
          </a:prstGeom>
          <a:noFill/>
          <a:ln>
            <a:noFill/>
          </a:ln>
        </p:spPr>
      </p:pic>
      <p:sp>
        <p:nvSpPr>
          <p:cNvPr id="297" name="Google Shape;297;p23"/>
          <p:cNvSpPr txBox="1"/>
          <p:nvPr/>
        </p:nvSpPr>
        <p:spPr>
          <a:xfrm>
            <a:off x="5365975" y="1565800"/>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Average income:</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Indonesia : 10M/Month</a:t>
            </a:r>
            <a:endParaRPr sz="700">
              <a:solidFill>
                <a:schemeClr val="dk2"/>
              </a:solidFill>
            </a:endParaRPr>
          </a:p>
        </p:txBody>
      </p:sp>
      <p:sp>
        <p:nvSpPr>
          <p:cNvPr id="298" name="Google Shape;298;p23"/>
          <p:cNvSpPr txBox="1"/>
          <p:nvPr/>
        </p:nvSpPr>
        <p:spPr>
          <a:xfrm>
            <a:off x="5365975" y="44625"/>
            <a:ext cx="1462500" cy="939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500">
                <a:solidFill>
                  <a:schemeClr val="dk2"/>
                </a:solidFill>
              </a:rPr>
              <a:t>Top 3 City in Jawa Barat:</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Kota Bandung:</a:t>
            </a:r>
            <a:endParaRPr b="1" sz="500">
              <a:solidFill>
                <a:schemeClr val="dk2"/>
              </a:solidFill>
            </a:endParaRPr>
          </a:p>
          <a:p>
            <a:pPr indent="0" lvl="0" marL="457200" rtl="0" algn="l">
              <a:spcBef>
                <a:spcPts val="0"/>
              </a:spcBef>
              <a:spcAft>
                <a:spcPts val="0"/>
              </a:spcAft>
              <a:buNone/>
            </a:pPr>
            <a:r>
              <a:rPr b="1" lang="en" sz="500">
                <a:solidFill>
                  <a:schemeClr val="dk2"/>
                </a:solidFill>
              </a:rPr>
              <a:t>2023 (1901 users), 2024 (3251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Kota Bekasi:</a:t>
            </a:r>
            <a:endParaRPr b="1" sz="500">
              <a:solidFill>
                <a:schemeClr val="dk2"/>
              </a:solidFill>
            </a:endParaRPr>
          </a:p>
          <a:p>
            <a:pPr indent="0" lvl="0" marL="457200" rtl="0" algn="l">
              <a:spcBef>
                <a:spcPts val="0"/>
              </a:spcBef>
              <a:spcAft>
                <a:spcPts val="0"/>
              </a:spcAft>
              <a:buNone/>
            </a:pPr>
            <a:r>
              <a:rPr b="1" lang="en" sz="500">
                <a:solidFill>
                  <a:schemeClr val="dk2"/>
                </a:solidFill>
              </a:rPr>
              <a:t>2023 (1734 users), 2024 (3041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Kab. Bogor:</a:t>
            </a:r>
            <a:endParaRPr b="1" sz="500">
              <a:solidFill>
                <a:schemeClr val="dk2"/>
              </a:solidFill>
            </a:endParaRPr>
          </a:p>
          <a:p>
            <a:pPr indent="0" lvl="0" marL="457200" rtl="0" algn="l">
              <a:spcBef>
                <a:spcPts val="0"/>
              </a:spcBef>
              <a:spcAft>
                <a:spcPts val="0"/>
              </a:spcAft>
              <a:buNone/>
            </a:pPr>
            <a:r>
              <a:rPr b="1" lang="en" sz="500">
                <a:solidFill>
                  <a:schemeClr val="dk2"/>
                </a:solidFill>
              </a:rPr>
              <a:t>2023 (1036 users), 2024 (1844 users)</a:t>
            </a:r>
            <a:endParaRPr b="1" sz="500">
              <a:solidFill>
                <a:schemeClr val="dk2"/>
              </a:solidFill>
            </a:endParaRPr>
          </a:p>
          <a:p>
            <a:pPr indent="0" lvl="0" marL="457200" rtl="0" algn="l">
              <a:spcBef>
                <a:spcPts val="0"/>
              </a:spcBef>
              <a:spcAft>
                <a:spcPts val="0"/>
              </a:spcAft>
              <a:buNone/>
            </a:pPr>
            <a:r>
              <a:t/>
            </a:r>
            <a:endParaRPr b="1" sz="500">
              <a:solidFill>
                <a:schemeClr val="dk2"/>
              </a:solidFill>
            </a:endParaRPr>
          </a:p>
        </p:txBody>
      </p:sp>
      <p:cxnSp>
        <p:nvCxnSpPr>
          <p:cNvPr id="299" name="Google Shape;299;p23"/>
          <p:cNvCxnSpPr/>
          <p:nvPr/>
        </p:nvCxnSpPr>
        <p:spPr>
          <a:xfrm rot="10800000">
            <a:off x="6851050" y="370825"/>
            <a:ext cx="1031700" cy="422700"/>
          </a:xfrm>
          <a:prstGeom prst="straightConnector1">
            <a:avLst/>
          </a:prstGeom>
          <a:noFill/>
          <a:ln cap="flat" cmpd="sng" w="9525">
            <a:solidFill>
              <a:srgbClr val="FF0000"/>
            </a:solidFill>
            <a:prstDash val="dash"/>
            <a:round/>
            <a:headEnd len="med" w="med" type="none"/>
            <a:tailEnd len="med" w="med" type="stealth"/>
          </a:ln>
        </p:spPr>
      </p:cxnSp>
      <p:pic>
        <p:nvPicPr>
          <p:cNvPr id="300" name="Google Shape;300;p23"/>
          <p:cNvPicPr preferRelativeResize="0"/>
          <p:nvPr/>
        </p:nvPicPr>
        <p:blipFill>
          <a:blip r:embed="rId14">
            <a:alphaModFix/>
          </a:blip>
          <a:stretch>
            <a:fillRect/>
          </a:stretch>
        </p:blipFill>
        <p:spPr>
          <a:xfrm>
            <a:off x="389219" y="1827517"/>
            <a:ext cx="301206" cy="301153"/>
          </a:xfrm>
          <a:prstGeom prst="rect">
            <a:avLst/>
          </a:prstGeom>
          <a:noFill/>
          <a:ln>
            <a:noFill/>
          </a:ln>
        </p:spPr>
      </p:pic>
      <p:pic>
        <p:nvPicPr>
          <p:cNvPr id="301" name="Google Shape;301;p23"/>
          <p:cNvPicPr preferRelativeResize="0"/>
          <p:nvPr/>
        </p:nvPicPr>
        <p:blipFill>
          <a:blip r:embed="rId15">
            <a:alphaModFix/>
          </a:blip>
          <a:stretch>
            <a:fillRect/>
          </a:stretch>
        </p:blipFill>
        <p:spPr>
          <a:xfrm>
            <a:off x="1591544" y="1827531"/>
            <a:ext cx="301206" cy="301153"/>
          </a:xfrm>
          <a:prstGeom prst="rect">
            <a:avLst/>
          </a:prstGeom>
          <a:noFill/>
          <a:ln>
            <a:noFill/>
          </a:ln>
        </p:spPr>
      </p:pic>
      <p:pic>
        <p:nvPicPr>
          <p:cNvPr id="302" name="Google Shape;302;p23"/>
          <p:cNvPicPr preferRelativeResize="0"/>
          <p:nvPr/>
        </p:nvPicPr>
        <p:blipFill>
          <a:blip r:embed="rId16">
            <a:alphaModFix/>
          </a:blip>
          <a:stretch>
            <a:fillRect/>
          </a:stretch>
        </p:blipFill>
        <p:spPr>
          <a:xfrm>
            <a:off x="1190770" y="1827535"/>
            <a:ext cx="301205" cy="301153"/>
          </a:xfrm>
          <a:prstGeom prst="rect">
            <a:avLst/>
          </a:prstGeom>
          <a:noFill/>
          <a:ln>
            <a:noFill/>
          </a:ln>
        </p:spPr>
      </p:pic>
      <p:pic>
        <p:nvPicPr>
          <p:cNvPr id="303" name="Google Shape;303;p23"/>
          <p:cNvPicPr preferRelativeResize="0"/>
          <p:nvPr/>
        </p:nvPicPr>
        <p:blipFill>
          <a:blip r:embed="rId17">
            <a:alphaModFix/>
          </a:blip>
          <a:stretch>
            <a:fillRect/>
          </a:stretch>
        </p:blipFill>
        <p:spPr>
          <a:xfrm flipH="1">
            <a:off x="789995" y="1827528"/>
            <a:ext cx="301204" cy="301153"/>
          </a:xfrm>
          <a:prstGeom prst="rect">
            <a:avLst/>
          </a:prstGeom>
          <a:noFill/>
          <a:ln>
            <a:noFill/>
          </a:ln>
        </p:spPr>
      </p:pic>
      <p:pic>
        <p:nvPicPr>
          <p:cNvPr id="304" name="Google Shape;304;p23"/>
          <p:cNvPicPr preferRelativeResize="0"/>
          <p:nvPr/>
        </p:nvPicPr>
        <p:blipFill>
          <a:blip r:embed="rId18">
            <a:alphaModFix/>
          </a:blip>
          <a:stretch>
            <a:fillRect/>
          </a:stretch>
        </p:blipFill>
        <p:spPr>
          <a:xfrm>
            <a:off x="1992326" y="1849500"/>
            <a:ext cx="281550" cy="281550"/>
          </a:xfrm>
          <a:prstGeom prst="rect">
            <a:avLst/>
          </a:prstGeom>
          <a:noFill/>
          <a:ln>
            <a:noFill/>
          </a:ln>
        </p:spPr>
      </p:pic>
      <p:sp>
        <p:nvSpPr>
          <p:cNvPr id="305" name="Google Shape;305;p23"/>
          <p:cNvSpPr txBox="1"/>
          <p:nvPr/>
        </p:nvSpPr>
        <p:spPr>
          <a:xfrm>
            <a:off x="357000" y="2184913"/>
            <a:ext cx="2528700" cy="4923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Common</a:t>
            </a:r>
            <a:r>
              <a:rPr lang="en" sz="700">
                <a:solidFill>
                  <a:schemeClr val="dk2"/>
                </a:solidFill>
                <a:latin typeface="Proxima Nova"/>
                <a:ea typeface="Proxima Nova"/>
                <a:cs typeface="Proxima Nova"/>
                <a:sym typeface="Proxima Nova"/>
              </a:rPr>
              <a:t> traders have the most trade volume for Altcoins such. From 2023 to 2024 the trading volume of Altcoins increased by 61.22% from 4.90T to 7.90T. Followed by MEME coins in 2nd places of coin preferences in this segment</a:t>
            </a:r>
            <a:endParaRPr sz="700">
              <a:solidFill>
                <a:schemeClr val="dk2"/>
              </a:solidFill>
              <a:latin typeface="Proxima Nova"/>
              <a:ea typeface="Proxima Nova"/>
              <a:cs typeface="Proxima Nova"/>
              <a:sym typeface="Proxima Nova"/>
            </a:endParaRPr>
          </a:p>
        </p:txBody>
      </p:sp>
      <p:grpSp>
        <p:nvGrpSpPr>
          <p:cNvPr id="306" name="Google Shape;306;p23"/>
          <p:cNvGrpSpPr/>
          <p:nvPr/>
        </p:nvGrpSpPr>
        <p:grpSpPr>
          <a:xfrm>
            <a:off x="2130013" y="986275"/>
            <a:ext cx="831625" cy="749300"/>
            <a:chOff x="2006250" y="663775"/>
            <a:chExt cx="831625" cy="749300"/>
          </a:xfrm>
        </p:grpSpPr>
        <p:pic>
          <p:nvPicPr>
            <p:cNvPr id="307" name="Google Shape;307;p23"/>
            <p:cNvPicPr preferRelativeResize="0"/>
            <p:nvPr/>
          </p:nvPicPr>
          <p:blipFill>
            <a:blip r:embed="rId19">
              <a:alphaModFix/>
            </a:blip>
            <a:stretch>
              <a:fillRect/>
            </a:stretch>
          </p:blipFill>
          <p:spPr>
            <a:xfrm>
              <a:off x="2250371" y="663775"/>
              <a:ext cx="352100" cy="352100"/>
            </a:xfrm>
            <a:prstGeom prst="rect">
              <a:avLst/>
            </a:prstGeom>
            <a:noFill/>
            <a:ln>
              <a:noFill/>
            </a:ln>
          </p:spPr>
        </p:pic>
        <p:pic>
          <p:nvPicPr>
            <p:cNvPr id="308" name="Google Shape;308;p23"/>
            <p:cNvPicPr preferRelativeResize="0"/>
            <p:nvPr/>
          </p:nvPicPr>
          <p:blipFill>
            <a:blip r:embed="rId20">
              <a:alphaModFix/>
            </a:blip>
            <a:stretch>
              <a:fillRect/>
            </a:stretch>
          </p:blipFill>
          <p:spPr>
            <a:xfrm flipH="1">
              <a:off x="2006250" y="1051350"/>
              <a:ext cx="352100" cy="352100"/>
            </a:xfrm>
            <a:prstGeom prst="rect">
              <a:avLst/>
            </a:prstGeom>
            <a:noFill/>
            <a:ln>
              <a:noFill/>
            </a:ln>
          </p:spPr>
        </p:pic>
        <p:pic>
          <p:nvPicPr>
            <p:cNvPr id="309" name="Google Shape;309;p23"/>
            <p:cNvPicPr preferRelativeResize="0"/>
            <p:nvPr/>
          </p:nvPicPr>
          <p:blipFill>
            <a:blip r:embed="rId21">
              <a:alphaModFix/>
            </a:blip>
            <a:stretch>
              <a:fillRect/>
            </a:stretch>
          </p:blipFill>
          <p:spPr>
            <a:xfrm>
              <a:off x="2485775" y="1060975"/>
              <a:ext cx="352100" cy="35210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3" name="Shape 313"/>
        <p:cNvGrpSpPr/>
        <p:nvPr/>
      </p:nvGrpSpPr>
      <p:grpSpPr>
        <a:xfrm>
          <a:off x="0" y="0"/>
          <a:ext cx="0" cy="0"/>
          <a:chOff x="0" y="0"/>
          <a:chExt cx="0" cy="0"/>
        </a:xfrm>
      </p:grpSpPr>
      <p:sp>
        <p:nvSpPr>
          <p:cNvPr id="314" name="Google Shape;314;p24"/>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Common</a:t>
            </a:r>
            <a:r>
              <a:rPr b="1" lang="en" sz="1800">
                <a:solidFill>
                  <a:srgbClr val="0084B5"/>
                </a:solidFill>
                <a:latin typeface="Montserrat"/>
                <a:ea typeface="Montserrat"/>
                <a:cs typeface="Montserrat"/>
                <a:sym typeface="Montserrat"/>
              </a:rPr>
              <a:t> Traders 2023 vs Common Traders 2024</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sp>
        <p:nvSpPr>
          <p:cNvPr id="315" name="Google Shape;315;p24"/>
          <p:cNvSpPr txBox="1"/>
          <p:nvPr/>
        </p:nvSpPr>
        <p:spPr>
          <a:xfrm>
            <a:off x="3569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DCA</a:t>
            </a:r>
            <a:endParaRPr b="1" sz="1000">
              <a:solidFill>
                <a:schemeClr val="dk2"/>
              </a:solidFill>
            </a:endParaRPr>
          </a:p>
        </p:txBody>
      </p:sp>
      <p:sp>
        <p:nvSpPr>
          <p:cNvPr id="316" name="Google Shape;316;p24"/>
          <p:cNvSpPr txBox="1"/>
          <p:nvPr/>
        </p:nvSpPr>
        <p:spPr>
          <a:xfrm>
            <a:off x="302843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Staking</a:t>
            </a:r>
            <a:endParaRPr b="1" sz="1000">
              <a:solidFill>
                <a:schemeClr val="dk2"/>
              </a:solidFill>
            </a:endParaRPr>
          </a:p>
        </p:txBody>
      </p:sp>
      <p:sp>
        <p:nvSpPr>
          <p:cNvPr id="317" name="Google Shape;317;p24"/>
          <p:cNvSpPr txBox="1"/>
          <p:nvPr/>
        </p:nvSpPr>
        <p:spPr>
          <a:xfrm>
            <a:off x="6179163" y="3621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API Trading</a:t>
            </a:r>
            <a:endParaRPr b="1" sz="1000">
              <a:solidFill>
                <a:schemeClr val="dk2"/>
              </a:solidFill>
            </a:endParaRPr>
          </a:p>
        </p:txBody>
      </p:sp>
      <p:graphicFrame>
        <p:nvGraphicFramePr>
          <p:cNvPr id="318" name="Google Shape;318;p24"/>
          <p:cNvGraphicFramePr/>
          <p:nvPr/>
        </p:nvGraphicFramePr>
        <p:xfrm>
          <a:off x="109175" y="657538"/>
          <a:ext cx="3000000" cy="3000000"/>
        </p:xfrm>
        <a:graphic>
          <a:graphicData uri="http://schemas.openxmlformats.org/drawingml/2006/table">
            <a:tbl>
              <a:tblPr>
                <a:noFill/>
                <a:tableStyleId>{0287243F-39C1-4460-8421-3307866EDBE6}</a:tableStyleId>
              </a:tblPr>
              <a:tblGrid>
                <a:gridCol w="620450"/>
                <a:gridCol w="620450"/>
                <a:gridCol w="620450"/>
                <a:gridCol w="492400"/>
              </a:tblGrid>
              <a:tr h="226375">
                <a:tc gridSpan="4">
                  <a:txBody>
                    <a:bodyPr/>
                    <a:lstStyle/>
                    <a:p>
                      <a:pPr indent="0" lvl="0" marL="0" rtl="0" algn="ctr">
                        <a:lnSpc>
                          <a:spcPct val="115000"/>
                        </a:lnSpc>
                        <a:spcBef>
                          <a:spcPts val="0"/>
                        </a:spcBef>
                        <a:spcAft>
                          <a:spcPts val="0"/>
                        </a:spcAft>
                        <a:buNone/>
                      </a:pPr>
                      <a:r>
                        <a:rPr b="1" lang="en" sz="600"/>
                        <a:t>DCA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Total DCA Users</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365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1021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27.96%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1007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2078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106.35%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1.201.304.975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927.884.813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-22.76%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1400">
                <a:tc>
                  <a:txBody>
                    <a:bodyPr/>
                    <a:lstStyle/>
                    <a:p>
                      <a:pPr indent="0" lvl="0" marL="0" rtl="0" algn="l">
                        <a:lnSpc>
                          <a:spcPct val="115000"/>
                        </a:lnSpc>
                        <a:spcBef>
                          <a:spcPts val="0"/>
                        </a:spcBef>
                        <a:spcAft>
                          <a:spcPts val="0"/>
                        </a:spcAft>
                        <a:buNone/>
                      </a:pPr>
                      <a:r>
                        <a:rPr lang="en" sz="600"/>
                        <a:t>Avg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-33.33%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Avg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3.291.246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908.800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-72.38%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319" name="Google Shape;319;p24"/>
          <p:cNvGraphicFramePr/>
          <p:nvPr/>
        </p:nvGraphicFramePr>
        <p:xfrm>
          <a:off x="3028450" y="657538"/>
          <a:ext cx="3000000" cy="3000000"/>
        </p:xfrm>
        <a:graphic>
          <a:graphicData uri="http://schemas.openxmlformats.org/drawingml/2006/table">
            <a:tbl>
              <a:tblPr>
                <a:noFill/>
                <a:tableStyleId>{0287243F-39C1-4460-8421-3307866EDBE6}</a:tableStyleId>
              </a:tblPr>
              <a:tblGrid>
                <a:gridCol w="620450"/>
                <a:gridCol w="620450"/>
                <a:gridCol w="670600"/>
                <a:gridCol w="442250"/>
              </a:tblGrid>
              <a:tr h="22637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Common Traders</a:t>
                      </a:r>
                      <a:endParaRPr sz="600"/>
                    </a:p>
                    <a:p>
                      <a:pPr indent="0" lvl="0" marL="0" rtl="0" algn="l">
                        <a:lnSpc>
                          <a:spcPct val="115000"/>
                        </a:lnSpc>
                        <a:spcBef>
                          <a:spcPts val="0"/>
                        </a:spcBef>
                        <a:spcAft>
                          <a:spcPts val="0"/>
                        </a:spcAft>
                        <a:buNone/>
                      </a:pPr>
                      <a:r>
                        <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76,354,247,169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110,583,351,986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44.83%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320" name="Google Shape;320;p24"/>
          <p:cNvGraphicFramePr/>
          <p:nvPr/>
        </p:nvGraphicFramePr>
        <p:xfrm>
          <a:off x="6179175" y="657538"/>
          <a:ext cx="3000000" cy="3000000"/>
        </p:xfrm>
        <a:graphic>
          <a:graphicData uri="http://schemas.openxmlformats.org/drawingml/2006/table">
            <a:tbl>
              <a:tblPr>
                <a:noFill/>
                <a:tableStyleId>{0287243F-39C1-4460-8421-3307866EDBE6}</a:tableStyleId>
              </a:tblPr>
              <a:tblGrid>
                <a:gridCol w="700575"/>
                <a:gridCol w="700575"/>
                <a:gridCol w="824250"/>
                <a:gridCol w="432275"/>
              </a:tblGrid>
              <a:tr h="24882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419225">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421900">
                <a:tc>
                  <a:txBody>
                    <a:bodyPr/>
                    <a:lstStyle/>
                    <a:p>
                      <a:pPr indent="0" lvl="0" marL="0" rtl="0" algn="l">
                        <a:lnSpc>
                          <a:spcPct val="115000"/>
                        </a:lnSpc>
                        <a:spcBef>
                          <a:spcPts val="0"/>
                        </a:spcBef>
                        <a:spcAft>
                          <a:spcPts val="0"/>
                        </a:spcAft>
                        <a:buNone/>
                      </a:pPr>
                      <a:r>
                        <a:rPr lang="en" sz="600"/>
                        <a:t>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565,842,801,651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666,463,357,632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17.78%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95,727,085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92,564,355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-3.30%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1,151,909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947,916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-17.71%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195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-32.44%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2,516,954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2,692,382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6.97%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321" name="Google Shape;321;p24"/>
          <p:cNvGraphicFramePr/>
          <p:nvPr/>
        </p:nvGraphicFramePr>
        <p:xfrm>
          <a:off x="109175" y="3618800"/>
          <a:ext cx="3000000" cy="3000000"/>
        </p:xfrm>
        <a:graphic>
          <a:graphicData uri="http://schemas.openxmlformats.org/drawingml/2006/table">
            <a:tbl>
              <a:tblPr>
                <a:noFill/>
                <a:tableStyleId>{0287243F-39C1-4460-8421-3307866EDBE6}</a:tableStyleId>
              </a:tblPr>
              <a:tblGrid>
                <a:gridCol w="553150"/>
                <a:gridCol w="553150"/>
                <a:gridCol w="553150"/>
                <a:gridCol w="553150"/>
                <a:gridCol w="553150"/>
                <a:gridCol w="553150"/>
                <a:gridCol w="553150"/>
                <a:gridCol w="553150"/>
                <a:gridCol w="553150"/>
                <a:gridCol w="553150"/>
                <a:gridCol w="553150"/>
                <a:gridCol w="553150"/>
                <a:gridCol w="553150"/>
                <a:gridCol w="553150"/>
                <a:gridCol w="553150"/>
                <a:gridCol w="553150"/>
              </a:tblGrid>
              <a:tr h="182650">
                <a:tc>
                  <a:txBody>
                    <a:bodyPr/>
                    <a:lstStyle/>
                    <a:p>
                      <a:pPr indent="0" lvl="0" marL="0" rtl="0" algn="l">
                        <a:spcBef>
                          <a:spcPts val="0"/>
                        </a:spcBef>
                        <a:spcAft>
                          <a:spcPts val="0"/>
                        </a:spcAft>
                        <a:buNone/>
                      </a:pPr>
                      <a:r>
                        <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700"/>
                        <a:t>Total DCA Freq</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hMerge="1"/>
                <a:tc hMerge="1"/>
                <a:tc gridSpan="3">
                  <a:txBody>
                    <a:bodyPr/>
                    <a:lstStyle/>
                    <a:p>
                      <a:pPr indent="0" lvl="0" marL="0" rtl="0" algn="ctr">
                        <a:lnSpc>
                          <a:spcPct val="115000"/>
                        </a:lnSpc>
                        <a:spcBef>
                          <a:spcPts val="0"/>
                        </a:spcBef>
                        <a:spcAft>
                          <a:spcPts val="0"/>
                        </a:spcAft>
                        <a:buNone/>
                      </a:pPr>
                      <a:r>
                        <a:rPr b="1" lang="en" sz="700"/>
                        <a:t>Total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hMerge="1"/>
                <a:tc hMerge="1"/>
                <a:tc gridSpan="3">
                  <a:txBody>
                    <a:bodyPr/>
                    <a:lstStyle/>
                    <a:p>
                      <a:pPr indent="0" lvl="0" marL="0" rtl="0" algn="ctr">
                        <a:lnSpc>
                          <a:spcPct val="115000"/>
                        </a:lnSpc>
                        <a:spcBef>
                          <a:spcPts val="0"/>
                        </a:spcBef>
                        <a:spcAft>
                          <a:spcPts val="0"/>
                        </a:spcAft>
                        <a:buNone/>
                      </a:pPr>
                      <a:r>
                        <a:rPr b="1" lang="en" sz="700"/>
                        <a:t>Average DCA Frequency</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hMerge="1"/>
                <a:tc hMerge="1"/>
                <a:tc gridSpan="3">
                  <a:txBody>
                    <a:bodyPr/>
                    <a:lstStyle/>
                    <a:p>
                      <a:pPr indent="0" lvl="0" marL="0" rtl="0" algn="ctr">
                        <a:lnSpc>
                          <a:spcPct val="115000"/>
                        </a:lnSpc>
                        <a:spcBef>
                          <a:spcPts val="0"/>
                        </a:spcBef>
                        <a:spcAft>
                          <a:spcPts val="0"/>
                        </a:spcAft>
                        <a:buNone/>
                      </a:pPr>
                      <a:r>
                        <a:rPr b="1" lang="en" sz="700"/>
                        <a:t>Average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hMerge="1"/>
                <a:tc hMerge="1"/>
              </a:tr>
              <a:tr h="18265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r>
              <a:tr h="260950">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1,941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842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-56.62%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3,430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1,548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-54.87%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2,130,014,928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700,930,226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-67.09%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1,097,380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832,459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-24.14%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8265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523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267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-48.95%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777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398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-48.78%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386,312,563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188,141,371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-51.30%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738,647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704,649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-4.60%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8265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-48.51%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272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-51.47%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173,688,536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38,813,216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-77.65%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859,844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373,204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-56.60%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graphicFrame>
        <p:nvGraphicFramePr>
          <p:cNvPr id="322" name="Google Shape;322;p24"/>
          <p:cNvGraphicFramePr/>
          <p:nvPr/>
        </p:nvGraphicFramePr>
        <p:xfrm>
          <a:off x="2596050" y="1769750"/>
          <a:ext cx="3000000" cy="3000000"/>
        </p:xfrm>
        <a:graphic>
          <a:graphicData uri="http://schemas.openxmlformats.org/drawingml/2006/table">
            <a:tbl>
              <a:tblPr>
                <a:noFill/>
                <a:tableStyleId>{0287243F-39C1-4460-8421-3307866EDBE6}</a:tableStyleId>
              </a:tblPr>
              <a:tblGrid>
                <a:gridCol w="489725"/>
                <a:gridCol w="489725"/>
                <a:gridCol w="489725"/>
                <a:gridCol w="489725"/>
                <a:gridCol w="489725"/>
                <a:gridCol w="489725"/>
                <a:gridCol w="489725"/>
              </a:tblGrid>
              <a:tr h="316300">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DCA Amount</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hMerge="1"/>
                <a:tc gridSpan="2">
                  <a:txBody>
                    <a:bodyPr/>
                    <a:lstStyle/>
                    <a:p>
                      <a:pPr indent="0" lvl="0" marL="0" rtl="0" algn="ctr">
                        <a:lnSpc>
                          <a:spcPct val="115000"/>
                        </a:lnSpc>
                        <a:spcBef>
                          <a:spcPts val="0"/>
                        </a:spcBef>
                        <a:spcAft>
                          <a:spcPts val="0"/>
                        </a:spcAft>
                        <a:buNone/>
                      </a:pPr>
                      <a:r>
                        <a:rPr b="1" lang="en" sz="700"/>
                        <a:t>DCA Freq</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hMerge="1"/>
              </a:tr>
              <a:tr h="31630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r>
              <a:tr h="316300">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72.81%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69.41%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79.18%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75.54%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76.58%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74.49%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630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19.62%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22.01%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14.36%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20.28%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17.35%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19.15%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630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7.58%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6.46%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4.18%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6.07%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6.35%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326" name="Shape 326"/>
        <p:cNvGrpSpPr/>
        <p:nvPr/>
      </p:nvGrpSpPr>
      <p:grpSpPr>
        <a:xfrm>
          <a:off x="0" y="0"/>
          <a:ext cx="0" cy="0"/>
          <a:chOff x="0" y="0"/>
          <a:chExt cx="0" cy="0"/>
        </a:xfrm>
      </p:grpSpPr>
      <p:sp>
        <p:nvSpPr>
          <p:cNvPr id="327" name="Google Shape;327;p25"/>
          <p:cNvSpPr txBox="1"/>
          <p:nvPr>
            <p:ph type="title"/>
          </p:nvPr>
        </p:nvSpPr>
        <p:spPr>
          <a:xfrm>
            <a:off x="157625" y="1182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Persona Name: </a:t>
            </a:r>
            <a:r>
              <a:rPr b="1" lang="en" sz="1800">
                <a:solidFill>
                  <a:srgbClr val="0084B5"/>
                </a:solidFill>
                <a:latin typeface="Montserrat"/>
                <a:ea typeface="Montserrat"/>
                <a:cs typeface="Montserrat"/>
                <a:sym typeface="Montserrat"/>
              </a:rPr>
              <a:t>The</a:t>
            </a:r>
            <a:r>
              <a:rPr b="1" lang="en" sz="1800">
                <a:solidFill>
                  <a:srgbClr val="0084B5"/>
                </a:solidFill>
                <a:latin typeface="Montserrat"/>
                <a:ea typeface="Montserrat"/>
                <a:cs typeface="Montserrat"/>
                <a:sym typeface="Montserrat"/>
              </a:rPr>
              <a:t> Speculator</a:t>
            </a:r>
            <a:endParaRPr b="1" sz="1800">
              <a:solidFill>
                <a:srgbClr val="0084B5"/>
              </a:solidFill>
              <a:latin typeface="Montserrat"/>
              <a:ea typeface="Montserrat"/>
              <a:cs typeface="Montserrat"/>
              <a:sym typeface="Montserrat"/>
            </a:endParaRPr>
          </a:p>
        </p:txBody>
      </p:sp>
      <p:sp>
        <p:nvSpPr>
          <p:cNvPr id="328" name="Google Shape;328;p25"/>
          <p:cNvSpPr txBox="1"/>
          <p:nvPr>
            <p:ph type="title"/>
          </p:nvPr>
        </p:nvSpPr>
        <p:spPr>
          <a:xfrm>
            <a:off x="113475" y="503138"/>
            <a:ext cx="29322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Demographic Information</a:t>
            </a:r>
            <a:endParaRPr b="1" sz="1200">
              <a:solidFill>
                <a:srgbClr val="0084B5"/>
              </a:solidFill>
              <a:latin typeface="Montserrat"/>
              <a:ea typeface="Montserrat"/>
              <a:cs typeface="Montserrat"/>
              <a:sym typeface="Montserrat"/>
            </a:endParaRPr>
          </a:p>
        </p:txBody>
      </p:sp>
      <p:sp>
        <p:nvSpPr>
          <p:cNvPr id="329" name="Google Shape;329;p25"/>
          <p:cNvSpPr txBox="1"/>
          <p:nvPr>
            <p:ph type="title"/>
          </p:nvPr>
        </p:nvSpPr>
        <p:spPr>
          <a:xfrm>
            <a:off x="4623500" y="461088"/>
            <a:ext cx="1175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Background</a:t>
            </a:r>
            <a:endParaRPr b="1" sz="1200">
              <a:solidFill>
                <a:srgbClr val="0084B5"/>
              </a:solidFill>
              <a:latin typeface="Montserrat"/>
              <a:ea typeface="Montserrat"/>
              <a:cs typeface="Montserrat"/>
              <a:sym typeface="Montserrat"/>
            </a:endParaRPr>
          </a:p>
        </p:txBody>
      </p:sp>
      <p:sp>
        <p:nvSpPr>
          <p:cNvPr id="330" name="Google Shape;330;p25"/>
          <p:cNvSpPr txBox="1"/>
          <p:nvPr>
            <p:ph type="title"/>
          </p:nvPr>
        </p:nvSpPr>
        <p:spPr>
          <a:xfrm>
            <a:off x="60813" y="3429538"/>
            <a:ext cx="1943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Needs &amp; Expectation</a:t>
            </a:r>
            <a:endParaRPr b="1" sz="1200">
              <a:solidFill>
                <a:srgbClr val="0084B5"/>
              </a:solidFill>
              <a:latin typeface="Montserrat"/>
              <a:ea typeface="Montserrat"/>
              <a:cs typeface="Montserrat"/>
              <a:sym typeface="Montserrat"/>
            </a:endParaRPr>
          </a:p>
        </p:txBody>
      </p:sp>
      <p:sp>
        <p:nvSpPr>
          <p:cNvPr id="331" name="Google Shape;331;p25"/>
          <p:cNvSpPr txBox="1"/>
          <p:nvPr>
            <p:ph type="title"/>
          </p:nvPr>
        </p:nvSpPr>
        <p:spPr>
          <a:xfrm>
            <a:off x="4572000" y="2400300"/>
            <a:ext cx="2550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Challenge &amp; Pain Points</a:t>
            </a:r>
            <a:endParaRPr b="1" sz="1200">
              <a:solidFill>
                <a:srgbClr val="0084B5"/>
              </a:solidFill>
              <a:latin typeface="Montserrat"/>
              <a:ea typeface="Montserrat"/>
              <a:cs typeface="Montserrat"/>
              <a:sym typeface="Montserrat"/>
            </a:endParaRPr>
          </a:p>
        </p:txBody>
      </p:sp>
      <p:sp>
        <p:nvSpPr>
          <p:cNvPr id="332" name="Google Shape;332;p25"/>
          <p:cNvSpPr txBox="1"/>
          <p:nvPr>
            <p:ph type="title"/>
          </p:nvPr>
        </p:nvSpPr>
        <p:spPr>
          <a:xfrm>
            <a:off x="60825" y="2200500"/>
            <a:ext cx="2517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Motivation, Interest &amp; Goals</a:t>
            </a:r>
            <a:endParaRPr b="1" sz="1200">
              <a:solidFill>
                <a:srgbClr val="0084B5"/>
              </a:solidFill>
              <a:latin typeface="Montserrat"/>
              <a:ea typeface="Montserrat"/>
              <a:cs typeface="Montserrat"/>
              <a:sym typeface="Montserrat"/>
            </a:endParaRPr>
          </a:p>
        </p:txBody>
      </p:sp>
      <p:sp>
        <p:nvSpPr>
          <p:cNvPr id="333" name="Google Shape;333;p25"/>
          <p:cNvSpPr txBox="1"/>
          <p:nvPr/>
        </p:nvSpPr>
        <p:spPr>
          <a:xfrm>
            <a:off x="4623500" y="781800"/>
            <a:ext cx="4437000" cy="154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 diligent worker</a:t>
            </a:r>
            <a:r>
              <a:rPr lang="en" sz="1000">
                <a:solidFill>
                  <a:schemeClr val="dk1"/>
                </a:solidFill>
                <a:latin typeface="Montserrat"/>
                <a:ea typeface="Montserrat"/>
                <a:cs typeface="Montserrat"/>
                <a:sym typeface="Montserrat"/>
              </a:rPr>
              <a:t>, a person who steadily climbing position in private sector. </a:t>
            </a:r>
            <a:r>
              <a:rPr b="1" lang="en" sz="1000">
                <a:solidFill>
                  <a:schemeClr val="dk1"/>
                </a:solidFill>
                <a:latin typeface="Montserrat"/>
                <a:ea typeface="Montserrat"/>
                <a:cs typeface="Montserrat"/>
                <a:sym typeface="Montserrat"/>
              </a:rPr>
              <a:t>Convenient seeker</a:t>
            </a:r>
            <a:r>
              <a:rPr lang="en" sz="1000">
                <a:solidFill>
                  <a:schemeClr val="dk1"/>
                </a:solidFill>
                <a:latin typeface="Montserrat"/>
                <a:ea typeface="Montserrat"/>
                <a:cs typeface="Montserrat"/>
                <a:sym typeface="Montserrat"/>
              </a:rPr>
              <a:t>, usually using previous event as reference for acting in upcoming event, a data minded person with work ethic on reflecting any action with previous event before. </a:t>
            </a:r>
            <a:r>
              <a:rPr b="1" lang="en" sz="1000">
                <a:solidFill>
                  <a:schemeClr val="dk1"/>
                </a:solidFill>
                <a:latin typeface="Montserrat"/>
                <a:ea typeface="Montserrat"/>
                <a:cs typeface="Montserrat"/>
                <a:sym typeface="Montserrat"/>
              </a:rPr>
              <a:t>Mostly they are married </a:t>
            </a:r>
            <a:r>
              <a:rPr lang="en" sz="1000">
                <a:solidFill>
                  <a:schemeClr val="dk1"/>
                </a:solidFill>
                <a:latin typeface="Montserrat"/>
                <a:ea typeface="Montserrat"/>
                <a:cs typeface="Montserrat"/>
                <a:sym typeface="Montserrat"/>
              </a:rPr>
              <a:t> in this group age, where due to responsibility they weight they tend to take it on small step and steady. Try to keep the it convenient since the goal is to “how to take care this family in upcoming years”. They spent minimum time to know on new things that they do</a:t>
            </a:r>
            <a:endParaRPr sz="1000">
              <a:solidFill>
                <a:schemeClr val="dk1"/>
              </a:solidFill>
              <a:latin typeface="Montserrat"/>
              <a:ea typeface="Montserrat"/>
              <a:cs typeface="Montserrat"/>
              <a:sym typeface="Montserrat"/>
            </a:endParaRPr>
          </a:p>
        </p:txBody>
      </p:sp>
      <p:sp>
        <p:nvSpPr>
          <p:cNvPr id="334" name="Google Shape;334;p25"/>
          <p:cNvSpPr txBox="1"/>
          <p:nvPr/>
        </p:nvSpPr>
        <p:spPr>
          <a:xfrm>
            <a:off x="99350" y="2543400"/>
            <a:ext cx="4400100" cy="95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increase savings</a:t>
            </a:r>
            <a:r>
              <a:rPr lang="en" sz="1000">
                <a:solidFill>
                  <a:schemeClr val="dk1"/>
                </a:solidFill>
                <a:latin typeface="Montserrat"/>
                <a:ea typeface="Montserrat"/>
                <a:cs typeface="Montserrat"/>
                <a:sym typeface="Montserrat"/>
              </a:rPr>
              <a:t>, due to limited fund</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Investment diversification </a:t>
            </a:r>
            <a:r>
              <a:rPr lang="en" sz="1000">
                <a:solidFill>
                  <a:schemeClr val="dk1"/>
                </a:solidFill>
                <a:latin typeface="Montserrat"/>
                <a:ea typeface="Montserrat"/>
                <a:cs typeface="Montserrat"/>
                <a:sym typeface="Montserrat"/>
              </a:rPr>
              <a:t>to have extra savings for later date and family</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Interest in steady portfolio</a:t>
            </a:r>
            <a:r>
              <a:rPr lang="en" sz="1000">
                <a:solidFill>
                  <a:schemeClr val="dk1"/>
                </a:solidFill>
                <a:latin typeface="Montserrat"/>
                <a:ea typeface="Montserrat"/>
                <a:cs typeface="Montserrat"/>
                <a:sym typeface="Montserrat"/>
              </a:rPr>
              <a:t> growth for another 5-10 years to sustain the lifestyle and family needs with stagnant income</a:t>
            </a:r>
            <a:endParaRPr sz="1000">
              <a:solidFill>
                <a:schemeClr val="dk1"/>
              </a:solidFill>
              <a:latin typeface="Montserrat"/>
              <a:ea typeface="Montserrat"/>
              <a:cs typeface="Montserrat"/>
              <a:sym typeface="Montserrat"/>
            </a:endParaRPr>
          </a:p>
        </p:txBody>
      </p:sp>
      <p:sp>
        <p:nvSpPr>
          <p:cNvPr id="335" name="Google Shape;335;p25"/>
          <p:cNvSpPr txBox="1"/>
          <p:nvPr/>
        </p:nvSpPr>
        <p:spPr>
          <a:xfrm>
            <a:off x="79188" y="3731950"/>
            <a:ext cx="8985600" cy="1154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For their </a:t>
            </a:r>
            <a:r>
              <a:rPr b="1" lang="en" sz="1000">
                <a:solidFill>
                  <a:schemeClr val="dk1"/>
                </a:solidFill>
                <a:latin typeface="Montserrat"/>
                <a:ea typeface="Montserrat"/>
                <a:cs typeface="Montserrat"/>
                <a:sym typeface="Montserrat"/>
              </a:rPr>
              <a:t>convenience</a:t>
            </a:r>
            <a:r>
              <a:rPr lang="en" sz="1000">
                <a:solidFill>
                  <a:schemeClr val="dk1"/>
                </a:solidFill>
                <a:latin typeface="Montserrat"/>
                <a:ea typeface="Montserrat"/>
                <a:cs typeface="Montserrat"/>
                <a:sym typeface="Montserrat"/>
              </a:rPr>
              <a:t> they always look backwards to </a:t>
            </a:r>
            <a:r>
              <a:rPr lang="en" sz="1000">
                <a:solidFill>
                  <a:schemeClr val="dk1"/>
                </a:solidFill>
                <a:latin typeface="Montserrat"/>
                <a:ea typeface="Montserrat"/>
                <a:cs typeface="Montserrat"/>
                <a:sym typeface="Montserrat"/>
              </a:rPr>
              <a:t>justify</a:t>
            </a:r>
            <a:r>
              <a:rPr lang="en" sz="1000">
                <a:solidFill>
                  <a:schemeClr val="dk1"/>
                </a:solidFill>
                <a:latin typeface="Montserrat"/>
                <a:ea typeface="Montserrat"/>
                <a:cs typeface="Montserrat"/>
                <a:sym typeface="Montserrat"/>
              </a:rPr>
              <a:t> their </a:t>
            </a:r>
            <a:r>
              <a:rPr lang="en" sz="1000">
                <a:solidFill>
                  <a:schemeClr val="dk1"/>
                </a:solidFill>
                <a:latin typeface="Montserrat"/>
                <a:ea typeface="Montserrat"/>
                <a:cs typeface="Montserrat"/>
                <a:sym typeface="Montserrat"/>
              </a:rPr>
              <a:t>decision</a:t>
            </a:r>
            <a:r>
              <a:rPr lang="en" sz="1000">
                <a:solidFill>
                  <a:schemeClr val="dk1"/>
                </a:solidFill>
                <a:latin typeface="Montserrat"/>
                <a:ea typeface="Montserrat"/>
                <a:cs typeface="Montserrat"/>
                <a:sym typeface="Montserrat"/>
              </a:rPr>
              <a:t> and thus we group them as a speculator. Solely focus on historical event and minimum effort knowing the industry. He reads blogs, follows financial influencers, and attends webinars on investment strategies with mid-low effort</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lang="en" sz="1100">
                <a:solidFill>
                  <a:schemeClr val="dk1"/>
                </a:solidFill>
                <a:latin typeface="Montserrat"/>
                <a:ea typeface="Montserrat"/>
                <a:cs typeface="Montserrat"/>
                <a:sym typeface="Montserrat"/>
              </a:rPr>
              <a:t>He's a </a:t>
            </a:r>
            <a:r>
              <a:rPr b="1" lang="en" sz="1100">
                <a:solidFill>
                  <a:schemeClr val="dk1"/>
                </a:solidFill>
                <a:latin typeface="Montserrat"/>
                <a:ea typeface="Montserrat"/>
                <a:cs typeface="Montserrat"/>
                <a:sym typeface="Montserrat"/>
              </a:rPr>
              <a:t>moderate investor</a:t>
            </a:r>
            <a:r>
              <a:rPr lang="en" sz="1100">
                <a:solidFill>
                  <a:schemeClr val="dk1"/>
                </a:solidFill>
                <a:latin typeface="Montserrat"/>
                <a:ea typeface="Montserrat"/>
                <a:cs typeface="Montserrat"/>
                <a:sym typeface="Montserrat"/>
              </a:rPr>
              <a:t>, allocating a portion of his monthly income to crypto, with a goal of growing his portfolio over time.</a:t>
            </a:r>
            <a:endParaRPr sz="1100">
              <a:solidFill>
                <a:schemeClr val="dk1"/>
              </a:solidFill>
              <a:latin typeface="Montserrat"/>
              <a:ea typeface="Montserrat"/>
              <a:cs typeface="Montserrat"/>
              <a:sym typeface="Montserrat"/>
            </a:endParaRPr>
          </a:p>
          <a:p>
            <a:pPr indent="-127000" lvl="0" marL="17145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Any effort revolves around their </a:t>
            </a:r>
            <a:r>
              <a:rPr b="1" lang="en" sz="1100">
                <a:solidFill>
                  <a:schemeClr val="dk1"/>
                </a:solidFill>
                <a:latin typeface="Montserrat"/>
                <a:ea typeface="Montserrat"/>
                <a:cs typeface="Montserrat"/>
                <a:sym typeface="Montserrat"/>
              </a:rPr>
              <a:t>comfort zone</a:t>
            </a:r>
            <a:r>
              <a:rPr lang="en" sz="1100">
                <a:solidFill>
                  <a:schemeClr val="dk1"/>
                </a:solidFill>
                <a:latin typeface="Montserrat"/>
                <a:ea typeface="Montserrat"/>
                <a:cs typeface="Montserrat"/>
                <a:sym typeface="Montserrat"/>
              </a:rPr>
              <a:t> will be the driven factor for this segment will be take care of.</a:t>
            </a:r>
            <a:endParaRPr sz="1100">
              <a:solidFill>
                <a:schemeClr val="dk1"/>
              </a:solidFill>
              <a:latin typeface="Montserrat"/>
              <a:ea typeface="Montserrat"/>
              <a:cs typeface="Montserrat"/>
              <a:sym typeface="Montserrat"/>
            </a:endParaRPr>
          </a:p>
        </p:txBody>
      </p:sp>
      <p:sp>
        <p:nvSpPr>
          <p:cNvPr id="336" name="Google Shape;336;p25"/>
          <p:cNvSpPr txBox="1"/>
          <p:nvPr/>
        </p:nvSpPr>
        <p:spPr>
          <a:xfrm>
            <a:off x="4641950" y="2745100"/>
            <a:ext cx="4400100" cy="800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Limited Investment Funds</a:t>
            </a:r>
            <a:r>
              <a:rPr lang="en" sz="1000">
                <a:solidFill>
                  <a:schemeClr val="dk1"/>
                </a:solidFill>
                <a:latin typeface="Montserrat"/>
                <a:ea typeface="Montserrat"/>
                <a:cs typeface="Montserrat"/>
                <a:sym typeface="Montserrat"/>
              </a:rPr>
              <a:t>, need to works with a more limited budget due to balancing living expenses as well</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Time Constraint,</a:t>
            </a:r>
            <a:r>
              <a:rPr lang="en" sz="1000">
                <a:solidFill>
                  <a:schemeClr val="dk1"/>
                </a:solidFill>
                <a:latin typeface="Montserrat"/>
                <a:ea typeface="Montserrat"/>
                <a:cs typeface="Montserrat"/>
                <a:sym typeface="Montserrat"/>
              </a:rPr>
              <a:t> expect monthly allocation to avoid minimum time needed to </a:t>
            </a:r>
            <a:r>
              <a:rPr lang="en" sz="1000">
                <a:solidFill>
                  <a:schemeClr val="dk1"/>
                </a:solidFill>
                <a:latin typeface="Montserrat"/>
                <a:ea typeface="Montserrat"/>
                <a:cs typeface="Montserrat"/>
                <a:sym typeface="Montserrat"/>
              </a:rPr>
              <a:t>allocate</a:t>
            </a:r>
            <a:r>
              <a:rPr lang="en" sz="1000">
                <a:solidFill>
                  <a:schemeClr val="dk1"/>
                </a:solidFill>
                <a:latin typeface="Montserrat"/>
                <a:ea typeface="Montserrat"/>
                <a:cs typeface="Montserrat"/>
                <a:sym typeface="Montserrat"/>
              </a:rPr>
              <a:t> the investment fund.</a:t>
            </a:r>
            <a:endParaRPr sz="1000">
              <a:solidFill>
                <a:schemeClr val="dk1"/>
              </a:solidFill>
              <a:latin typeface="Montserrat"/>
              <a:ea typeface="Montserrat"/>
              <a:cs typeface="Montserrat"/>
              <a:sym typeface="Montserrat"/>
            </a:endParaRPr>
          </a:p>
        </p:txBody>
      </p:sp>
      <p:sp>
        <p:nvSpPr>
          <p:cNvPr id="337" name="Google Shape;337;p25"/>
          <p:cNvSpPr txBox="1"/>
          <p:nvPr/>
        </p:nvSpPr>
        <p:spPr>
          <a:xfrm>
            <a:off x="113475" y="801900"/>
            <a:ext cx="4437000" cy="1416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Age</a:t>
            </a:r>
            <a:r>
              <a:rPr lang="en" sz="1000">
                <a:solidFill>
                  <a:schemeClr val="dk1"/>
                </a:solidFill>
                <a:latin typeface="Montserrat"/>
                <a:ea typeface="Montserrat"/>
                <a:cs typeface="Montserrat"/>
                <a:sym typeface="Montserrat"/>
              </a:rPr>
              <a:t>: 30 years old (fits within the dominant </a:t>
            </a:r>
            <a:r>
              <a:rPr b="1" lang="en" sz="1000">
                <a:solidFill>
                  <a:schemeClr val="dk1"/>
                </a:solidFill>
                <a:latin typeface="Montserrat"/>
                <a:ea typeface="Montserrat"/>
                <a:cs typeface="Montserrat"/>
                <a:sym typeface="Montserrat"/>
              </a:rPr>
              <a:t>26-35 age group</a:t>
            </a:r>
            <a:r>
              <a:rPr lang="en" sz="1000">
                <a:solidFill>
                  <a:schemeClr val="dk1"/>
                </a:solidFill>
                <a:latin typeface="Montserrat"/>
                <a:ea typeface="Montserrat"/>
                <a:cs typeface="Montserrat"/>
                <a:sym typeface="Montserrat"/>
              </a:rPr>
              <a:t>) from highest growth and total population</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Gender</a:t>
            </a:r>
            <a:r>
              <a:rPr lang="en" sz="1000">
                <a:solidFill>
                  <a:schemeClr val="dk1"/>
                </a:solidFill>
                <a:latin typeface="Montserrat"/>
                <a:ea typeface="Montserrat"/>
                <a:cs typeface="Montserrat"/>
                <a:sym typeface="Montserrat"/>
              </a:rPr>
              <a:t>: Male (reflecting the </a:t>
            </a:r>
            <a:r>
              <a:rPr b="1" lang="en" sz="1000">
                <a:solidFill>
                  <a:schemeClr val="dk1"/>
                </a:solidFill>
                <a:latin typeface="Montserrat"/>
                <a:ea typeface="Montserrat"/>
                <a:cs typeface="Montserrat"/>
                <a:sym typeface="Montserrat"/>
              </a:rPr>
              <a:t>87.46% male dominance</a:t>
            </a:r>
            <a:r>
              <a:rPr lang="en" sz="1000">
                <a:solidFill>
                  <a:schemeClr val="dk1"/>
                </a:solidFill>
                <a:latin typeface="Montserrat"/>
                <a:ea typeface="Montserrat"/>
                <a:cs typeface="Montserrat"/>
                <a:sym typeface="Montserrat"/>
              </a:rPr>
              <a:t> in this segment).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Location</a:t>
            </a:r>
            <a:r>
              <a:rPr lang="en" sz="1000">
                <a:solidFill>
                  <a:schemeClr val="dk1"/>
                </a:solidFill>
                <a:latin typeface="Montserrat"/>
                <a:ea typeface="Montserrat"/>
                <a:cs typeface="Montserrat"/>
                <a:sym typeface="Montserrat"/>
              </a:rPr>
              <a:t>: Bandung, Bekasi and Bogor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Occupation</a:t>
            </a:r>
            <a:r>
              <a:rPr lang="en" sz="1000">
                <a:solidFill>
                  <a:schemeClr val="dk1"/>
                </a:solidFill>
                <a:latin typeface="Montserrat"/>
                <a:ea typeface="Montserrat"/>
                <a:cs typeface="Montserrat"/>
                <a:sym typeface="Montserrat"/>
              </a:rPr>
              <a:t>: Outlet Manager,  </a:t>
            </a:r>
            <a:r>
              <a:rPr lang="en" sz="1000">
                <a:solidFill>
                  <a:schemeClr val="dk1"/>
                </a:solidFill>
                <a:latin typeface="Montserrat"/>
                <a:ea typeface="Montserrat"/>
                <a:cs typeface="Montserrat"/>
                <a:sym typeface="Montserrat"/>
              </a:rPr>
              <a:t>supervisor</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level in company located in Jakarta</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Income Level</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middle class with stable salary (IDR 10 Mio/Month)</a:t>
            </a:r>
            <a:endParaRPr sz="1000">
              <a:solidFill>
                <a:schemeClr val="dk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p26"/>
          <p:cNvSpPr txBox="1"/>
          <p:nvPr/>
        </p:nvSpPr>
        <p:spPr>
          <a:xfrm>
            <a:off x="6758725" y="4208550"/>
            <a:ext cx="2145900" cy="739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The New to Market (&lt; 6 months) traders (Pelajar &amp; Mahasiswa) are trade least with the smaller basket volume  compare to common users, the number from 2023 - 2024 are grow quite significantly in trade volume in this segment</a:t>
            </a:r>
            <a:endParaRPr sz="700">
              <a:solidFill>
                <a:schemeClr val="dk2"/>
              </a:solidFill>
            </a:endParaRPr>
          </a:p>
        </p:txBody>
      </p:sp>
      <p:sp>
        <p:nvSpPr>
          <p:cNvPr id="343" name="Google Shape;343;p26"/>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0084B5"/>
                </a:solidFill>
                <a:latin typeface="Montserrat"/>
                <a:ea typeface="Montserrat"/>
                <a:cs typeface="Montserrat"/>
                <a:sym typeface="Montserrat"/>
              </a:rPr>
              <a:t>New to Market</a:t>
            </a:r>
            <a:r>
              <a:rPr b="1" lang="en" sz="1400">
                <a:solidFill>
                  <a:srgbClr val="0084B5"/>
                </a:solidFill>
                <a:latin typeface="Montserrat"/>
                <a:ea typeface="Montserrat"/>
                <a:cs typeface="Montserrat"/>
                <a:sym typeface="Montserrat"/>
              </a:rPr>
              <a:t> 2023 vs New to Market 2024 (Regist &lt; 6 months)</a:t>
            </a:r>
            <a:endParaRPr b="1" sz="1400">
              <a:solidFill>
                <a:srgbClr val="0084B5"/>
              </a:solidFill>
              <a:latin typeface="Montserrat"/>
              <a:ea typeface="Montserrat"/>
              <a:cs typeface="Montserrat"/>
              <a:sym typeface="Montserrat"/>
            </a:endParaRPr>
          </a:p>
        </p:txBody>
      </p:sp>
      <p:pic>
        <p:nvPicPr>
          <p:cNvPr id="344" name="Google Shape;344;p26"/>
          <p:cNvPicPr preferRelativeResize="0"/>
          <p:nvPr/>
        </p:nvPicPr>
        <p:blipFill rotWithShape="1">
          <a:blip r:embed="rId4">
            <a:alphaModFix/>
          </a:blip>
          <a:srcRect b="0" l="29" r="29" t="0"/>
          <a:stretch/>
        </p:blipFill>
        <p:spPr>
          <a:xfrm>
            <a:off x="421463" y="968825"/>
            <a:ext cx="2493724" cy="1662475"/>
          </a:xfrm>
          <a:prstGeom prst="rect">
            <a:avLst/>
          </a:prstGeom>
          <a:noFill/>
          <a:ln>
            <a:noFill/>
          </a:ln>
        </p:spPr>
      </p:pic>
      <p:sp>
        <p:nvSpPr>
          <p:cNvPr id="345" name="Google Shape;345;p26"/>
          <p:cNvSpPr txBox="1"/>
          <p:nvPr/>
        </p:nvSpPr>
        <p:spPr>
          <a:xfrm>
            <a:off x="3083100" y="7108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rPr>
              <a:t>2023 New to Market (&lt; 6 months): </a:t>
            </a:r>
            <a:r>
              <a:rPr b="1" lang="en" sz="800">
                <a:solidFill>
                  <a:schemeClr val="dk2"/>
                </a:solidFill>
              </a:rPr>
              <a:t>39,069</a:t>
            </a:r>
            <a:r>
              <a:rPr b="1" lang="en" sz="800">
                <a:solidFill>
                  <a:schemeClr val="dk2"/>
                </a:solidFill>
              </a:rPr>
              <a:t> Traders</a:t>
            </a:r>
            <a:endParaRPr b="1" sz="800">
              <a:solidFill>
                <a:schemeClr val="dk2"/>
              </a:solidFill>
            </a:endParaRPr>
          </a:p>
        </p:txBody>
      </p:sp>
      <p:sp>
        <p:nvSpPr>
          <p:cNvPr id="346" name="Google Shape;346;p26"/>
          <p:cNvSpPr txBox="1"/>
          <p:nvPr/>
        </p:nvSpPr>
        <p:spPr>
          <a:xfrm>
            <a:off x="3128575" y="1413075"/>
            <a:ext cx="263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rPr>
              <a:t>2024 </a:t>
            </a:r>
            <a:r>
              <a:rPr b="1" lang="en" sz="800">
                <a:solidFill>
                  <a:schemeClr val="dk2"/>
                </a:solidFill>
              </a:rPr>
              <a:t>New to Market (&lt; 6 months)</a:t>
            </a:r>
            <a:r>
              <a:rPr b="1" lang="en" sz="800">
                <a:solidFill>
                  <a:schemeClr val="dk2"/>
                </a:solidFill>
              </a:rPr>
              <a:t>: </a:t>
            </a:r>
            <a:r>
              <a:rPr b="1" lang="en" sz="800">
                <a:solidFill>
                  <a:schemeClr val="dk2"/>
                </a:solidFill>
              </a:rPr>
              <a:t>158,416</a:t>
            </a:r>
            <a:r>
              <a:rPr b="1" lang="en" sz="800">
                <a:solidFill>
                  <a:schemeClr val="dk2"/>
                </a:solidFill>
              </a:rPr>
              <a:t> Traders</a:t>
            </a:r>
            <a:endParaRPr b="1" sz="800">
              <a:solidFill>
                <a:schemeClr val="dk2"/>
              </a:solidFill>
            </a:endParaRPr>
          </a:p>
        </p:txBody>
      </p:sp>
      <p:sp>
        <p:nvSpPr>
          <p:cNvPr id="347" name="Google Shape;347;p26"/>
          <p:cNvSpPr txBox="1"/>
          <p:nvPr/>
        </p:nvSpPr>
        <p:spPr>
          <a:xfrm>
            <a:off x="3558525" y="1007350"/>
            <a:ext cx="12660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⬆305,47%</a:t>
            </a:r>
            <a:endParaRPr b="1" sz="1600">
              <a:solidFill>
                <a:srgbClr val="6AA84F"/>
              </a:solidFill>
            </a:endParaRPr>
          </a:p>
        </p:txBody>
      </p:sp>
      <p:sp>
        <p:nvSpPr>
          <p:cNvPr id="348" name="Google Shape;348;p26"/>
          <p:cNvSpPr txBox="1"/>
          <p:nvPr/>
        </p:nvSpPr>
        <p:spPr>
          <a:xfrm>
            <a:off x="403988" y="62387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Pelajar &amp; Mahasiswa</a:t>
            </a:r>
            <a:endParaRPr b="1" sz="1000">
              <a:solidFill>
                <a:schemeClr val="dk2"/>
              </a:solidFill>
            </a:endParaRPr>
          </a:p>
        </p:txBody>
      </p:sp>
      <p:sp>
        <p:nvSpPr>
          <p:cNvPr id="349" name="Google Shape;349;p26"/>
          <p:cNvSpPr txBox="1"/>
          <p:nvPr/>
        </p:nvSpPr>
        <p:spPr>
          <a:xfrm>
            <a:off x="2914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Common Traders Age Group 2023 &amp; 2024</a:t>
            </a:r>
            <a:endParaRPr b="1" sz="1000">
              <a:solidFill>
                <a:schemeClr val="dk2"/>
              </a:solidFill>
            </a:endParaRPr>
          </a:p>
        </p:txBody>
      </p:sp>
      <p:sp>
        <p:nvSpPr>
          <p:cNvPr id="350" name="Google Shape;350;p26"/>
          <p:cNvSpPr txBox="1"/>
          <p:nvPr/>
        </p:nvSpPr>
        <p:spPr>
          <a:xfrm>
            <a:off x="304800" y="3063200"/>
            <a:ext cx="27537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Age group of 0-18 &amp; 19-25 are dominating in this segment. In 2023 and 2024, Men dominating by 89.71% in this segment, meanwhile in 2024, it slightly decreased to 88.71%</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graphicFrame>
        <p:nvGraphicFramePr>
          <p:cNvPr id="351" name="Google Shape;351;p26"/>
          <p:cNvGraphicFramePr/>
          <p:nvPr/>
        </p:nvGraphicFramePr>
        <p:xfrm>
          <a:off x="357000" y="3815100"/>
          <a:ext cx="3000000" cy="3000000"/>
        </p:xfrm>
        <a:graphic>
          <a:graphicData uri="http://schemas.openxmlformats.org/drawingml/2006/table">
            <a:tbl>
              <a:tblPr>
                <a:noFill/>
                <a:tableStyleId>{0287243F-39C1-4460-8421-3307866EDBE6}</a:tableStyleId>
              </a:tblPr>
              <a:tblGrid>
                <a:gridCol w="639550"/>
                <a:gridCol w="639550"/>
                <a:gridCol w="639550"/>
                <a:gridCol w="639550"/>
              </a:tblGrid>
              <a:tr h="140925">
                <a:tc gridSpan="3">
                  <a:txBody>
                    <a:bodyPr/>
                    <a:lstStyle/>
                    <a:p>
                      <a:pPr indent="0" lvl="0" marL="0" rtl="0" algn="ctr">
                        <a:lnSpc>
                          <a:spcPct val="115000"/>
                        </a:lnSpc>
                        <a:spcBef>
                          <a:spcPts val="0"/>
                        </a:spcBef>
                        <a:spcAft>
                          <a:spcPts val="0"/>
                        </a:spcAft>
                        <a:buNone/>
                      </a:pPr>
                      <a:r>
                        <a:rPr b="1" lang="en" sz="600"/>
                        <a:t>Number of Traders (Pelajar &amp; Mahasiswa)</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rowSpan="2">
                  <a:txBody>
                    <a:bodyPr/>
                    <a:lstStyle/>
                    <a:p>
                      <a:pPr indent="0" lvl="0" marL="0" rtl="0" algn="ctr">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140925">
                <a:tc>
                  <a:txBody>
                    <a:bodyPr/>
                    <a:lstStyle/>
                    <a:p>
                      <a:pPr indent="0" lvl="0" marL="0" rtl="0" algn="ctr">
                        <a:lnSpc>
                          <a:spcPct val="115000"/>
                        </a:lnSpc>
                        <a:spcBef>
                          <a:spcPts val="0"/>
                        </a:spcBef>
                        <a:spcAft>
                          <a:spcPts val="0"/>
                        </a:spcAft>
                        <a:buNone/>
                      </a:pPr>
                      <a:r>
                        <a:rPr b="1" lang="en" sz="600"/>
                        <a:t>Age Group</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vMerge="1"/>
              </a:tr>
              <a:tr h="140925">
                <a:tc>
                  <a:txBody>
                    <a:bodyPr/>
                    <a:lstStyle/>
                    <a:p>
                      <a:pPr indent="0" lvl="0" marL="0" rtl="0" algn="ctr">
                        <a:lnSpc>
                          <a:spcPct val="115000"/>
                        </a:lnSpc>
                        <a:spcBef>
                          <a:spcPts val="0"/>
                        </a:spcBef>
                        <a:spcAft>
                          <a:spcPts val="0"/>
                        </a:spcAft>
                        <a:buNone/>
                      </a:pPr>
                      <a:r>
                        <a:rPr lang="en" sz="600"/>
                        <a:t>0-18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2,543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3,422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34.56%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solidFill>
                            <a:schemeClr val="dk1"/>
                          </a:solidFill>
                        </a:rPr>
                        <a:t>19</a:t>
                      </a:r>
                      <a:r>
                        <a:rPr lang="en" sz="600">
                          <a:solidFill>
                            <a:schemeClr val="dk1"/>
                          </a:solidFill>
                        </a:rPr>
                        <a:t>-25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8,155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41,210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solidFill>
                            <a:schemeClr val="dk1"/>
                          </a:solidFill>
                        </a:rPr>
                        <a:t>405.33%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solidFill>
                            <a:schemeClr val="dk1"/>
                          </a:solidFill>
                        </a:rPr>
                        <a:t>25-35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674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3,462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solidFill>
                            <a:schemeClr val="dk1"/>
                          </a:solidFill>
                        </a:rPr>
                        <a:t>413.64%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352" name="Google Shape;352;p26"/>
          <p:cNvSpPr txBox="1"/>
          <p:nvPr/>
        </p:nvSpPr>
        <p:spPr>
          <a:xfrm>
            <a:off x="3159000" y="1776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353" name="Google Shape;353;p26"/>
          <p:cNvPicPr preferRelativeResize="0"/>
          <p:nvPr/>
        </p:nvPicPr>
        <p:blipFill>
          <a:blip r:embed="rId5">
            <a:alphaModFix/>
          </a:blip>
          <a:stretch>
            <a:fillRect/>
          </a:stretch>
        </p:blipFill>
        <p:spPr>
          <a:xfrm>
            <a:off x="3111500" y="3957963"/>
            <a:ext cx="1681325" cy="939725"/>
          </a:xfrm>
          <a:prstGeom prst="rect">
            <a:avLst/>
          </a:prstGeom>
          <a:noFill/>
          <a:ln>
            <a:noFill/>
          </a:ln>
        </p:spPr>
      </p:pic>
      <p:sp>
        <p:nvSpPr>
          <p:cNvPr id="354" name="Google Shape;354;p26"/>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9,119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366,821</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355" name="Google Shape;355;p26"/>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62,144</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281,831</a:t>
            </a:r>
            <a:endParaRPr sz="700">
              <a:solidFill>
                <a:schemeClr val="dk2"/>
              </a:solidFill>
            </a:endParaRPr>
          </a:p>
        </p:txBody>
      </p:sp>
      <p:sp>
        <p:nvSpPr>
          <p:cNvPr id="356" name="Google Shape;356;p26"/>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6,624</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732,837</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357" name="Google Shape;357;p26"/>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34,294</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542,095</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358" name="Google Shape;358;p26"/>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12,771</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973,718</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359" name="Google Shape;359;p26"/>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23,609</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1,779,605</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360" name="Google Shape;360;p26"/>
          <p:cNvPicPr preferRelativeResize="0"/>
          <p:nvPr/>
        </p:nvPicPr>
        <p:blipFill rotWithShape="1">
          <a:blip r:embed="rId6">
            <a:alphaModFix/>
          </a:blip>
          <a:srcRect b="5666" l="0" r="0" t="5657"/>
          <a:stretch/>
        </p:blipFill>
        <p:spPr>
          <a:xfrm>
            <a:off x="6907075" y="163900"/>
            <a:ext cx="1849201" cy="1293136"/>
          </a:xfrm>
          <a:prstGeom prst="rect">
            <a:avLst/>
          </a:prstGeom>
          <a:noFill/>
          <a:ln>
            <a:noFill/>
          </a:ln>
        </p:spPr>
      </p:pic>
      <p:sp>
        <p:nvSpPr>
          <p:cNvPr id="361" name="Google Shape;361;p26"/>
          <p:cNvSpPr txBox="1"/>
          <p:nvPr/>
        </p:nvSpPr>
        <p:spPr>
          <a:xfrm>
            <a:off x="6863775" y="1564713"/>
            <a:ext cx="1935900" cy="1293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Jawa Barat become a top 1 region for New to Market (&lt; 6 Months) traders with the population of 8,505 traders in 2023, and it grow by 270,35% to 31,499 traders in 2024. </a:t>
            </a:r>
            <a:endParaRPr sz="900">
              <a:solidFill>
                <a:schemeClr val="dk2"/>
              </a:solidFill>
            </a:endParaRPr>
          </a:p>
        </p:txBody>
      </p:sp>
      <p:cxnSp>
        <p:nvCxnSpPr>
          <p:cNvPr id="362" name="Google Shape;362;p26"/>
          <p:cNvCxnSpPr/>
          <p:nvPr/>
        </p:nvCxnSpPr>
        <p:spPr>
          <a:xfrm>
            <a:off x="4594538" y="2519788"/>
            <a:ext cx="293700" cy="300"/>
          </a:xfrm>
          <a:prstGeom prst="straightConnector1">
            <a:avLst/>
          </a:prstGeom>
          <a:noFill/>
          <a:ln cap="flat" cmpd="sng" w="9525">
            <a:solidFill>
              <a:schemeClr val="dk2"/>
            </a:solidFill>
            <a:prstDash val="solid"/>
            <a:round/>
            <a:headEnd len="med" w="med" type="none"/>
            <a:tailEnd len="med" w="med" type="stealth"/>
          </a:ln>
        </p:spPr>
      </p:cxnSp>
      <p:cxnSp>
        <p:nvCxnSpPr>
          <p:cNvPr id="363" name="Google Shape;363;p26"/>
          <p:cNvCxnSpPr/>
          <p:nvPr/>
        </p:nvCxnSpPr>
        <p:spPr>
          <a:xfrm>
            <a:off x="4790413" y="3537675"/>
            <a:ext cx="236400" cy="0"/>
          </a:xfrm>
          <a:prstGeom prst="straightConnector1">
            <a:avLst/>
          </a:prstGeom>
          <a:noFill/>
          <a:ln cap="flat" cmpd="sng" w="9525">
            <a:solidFill>
              <a:schemeClr val="dk2"/>
            </a:solidFill>
            <a:prstDash val="solid"/>
            <a:round/>
            <a:headEnd len="med" w="med" type="none"/>
            <a:tailEnd len="med" w="med" type="stealth"/>
          </a:ln>
        </p:spPr>
      </p:cxnSp>
      <p:cxnSp>
        <p:nvCxnSpPr>
          <p:cNvPr id="364" name="Google Shape;364;p26"/>
          <p:cNvCxnSpPr>
            <a:stCxn id="365"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graphicFrame>
        <p:nvGraphicFramePr>
          <p:cNvPr id="366" name="Google Shape;366;p26"/>
          <p:cNvGraphicFramePr/>
          <p:nvPr/>
        </p:nvGraphicFramePr>
        <p:xfrm>
          <a:off x="6758725" y="2965713"/>
          <a:ext cx="3000000" cy="3000000"/>
        </p:xfrm>
        <a:graphic>
          <a:graphicData uri="http://schemas.openxmlformats.org/drawingml/2006/table">
            <a:tbl>
              <a:tblPr>
                <a:noFill/>
                <a:tableStyleId>{0287243F-39C1-4460-8421-3307866EDBE6}</a:tableStyleId>
              </a:tblPr>
              <a:tblGrid>
                <a:gridCol w="565675"/>
                <a:gridCol w="565675"/>
                <a:gridCol w="565675"/>
                <a:gridCol w="448950"/>
              </a:tblGrid>
              <a:tr h="146075">
                <a:tc gridSpan="4">
                  <a:txBody>
                    <a:bodyPr/>
                    <a:lstStyle/>
                    <a:p>
                      <a:pPr indent="0" lvl="0" marL="0" rtl="0" algn="ctr">
                        <a:lnSpc>
                          <a:spcPct val="115000"/>
                        </a:lnSpc>
                        <a:spcBef>
                          <a:spcPts val="0"/>
                        </a:spcBef>
                        <a:spcAft>
                          <a:spcPts val="0"/>
                        </a:spcAft>
                        <a:buNone/>
                      </a:pPr>
                      <a:r>
                        <a:rPr b="1" lang="en" sz="600"/>
                        <a:t>Trading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2461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246100">
                <a:tc>
                  <a:txBody>
                    <a:bodyPr/>
                    <a:lstStyle/>
                    <a:p>
                      <a:pPr indent="0" lvl="0" marL="0" rtl="0" algn="l">
                        <a:lnSpc>
                          <a:spcPct val="115000"/>
                        </a:lnSpc>
                        <a:spcBef>
                          <a:spcPts val="0"/>
                        </a:spcBef>
                        <a:spcAft>
                          <a:spcPts val="0"/>
                        </a:spcAft>
                        <a:buNone/>
                      </a:pPr>
                      <a:r>
                        <a:rPr lang="en" sz="600"/>
                        <a:t>Trade Frequency (Total)</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149,402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904,082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505.13%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Trade Volume (Total)</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22,300,009,683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119,852,011,084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437.45%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378,651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261,004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31</a:t>
                      </a:r>
                      <a:r>
                        <a:rPr lang="en" sz="600"/>
                        <a:t>.07%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pic>
        <p:nvPicPr>
          <p:cNvPr id="367" name="Google Shape;367;p26"/>
          <p:cNvPicPr preferRelativeResize="0"/>
          <p:nvPr/>
        </p:nvPicPr>
        <p:blipFill>
          <a:blip r:embed="rId7">
            <a:alphaModFix/>
          </a:blip>
          <a:stretch>
            <a:fillRect/>
          </a:stretch>
        </p:blipFill>
        <p:spPr>
          <a:xfrm>
            <a:off x="3581050" y="2050090"/>
            <a:ext cx="930581" cy="939725"/>
          </a:xfrm>
          <a:prstGeom prst="rect">
            <a:avLst/>
          </a:prstGeom>
          <a:noFill/>
          <a:ln>
            <a:noFill/>
          </a:ln>
        </p:spPr>
      </p:pic>
      <p:pic>
        <p:nvPicPr>
          <p:cNvPr id="368" name="Google Shape;368;p26"/>
          <p:cNvPicPr preferRelativeResize="0"/>
          <p:nvPr/>
        </p:nvPicPr>
        <p:blipFill>
          <a:blip r:embed="rId8">
            <a:alphaModFix/>
          </a:blip>
          <a:stretch>
            <a:fillRect/>
          </a:stretch>
        </p:blipFill>
        <p:spPr>
          <a:xfrm>
            <a:off x="3362375" y="3034550"/>
            <a:ext cx="1322875" cy="878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372" name="Shape 372"/>
        <p:cNvGrpSpPr/>
        <p:nvPr/>
      </p:nvGrpSpPr>
      <p:grpSpPr>
        <a:xfrm>
          <a:off x="0" y="0"/>
          <a:ext cx="0" cy="0"/>
          <a:chOff x="0" y="0"/>
          <a:chExt cx="0" cy="0"/>
        </a:xfrm>
      </p:grpSpPr>
      <p:sp>
        <p:nvSpPr>
          <p:cNvPr id="373" name="Google Shape;373;p27"/>
          <p:cNvSpPr txBox="1"/>
          <p:nvPr/>
        </p:nvSpPr>
        <p:spPr>
          <a:xfrm>
            <a:off x="1915400" y="4521925"/>
            <a:ext cx="1017300" cy="57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2"/>
                </a:solidFill>
              </a:rPr>
              <a:t>Source:</a:t>
            </a:r>
            <a:endParaRPr sz="500">
              <a:solidFill>
                <a:schemeClr val="dk2"/>
              </a:solidFill>
            </a:endParaRPr>
          </a:p>
          <a:p>
            <a:pPr indent="0" lvl="0" marL="0" rtl="0" algn="l">
              <a:spcBef>
                <a:spcPts val="0"/>
              </a:spcBef>
              <a:spcAft>
                <a:spcPts val="0"/>
              </a:spcAft>
              <a:buNone/>
            </a:pPr>
            <a:r>
              <a:rPr lang="en" sz="500" u="sng">
                <a:solidFill>
                  <a:schemeClr val="hlink"/>
                </a:solidFill>
                <a:hlinkClick r:id="rId5"/>
              </a:rPr>
              <a:t>Source of Deposit Data</a:t>
            </a:r>
            <a:endParaRPr sz="500">
              <a:solidFill>
                <a:schemeClr val="dk2"/>
              </a:solidFill>
            </a:endParaRPr>
          </a:p>
          <a:p>
            <a:pPr indent="0" lvl="0" marL="0" rtl="0" algn="l">
              <a:spcBef>
                <a:spcPts val="0"/>
              </a:spcBef>
              <a:spcAft>
                <a:spcPts val="0"/>
              </a:spcAft>
              <a:buNone/>
            </a:pPr>
            <a:r>
              <a:rPr lang="en" sz="500" u="sng">
                <a:solidFill>
                  <a:schemeClr val="hlink"/>
                </a:solidFill>
                <a:hlinkClick r:id="rId6"/>
              </a:rPr>
              <a:t>Source of Trade and Location</a:t>
            </a:r>
            <a:endParaRPr sz="500">
              <a:solidFill>
                <a:schemeClr val="dk2"/>
              </a:solidFill>
            </a:endParaRPr>
          </a:p>
          <a:p>
            <a:pPr indent="0" lvl="0" marL="0" rtl="0" algn="l">
              <a:spcBef>
                <a:spcPts val="0"/>
              </a:spcBef>
              <a:spcAft>
                <a:spcPts val="0"/>
              </a:spcAft>
              <a:buNone/>
            </a:pPr>
            <a:r>
              <a:rPr lang="en" sz="500" u="sng">
                <a:solidFill>
                  <a:schemeClr val="hlink"/>
                </a:solidFill>
                <a:hlinkClick r:id="rId7"/>
              </a:rPr>
              <a:t>Source of Age Group</a:t>
            </a:r>
            <a:endParaRPr sz="500">
              <a:solidFill>
                <a:schemeClr val="dk2"/>
              </a:solidFill>
            </a:endParaRPr>
          </a:p>
        </p:txBody>
      </p:sp>
      <p:sp>
        <p:nvSpPr>
          <p:cNvPr id="374" name="Google Shape;374;p27"/>
          <p:cNvSpPr txBox="1"/>
          <p:nvPr>
            <p:ph type="title"/>
          </p:nvPr>
        </p:nvSpPr>
        <p:spPr>
          <a:xfrm>
            <a:off x="304800" y="44625"/>
            <a:ext cx="48240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New to Market 2023 vs New to Market 2024 (&lt;= 12 months)</a:t>
            </a:r>
            <a:endParaRPr b="1" sz="1200">
              <a:solidFill>
                <a:srgbClr val="0084B5"/>
              </a:solidFill>
              <a:latin typeface="Montserrat"/>
              <a:ea typeface="Montserrat"/>
              <a:cs typeface="Montserrat"/>
              <a:sym typeface="Montserrat"/>
            </a:endParaRPr>
          </a:p>
        </p:txBody>
      </p:sp>
      <p:pic>
        <p:nvPicPr>
          <p:cNvPr id="375" name="Google Shape;375;p27"/>
          <p:cNvPicPr preferRelativeResize="0"/>
          <p:nvPr/>
        </p:nvPicPr>
        <p:blipFill rotWithShape="1">
          <a:blip r:embed="rId8">
            <a:alphaModFix/>
          </a:blip>
          <a:srcRect b="0" l="29" r="29" t="0"/>
          <a:stretch/>
        </p:blipFill>
        <p:spPr>
          <a:xfrm>
            <a:off x="421496" y="636200"/>
            <a:ext cx="1619900" cy="1079925"/>
          </a:xfrm>
          <a:prstGeom prst="rect">
            <a:avLst/>
          </a:prstGeom>
          <a:noFill/>
          <a:ln>
            <a:noFill/>
          </a:ln>
        </p:spPr>
      </p:pic>
      <p:sp>
        <p:nvSpPr>
          <p:cNvPr id="376" name="Google Shape;376;p27"/>
          <p:cNvSpPr txBox="1"/>
          <p:nvPr/>
        </p:nvSpPr>
        <p:spPr>
          <a:xfrm>
            <a:off x="3083100" y="7108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2023 Emerging: </a:t>
            </a:r>
            <a:r>
              <a:rPr b="1" lang="en" sz="1000">
                <a:solidFill>
                  <a:schemeClr val="dk2"/>
                </a:solidFill>
              </a:rPr>
              <a:t>65,982</a:t>
            </a:r>
            <a:r>
              <a:rPr b="1" lang="en" sz="1000">
                <a:solidFill>
                  <a:schemeClr val="dk2"/>
                </a:solidFill>
              </a:rPr>
              <a:t> Traders</a:t>
            </a:r>
            <a:endParaRPr b="1" sz="1000">
              <a:solidFill>
                <a:schemeClr val="dk2"/>
              </a:solidFill>
            </a:endParaRPr>
          </a:p>
        </p:txBody>
      </p:sp>
      <p:sp>
        <p:nvSpPr>
          <p:cNvPr id="377" name="Google Shape;377;p27"/>
          <p:cNvSpPr txBox="1"/>
          <p:nvPr/>
        </p:nvSpPr>
        <p:spPr>
          <a:xfrm>
            <a:off x="3128575" y="1413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2024 Emerging: </a:t>
            </a:r>
            <a:r>
              <a:rPr b="1" lang="en" sz="1000">
                <a:solidFill>
                  <a:schemeClr val="dk2"/>
                </a:solidFill>
              </a:rPr>
              <a:t>210,269</a:t>
            </a:r>
            <a:r>
              <a:rPr b="1" lang="en" sz="1000">
                <a:solidFill>
                  <a:schemeClr val="dk2"/>
                </a:solidFill>
              </a:rPr>
              <a:t> Traders</a:t>
            </a:r>
            <a:endParaRPr b="1" sz="1000">
              <a:solidFill>
                <a:schemeClr val="dk2"/>
              </a:solidFill>
            </a:endParaRPr>
          </a:p>
        </p:txBody>
      </p:sp>
      <p:sp>
        <p:nvSpPr>
          <p:cNvPr id="378" name="Google Shape;378;p27"/>
          <p:cNvSpPr txBox="1"/>
          <p:nvPr/>
        </p:nvSpPr>
        <p:spPr>
          <a:xfrm>
            <a:off x="3558525" y="1007350"/>
            <a:ext cx="12660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⬆218,67%</a:t>
            </a:r>
            <a:endParaRPr b="1" sz="1600">
              <a:solidFill>
                <a:srgbClr val="6AA84F"/>
              </a:solidFill>
            </a:endParaRPr>
          </a:p>
        </p:txBody>
      </p:sp>
      <p:sp>
        <p:nvSpPr>
          <p:cNvPr id="379" name="Google Shape;379;p27"/>
          <p:cNvSpPr txBox="1"/>
          <p:nvPr/>
        </p:nvSpPr>
        <p:spPr>
          <a:xfrm>
            <a:off x="371738" y="3358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Pelajar &amp; Mahasiswa</a:t>
            </a:r>
            <a:endParaRPr b="1" sz="1000">
              <a:solidFill>
                <a:schemeClr val="dk2"/>
              </a:solidFill>
            </a:endParaRPr>
          </a:p>
        </p:txBody>
      </p:sp>
      <p:sp>
        <p:nvSpPr>
          <p:cNvPr id="380" name="Google Shape;380;p27"/>
          <p:cNvSpPr txBox="1"/>
          <p:nvPr/>
        </p:nvSpPr>
        <p:spPr>
          <a:xfrm>
            <a:off x="2914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New</a:t>
            </a:r>
            <a:r>
              <a:rPr b="1" lang="en" sz="1000">
                <a:solidFill>
                  <a:schemeClr val="dk2"/>
                </a:solidFill>
              </a:rPr>
              <a:t> Traders Age Group 2023 &amp; 2024</a:t>
            </a:r>
            <a:endParaRPr b="1" sz="1000">
              <a:solidFill>
                <a:schemeClr val="dk2"/>
              </a:solidFill>
            </a:endParaRPr>
          </a:p>
        </p:txBody>
      </p:sp>
      <p:sp>
        <p:nvSpPr>
          <p:cNvPr id="381" name="Google Shape;381;p27"/>
          <p:cNvSpPr txBox="1"/>
          <p:nvPr/>
        </p:nvSpPr>
        <p:spPr>
          <a:xfrm>
            <a:off x="304800" y="3063200"/>
            <a:ext cx="27537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Age group of 0-18, 19-25 &amp; 26-35 are dominating in this segment. In 2023 and 2024, Men dominating by 87.53% in this segment, meanwhile in 2024, it slightly increased to 89.50%</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graphicFrame>
        <p:nvGraphicFramePr>
          <p:cNvPr id="382" name="Google Shape;382;p27"/>
          <p:cNvGraphicFramePr/>
          <p:nvPr/>
        </p:nvGraphicFramePr>
        <p:xfrm>
          <a:off x="357000" y="3815100"/>
          <a:ext cx="3000000" cy="3000000"/>
        </p:xfrm>
        <a:graphic>
          <a:graphicData uri="http://schemas.openxmlformats.org/drawingml/2006/table">
            <a:tbl>
              <a:tblPr>
                <a:noFill/>
                <a:tableStyleId>{0287243F-39C1-4460-8421-3307866EDBE6}</a:tableStyleId>
              </a:tblPr>
              <a:tblGrid>
                <a:gridCol w="639550"/>
                <a:gridCol w="639550"/>
                <a:gridCol w="639550"/>
                <a:gridCol w="639550"/>
              </a:tblGrid>
              <a:tr h="140925">
                <a:tc gridSpan="3">
                  <a:txBody>
                    <a:bodyPr/>
                    <a:lstStyle/>
                    <a:p>
                      <a:pPr indent="0" lvl="0" marL="0" rtl="0" algn="ctr">
                        <a:lnSpc>
                          <a:spcPct val="115000"/>
                        </a:lnSpc>
                        <a:spcBef>
                          <a:spcPts val="0"/>
                        </a:spcBef>
                        <a:spcAft>
                          <a:spcPts val="0"/>
                        </a:spcAft>
                        <a:buNone/>
                      </a:pPr>
                      <a:r>
                        <a:rPr b="1" lang="en" sz="600"/>
                        <a:t>Number of Traders (Pelajar &amp; Mahasiswa)</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rowSpan="2">
                  <a:txBody>
                    <a:bodyPr/>
                    <a:lstStyle/>
                    <a:p>
                      <a:pPr indent="0" lvl="0" marL="0" rtl="0" algn="ctr">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140925">
                <a:tc>
                  <a:txBody>
                    <a:bodyPr/>
                    <a:lstStyle/>
                    <a:p>
                      <a:pPr indent="0" lvl="0" marL="0" rtl="0" algn="ctr">
                        <a:lnSpc>
                          <a:spcPct val="115000"/>
                        </a:lnSpc>
                        <a:spcBef>
                          <a:spcPts val="0"/>
                        </a:spcBef>
                        <a:spcAft>
                          <a:spcPts val="0"/>
                        </a:spcAft>
                        <a:buNone/>
                      </a:pPr>
                      <a:r>
                        <a:rPr b="1" lang="en" sz="600"/>
                        <a:t>Age Group</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vMerge="1"/>
              </a:tr>
              <a:tr h="140925">
                <a:tc>
                  <a:txBody>
                    <a:bodyPr/>
                    <a:lstStyle/>
                    <a:p>
                      <a:pPr indent="0" lvl="0" marL="0" rtl="0" algn="ctr">
                        <a:lnSpc>
                          <a:spcPct val="115000"/>
                        </a:lnSpc>
                        <a:spcBef>
                          <a:spcPts val="0"/>
                        </a:spcBef>
                        <a:spcAft>
                          <a:spcPts val="0"/>
                        </a:spcAft>
                        <a:buNone/>
                      </a:pPr>
                      <a:r>
                        <a:rPr lang="en" sz="600"/>
                        <a:t>0-18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3,062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4,300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40</a:t>
                      </a:r>
                      <a:r>
                        <a:rPr lang="en" sz="600"/>
                        <a:t>.43%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solidFill>
                            <a:schemeClr val="dk1"/>
                          </a:solidFill>
                        </a:rPr>
                        <a:t>19-25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13,100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57,783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solidFill>
                            <a:schemeClr val="dk1"/>
                          </a:solidFill>
                        </a:rPr>
                        <a:t>341</a:t>
                      </a:r>
                      <a:r>
                        <a:rPr lang="en" sz="600">
                          <a:solidFill>
                            <a:schemeClr val="dk1"/>
                          </a:solidFill>
                        </a:rPr>
                        <a:t>.09%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solidFill>
                            <a:schemeClr val="dk1"/>
                          </a:solidFill>
                        </a:rPr>
                        <a:t>26-35</a:t>
                      </a:r>
                      <a:endParaRPr sz="600">
                        <a:solidFill>
                          <a:schemeClr val="dk1"/>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1,579</a:t>
                      </a:r>
                      <a:endParaRPr sz="600">
                        <a:solidFill>
                          <a:schemeClr val="dk1"/>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4,459</a:t>
                      </a:r>
                      <a:endParaRPr sz="600">
                        <a:solidFill>
                          <a:schemeClr val="dk1"/>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solidFill>
                            <a:schemeClr val="dk1"/>
                          </a:solidFill>
                        </a:rPr>
                        <a:t>182.39%</a:t>
                      </a:r>
                      <a:endParaRPr sz="600">
                        <a:solidFill>
                          <a:schemeClr val="dk1"/>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383" name="Google Shape;383;p27"/>
          <p:cNvSpPr txBox="1"/>
          <p:nvPr/>
        </p:nvSpPr>
        <p:spPr>
          <a:xfrm>
            <a:off x="3159000" y="1776063"/>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384" name="Google Shape;384;p27"/>
          <p:cNvPicPr preferRelativeResize="0"/>
          <p:nvPr/>
        </p:nvPicPr>
        <p:blipFill>
          <a:blip r:embed="rId9">
            <a:alphaModFix/>
          </a:blip>
          <a:stretch>
            <a:fillRect/>
          </a:stretch>
        </p:blipFill>
        <p:spPr>
          <a:xfrm>
            <a:off x="3183150" y="3105250"/>
            <a:ext cx="1681325" cy="939725"/>
          </a:xfrm>
          <a:prstGeom prst="rect">
            <a:avLst/>
          </a:prstGeom>
          <a:noFill/>
          <a:ln>
            <a:noFill/>
          </a:ln>
        </p:spPr>
      </p:pic>
      <p:sp>
        <p:nvSpPr>
          <p:cNvPr id="385" name="Google Shape;385;p27"/>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5,477</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260,676</a:t>
            </a:r>
            <a:endParaRPr sz="700">
              <a:solidFill>
                <a:schemeClr val="dk2"/>
              </a:solidFill>
            </a:endParaRPr>
          </a:p>
        </p:txBody>
      </p:sp>
      <p:sp>
        <p:nvSpPr>
          <p:cNvPr id="386" name="Google Shape;386;p27"/>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2,168</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250,324</a:t>
            </a:r>
            <a:endParaRPr sz="700">
              <a:solidFill>
                <a:schemeClr val="dk2"/>
              </a:solidFill>
            </a:endParaRPr>
          </a:p>
        </p:txBody>
      </p:sp>
      <p:sp>
        <p:nvSpPr>
          <p:cNvPr id="387" name="Google Shape;387;p27"/>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4,850</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759,136</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388" name="Google Shape;388;p27"/>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2,084</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872,080</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389" name="Google Shape;389;p27"/>
          <p:cNvPicPr preferRelativeResize="0"/>
          <p:nvPr/>
        </p:nvPicPr>
        <p:blipFill>
          <a:blip r:embed="rId10">
            <a:alphaModFix/>
          </a:blip>
          <a:stretch>
            <a:fillRect/>
          </a:stretch>
        </p:blipFill>
        <p:spPr>
          <a:xfrm>
            <a:off x="3346262" y="4110275"/>
            <a:ext cx="1322875" cy="878701"/>
          </a:xfrm>
          <a:prstGeom prst="rect">
            <a:avLst/>
          </a:prstGeom>
          <a:noFill/>
          <a:ln>
            <a:noFill/>
          </a:ln>
        </p:spPr>
      </p:pic>
      <p:sp>
        <p:nvSpPr>
          <p:cNvPr id="390" name="Google Shape;390;p27"/>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3,416</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483,770</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391" name="Google Shape;391;p27"/>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1,303</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426,534</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392" name="Google Shape;392;p27"/>
          <p:cNvPicPr preferRelativeResize="0"/>
          <p:nvPr/>
        </p:nvPicPr>
        <p:blipFill rotWithShape="1">
          <a:blip r:embed="rId11">
            <a:alphaModFix/>
          </a:blip>
          <a:srcRect b="5666" l="0" r="0" t="5657"/>
          <a:stretch/>
        </p:blipFill>
        <p:spPr>
          <a:xfrm>
            <a:off x="6907075" y="163900"/>
            <a:ext cx="1849201" cy="1293136"/>
          </a:xfrm>
          <a:prstGeom prst="rect">
            <a:avLst/>
          </a:prstGeom>
          <a:noFill/>
          <a:ln>
            <a:noFill/>
          </a:ln>
        </p:spPr>
      </p:pic>
      <p:sp>
        <p:nvSpPr>
          <p:cNvPr id="393" name="Google Shape;393;p27"/>
          <p:cNvSpPr txBox="1"/>
          <p:nvPr/>
        </p:nvSpPr>
        <p:spPr>
          <a:xfrm>
            <a:off x="6863775" y="1564723"/>
            <a:ext cx="1935900" cy="1080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Jawa Barat become a top 1 region for New to Market (&lt;= 12 Months) traders with the population of </a:t>
            </a:r>
            <a:r>
              <a:rPr lang="en" sz="900">
                <a:solidFill>
                  <a:schemeClr val="dk2"/>
                </a:solidFill>
              </a:rPr>
              <a:t>15,352</a:t>
            </a:r>
            <a:r>
              <a:rPr lang="en" sz="900">
                <a:solidFill>
                  <a:schemeClr val="dk2"/>
                </a:solidFill>
              </a:rPr>
              <a:t> traders in 2023, and it grow by 177,52% to </a:t>
            </a:r>
            <a:r>
              <a:rPr lang="en" sz="900">
                <a:solidFill>
                  <a:schemeClr val="dk2"/>
                </a:solidFill>
              </a:rPr>
              <a:t>42,606</a:t>
            </a:r>
            <a:r>
              <a:rPr lang="en" sz="900">
                <a:solidFill>
                  <a:schemeClr val="dk2"/>
                </a:solidFill>
              </a:rPr>
              <a:t> traders in 2024. </a:t>
            </a:r>
            <a:endParaRPr sz="900">
              <a:solidFill>
                <a:schemeClr val="dk2"/>
              </a:solidFill>
            </a:endParaRPr>
          </a:p>
        </p:txBody>
      </p:sp>
      <p:cxnSp>
        <p:nvCxnSpPr>
          <p:cNvPr id="394" name="Google Shape;394;p27"/>
          <p:cNvCxnSpPr/>
          <p:nvPr/>
        </p:nvCxnSpPr>
        <p:spPr>
          <a:xfrm>
            <a:off x="4737900" y="2570075"/>
            <a:ext cx="179100" cy="0"/>
          </a:xfrm>
          <a:prstGeom prst="straightConnector1">
            <a:avLst/>
          </a:prstGeom>
          <a:noFill/>
          <a:ln cap="flat" cmpd="sng" w="9525">
            <a:solidFill>
              <a:schemeClr val="dk2"/>
            </a:solidFill>
            <a:prstDash val="solid"/>
            <a:round/>
            <a:headEnd len="med" w="med" type="none"/>
            <a:tailEnd len="med" w="med" type="stealth"/>
          </a:ln>
        </p:spPr>
      </p:cxnSp>
      <p:cxnSp>
        <p:nvCxnSpPr>
          <p:cNvPr id="395" name="Google Shape;395;p27"/>
          <p:cNvCxnSpPr/>
          <p:nvPr/>
        </p:nvCxnSpPr>
        <p:spPr>
          <a:xfrm>
            <a:off x="4709250" y="3551525"/>
            <a:ext cx="236400" cy="0"/>
          </a:xfrm>
          <a:prstGeom prst="straightConnector1">
            <a:avLst/>
          </a:prstGeom>
          <a:noFill/>
          <a:ln cap="flat" cmpd="sng" w="9525">
            <a:solidFill>
              <a:schemeClr val="dk2"/>
            </a:solidFill>
            <a:prstDash val="solid"/>
            <a:round/>
            <a:headEnd len="med" w="med" type="none"/>
            <a:tailEnd len="med" w="med" type="stealth"/>
          </a:ln>
        </p:spPr>
      </p:cxnSp>
      <p:graphicFrame>
        <p:nvGraphicFramePr>
          <p:cNvPr id="396" name="Google Shape;396;p27"/>
          <p:cNvGraphicFramePr/>
          <p:nvPr/>
        </p:nvGraphicFramePr>
        <p:xfrm>
          <a:off x="6654875" y="2752413"/>
          <a:ext cx="3000000" cy="3000000"/>
        </p:xfrm>
        <a:graphic>
          <a:graphicData uri="http://schemas.openxmlformats.org/drawingml/2006/table">
            <a:tbl>
              <a:tblPr>
                <a:noFill/>
                <a:tableStyleId>{0287243F-39C1-4460-8421-3307866EDBE6}</a:tableStyleId>
              </a:tblPr>
              <a:tblGrid>
                <a:gridCol w="646250"/>
                <a:gridCol w="646250"/>
                <a:gridCol w="646250"/>
                <a:gridCol w="512900"/>
              </a:tblGrid>
              <a:tr h="125125">
                <a:tc gridSpan="4">
                  <a:txBody>
                    <a:bodyPr/>
                    <a:lstStyle/>
                    <a:p>
                      <a:pPr indent="0" lvl="0" marL="0" rtl="0" algn="ctr">
                        <a:lnSpc>
                          <a:spcPct val="115000"/>
                        </a:lnSpc>
                        <a:spcBef>
                          <a:spcPts val="0"/>
                        </a:spcBef>
                        <a:spcAft>
                          <a:spcPts val="0"/>
                        </a:spcAft>
                        <a:buNone/>
                      </a:pPr>
                      <a:r>
                        <a:rPr b="1" lang="en" sz="600"/>
                        <a:t>Trading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1521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216900">
                <a:tc>
                  <a:txBody>
                    <a:bodyPr/>
                    <a:lstStyle/>
                    <a:p>
                      <a:pPr indent="0" lvl="0" marL="0" rtl="0" algn="l">
                        <a:lnSpc>
                          <a:spcPct val="115000"/>
                        </a:lnSpc>
                        <a:spcBef>
                          <a:spcPts val="0"/>
                        </a:spcBef>
                        <a:spcAft>
                          <a:spcPts val="0"/>
                        </a:spcAft>
                        <a:buNone/>
                      </a:pPr>
                      <a:r>
                        <a:rPr lang="en" sz="600"/>
                        <a:t>Avg </a:t>
                      </a:r>
                      <a:r>
                        <a:rPr lang="en" sz="600"/>
                        <a:t>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08675">
                <a:tc>
                  <a:txBody>
                    <a:bodyPr/>
                    <a:lstStyle/>
                    <a:p>
                      <a:pPr indent="0" lvl="0" marL="0" rtl="0" algn="l">
                        <a:lnSpc>
                          <a:spcPct val="115000"/>
                        </a:lnSpc>
                        <a:spcBef>
                          <a:spcPts val="0"/>
                        </a:spcBef>
                        <a:spcAft>
                          <a:spcPts val="0"/>
                        </a:spcAft>
                        <a:buClr>
                          <a:schemeClr val="dk1"/>
                        </a:buClr>
                        <a:buSzPts val="1100"/>
                        <a:buFont typeface="Arial"/>
                        <a:buNone/>
                      </a:pPr>
                      <a:r>
                        <a:rPr lang="en" sz="600">
                          <a:solidFill>
                            <a:schemeClr val="dk1"/>
                          </a:solidFill>
                        </a:rPr>
                        <a:t>Avg Trade Frequency</a:t>
                      </a:r>
                      <a:endParaRPr sz="600">
                        <a:solidFill>
                          <a:schemeClr val="dk1"/>
                        </a:solidFill>
                      </a:endParaRPr>
                    </a:p>
                    <a:p>
                      <a:pPr indent="0" lvl="0" marL="0" rtl="0" algn="l">
                        <a:lnSpc>
                          <a:spcPct val="115000"/>
                        </a:lnSpc>
                        <a:spcBef>
                          <a:spcPts val="0"/>
                        </a:spcBef>
                        <a:spcAft>
                          <a:spcPts val="0"/>
                        </a:spcAft>
                        <a:buNone/>
                      </a:pPr>
                      <a:r>
                        <a:rPr lang="en" sz="600"/>
                        <a:t>(Weekly)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08675">
                <a:tc>
                  <a:txBody>
                    <a:bodyPr/>
                    <a:lstStyle/>
                    <a:p>
                      <a:pPr indent="0" lvl="0" marL="0" rtl="0" algn="l">
                        <a:lnSpc>
                          <a:spcPct val="115000"/>
                        </a:lnSpc>
                        <a:spcBef>
                          <a:spcPts val="0"/>
                        </a:spcBef>
                        <a:spcAft>
                          <a:spcPts val="0"/>
                        </a:spcAft>
                        <a:buNone/>
                      </a:pPr>
                      <a:r>
                        <a:rPr lang="en" sz="600">
                          <a:solidFill>
                            <a:schemeClr val="dk1"/>
                          </a:solidFill>
                        </a:rPr>
                        <a:t>Avg Trade Frequency (Monthly)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08675">
                <a:tc>
                  <a:txBody>
                    <a:bodyPr/>
                    <a:lstStyle/>
                    <a:p>
                      <a:pPr indent="0" lvl="0" marL="0" rtl="0" algn="l">
                        <a:lnSpc>
                          <a:spcPct val="115000"/>
                        </a:lnSpc>
                        <a:spcBef>
                          <a:spcPts val="0"/>
                        </a:spcBef>
                        <a:spcAft>
                          <a:spcPts val="0"/>
                        </a:spcAft>
                        <a:buNone/>
                      </a:pPr>
                      <a:r>
                        <a:rPr lang="en" sz="600">
                          <a:solidFill>
                            <a:schemeClr val="dk1"/>
                          </a:solidFill>
                        </a:rPr>
                        <a:t>Avg Trade Frequency (Daily)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16900">
                <a:tc>
                  <a:txBody>
                    <a:bodyPr/>
                    <a:lstStyle/>
                    <a:p>
                      <a:pPr indent="0" lvl="0" marL="0" rtl="0" algn="l">
                        <a:lnSpc>
                          <a:spcPct val="115000"/>
                        </a:lnSpc>
                        <a:spcBef>
                          <a:spcPts val="0"/>
                        </a:spcBef>
                        <a:spcAft>
                          <a:spcPts val="0"/>
                        </a:spcAft>
                        <a:buNone/>
                      </a:pPr>
                      <a:r>
                        <a:rPr lang="en" sz="600"/>
                        <a:t>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46,304,373,878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182,921,386,738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295.04%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851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685,566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265,904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295.04%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cxnSp>
        <p:nvCxnSpPr>
          <p:cNvPr id="397" name="Google Shape;397;p27"/>
          <p:cNvCxnSpPr>
            <a:stCxn id="389"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pic>
        <p:nvPicPr>
          <p:cNvPr id="398" name="Google Shape;398;p27"/>
          <p:cNvPicPr preferRelativeResize="0"/>
          <p:nvPr/>
        </p:nvPicPr>
        <p:blipFill>
          <a:blip r:embed="rId12">
            <a:alphaModFix/>
          </a:blip>
          <a:stretch>
            <a:fillRect/>
          </a:stretch>
        </p:blipFill>
        <p:spPr>
          <a:xfrm>
            <a:off x="3581038" y="2100215"/>
            <a:ext cx="930581" cy="939725"/>
          </a:xfrm>
          <a:prstGeom prst="rect">
            <a:avLst/>
          </a:prstGeom>
          <a:noFill/>
          <a:ln>
            <a:noFill/>
          </a:ln>
        </p:spPr>
      </p:pic>
      <p:pic>
        <p:nvPicPr>
          <p:cNvPr id="399" name="Google Shape;399;p27"/>
          <p:cNvPicPr preferRelativeResize="0"/>
          <p:nvPr/>
        </p:nvPicPr>
        <p:blipFill>
          <a:blip r:embed="rId13">
            <a:alphaModFix/>
          </a:blip>
          <a:stretch>
            <a:fillRect/>
          </a:stretch>
        </p:blipFill>
        <p:spPr>
          <a:xfrm>
            <a:off x="5731000" y="982550"/>
            <a:ext cx="694200" cy="694200"/>
          </a:xfrm>
          <a:prstGeom prst="rect">
            <a:avLst/>
          </a:prstGeom>
          <a:noFill/>
          <a:ln>
            <a:noFill/>
          </a:ln>
        </p:spPr>
      </p:pic>
      <p:sp>
        <p:nvSpPr>
          <p:cNvPr id="400" name="Google Shape;400;p27"/>
          <p:cNvSpPr txBox="1"/>
          <p:nvPr/>
        </p:nvSpPr>
        <p:spPr>
          <a:xfrm>
            <a:off x="5365975" y="1565800"/>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Average income:</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Indonesia : 3,3M/Month</a:t>
            </a:r>
            <a:endParaRPr sz="700">
              <a:solidFill>
                <a:schemeClr val="dk2"/>
              </a:solidFill>
            </a:endParaRPr>
          </a:p>
        </p:txBody>
      </p:sp>
      <p:sp>
        <p:nvSpPr>
          <p:cNvPr id="401" name="Google Shape;401;p27"/>
          <p:cNvSpPr txBox="1"/>
          <p:nvPr/>
        </p:nvSpPr>
        <p:spPr>
          <a:xfrm>
            <a:off x="5365975" y="44625"/>
            <a:ext cx="1462500" cy="939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500">
                <a:solidFill>
                  <a:schemeClr val="dk2"/>
                </a:solidFill>
              </a:rPr>
              <a:t>Top 3 City in Jawa Barat:</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Kota Bandung:</a:t>
            </a:r>
            <a:endParaRPr b="1" sz="500">
              <a:solidFill>
                <a:schemeClr val="dk2"/>
              </a:solidFill>
            </a:endParaRPr>
          </a:p>
          <a:p>
            <a:pPr indent="0" lvl="0" marL="457200" rtl="0" algn="l">
              <a:spcBef>
                <a:spcPts val="0"/>
              </a:spcBef>
              <a:spcAft>
                <a:spcPts val="0"/>
              </a:spcAft>
              <a:buNone/>
            </a:pPr>
            <a:r>
              <a:rPr b="1" lang="en" sz="500">
                <a:solidFill>
                  <a:schemeClr val="dk2"/>
                </a:solidFill>
              </a:rPr>
              <a:t>2023 (854 users), 2024 (4445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Kota Bekasi:</a:t>
            </a:r>
            <a:endParaRPr b="1" sz="500">
              <a:solidFill>
                <a:schemeClr val="dk2"/>
              </a:solidFill>
            </a:endParaRPr>
          </a:p>
          <a:p>
            <a:pPr indent="0" lvl="0" marL="457200" rtl="0" algn="l">
              <a:spcBef>
                <a:spcPts val="0"/>
              </a:spcBef>
              <a:spcAft>
                <a:spcPts val="0"/>
              </a:spcAft>
              <a:buNone/>
            </a:pPr>
            <a:r>
              <a:rPr b="1" lang="en" sz="500">
                <a:solidFill>
                  <a:schemeClr val="dk2"/>
                </a:solidFill>
              </a:rPr>
              <a:t>2023 (864 users), 2024 (4333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Kab. Bogor:</a:t>
            </a:r>
            <a:endParaRPr b="1" sz="500">
              <a:solidFill>
                <a:schemeClr val="dk2"/>
              </a:solidFill>
            </a:endParaRPr>
          </a:p>
          <a:p>
            <a:pPr indent="0" lvl="0" marL="457200" rtl="0" algn="l">
              <a:spcBef>
                <a:spcPts val="0"/>
              </a:spcBef>
              <a:spcAft>
                <a:spcPts val="0"/>
              </a:spcAft>
              <a:buNone/>
            </a:pPr>
            <a:r>
              <a:rPr b="1" lang="en" sz="500">
                <a:solidFill>
                  <a:schemeClr val="dk2"/>
                </a:solidFill>
              </a:rPr>
              <a:t>2023 (586 users), 2024 (3331 users)</a:t>
            </a:r>
            <a:endParaRPr b="1" sz="500">
              <a:solidFill>
                <a:schemeClr val="dk2"/>
              </a:solidFill>
            </a:endParaRPr>
          </a:p>
          <a:p>
            <a:pPr indent="0" lvl="0" marL="457200" rtl="0" algn="l">
              <a:spcBef>
                <a:spcPts val="0"/>
              </a:spcBef>
              <a:spcAft>
                <a:spcPts val="0"/>
              </a:spcAft>
              <a:buNone/>
            </a:pPr>
            <a:r>
              <a:t/>
            </a:r>
            <a:endParaRPr b="1" sz="500">
              <a:solidFill>
                <a:schemeClr val="dk2"/>
              </a:solidFill>
            </a:endParaRPr>
          </a:p>
        </p:txBody>
      </p:sp>
      <p:cxnSp>
        <p:nvCxnSpPr>
          <p:cNvPr id="402" name="Google Shape;402;p27"/>
          <p:cNvCxnSpPr/>
          <p:nvPr/>
        </p:nvCxnSpPr>
        <p:spPr>
          <a:xfrm rot="10800000">
            <a:off x="6851050" y="370825"/>
            <a:ext cx="1031700" cy="422700"/>
          </a:xfrm>
          <a:prstGeom prst="straightConnector1">
            <a:avLst/>
          </a:prstGeom>
          <a:noFill/>
          <a:ln cap="flat" cmpd="sng" w="9525">
            <a:solidFill>
              <a:srgbClr val="FF0000"/>
            </a:solidFill>
            <a:prstDash val="dash"/>
            <a:round/>
            <a:headEnd len="med" w="med" type="none"/>
            <a:tailEnd len="med" w="med" type="stealth"/>
          </a:ln>
        </p:spPr>
      </p:cxnSp>
      <p:pic>
        <p:nvPicPr>
          <p:cNvPr id="403" name="Google Shape;403;p27"/>
          <p:cNvPicPr preferRelativeResize="0"/>
          <p:nvPr/>
        </p:nvPicPr>
        <p:blipFill>
          <a:blip r:embed="rId14">
            <a:alphaModFix/>
          </a:blip>
          <a:stretch>
            <a:fillRect/>
          </a:stretch>
        </p:blipFill>
        <p:spPr>
          <a:xfrm>
            <a:off x="389219" y="1827517"/>
            <a:ext cx="301206" cy="301153"/>
          </a:xfrm>
          <a:prstGeom prst="rect">
            <a:avLst/>
          </a:prstGeom>
          <a:noFill/>
          <a:ln>
            <a:noFill/>
          </a:ln>
        </p:spPr>
      </p:pic>
      <p:pic>
        <p:nvPicPr>
          <p:cNvPr id="404" name="Google Shape;404;p27"/>
          <p:cNvPicPr preferRelativeResize="0"/>
          <p:nvPr/>
        </p:nvPicPr>
        <p:blipFill>
          <a:blip r:embed="rId15">
            <a:alphaModFix/>
          </a:blip>
          <a:stretch>
            <a:fillRect/>
          </a:stretch>
        </p:blipFill>
        <p:spPr>
          <a:xfrm>
            <a:off x="1591544" y="1827531"/>
            <a:ext cx="301206" cy="301153"/>
          </a:xfrm>
          <a:prstGeom prst="rect">
            <a:avLst/>
          </a:prstGeom>
          <a:noFill/>
          <a:ln>
            <a:noFill/>
          </a:ln>
        </p:spPr>
      </p:pic>
      <p:pic>
        <p:nvPicPr>
          <p:cNvPr id="405" name="Google Shape;405;p27"/>
          <p:cNvPicPr preferRelativeResize="0"/>
          <p:nvPr/>
        </p:nvPicPr>
        <p:blipFill>
          <a:blip r:embed="rId16">
            <a:alphaModFix/>
          </a:blip>
          <a:stretch>
            <a:fillRect/>
          </a:stretch>
        </p:blipFill>
        <p:spPr>
          <a:xfrm>
            <a:off x="1190770" y="1827535"/>
            <a:ext cx="301205" cy="301153"/>
          </a:xfrm>
          <a:prstGeom prst="rect">
            <a:avLst/>
          </a:prstGeom>
          <a:noFill/>
          <a:ln>
            <a:noFill/>
          </a:ln>
        </p:spPr>
      </p:pic>
      <p:pic>
        <p:nvPicPr>
          <p:cNvPr id="406" name="Google Shape;406;p27"/>
          <p:cNvPicPr preferRelativeResize="0"/>
          <p:nvPr/>
        </p:nvPicPr>
        <p:blipFill>
          <a:blip r:embed="rId17">
            <a:alphaModFix/>
          </a:blip>
          <a:stretch>
            <a:fillRect/>
          </a:stretch>
        </p:blipFill>
        <p:spPr>
          <a:xfrm flipH="1">
            <a:off x="789995" y="1827528"/>
            <a:ext cx="301204" cy="301153"/>
          </a:xfrm>
          <a:prstGeom prst="rect">
            <a:avLst/>
          </a:prstGeom>
          <a:noFill/>
          <a:ln>
            <a:noFill/>
          </a:ln>
        </p:spPr>
      </p:pic>
      <p:pic>
        <p:nvPicPr>
          <p:cNvPr id="407" name="Google Shape;407;p27"/>
          <p:cNvPicPr preferRelativeResize="0"/>
          <p:nvPr/>
        </p:nvPicPr>
        <p:blipFill>
          <a:blip r:embed="rId18">
            <a:alphaModFix/>
          </a:blip>
          <a:stretch>
            <a:fillRect/>
          </a:stretch>
        </p:blipFill>
        <p:spPr>
          <a:xfrm>
            <a:off x="1992326" y="1849500"/>
            <a:ext cx="281550" cy="281550"/>
          </a:xfrm>
          <a:prstGeom prst="rect">
            <a:avLst/>
          </a:prstGeom>
          <a:noFill/>
          <a:ln>
            <a:noFill/>
          </a:ln>
        </p:spPr>
      </p:pic>
      <p:pic>
        <p:nvPicPr>
          <p:cNvPr id="408" name="Google Shape;408;p27"/>
          <p:cNvPicPr preferRelativeResize="0"/>
          <p:nvPr/>
        </p:nvPicPr>
        <p:blipFill>
          <a:blip r:embed="rId19">
            <a:alphaModFix/>
          </a:blip>
          <a:stretch>
            <a:fillRect/>
          </a:stretch>
        </p:blipFill>
        <p:spPr>
          <a:xfrm>
            <a:off x="2375275" y="1827513"/>
            <a:ext cx="301200" cy="301200"/>
          </a:xfrm>
          <a:prstGeom prst="rect">
            <a:avLst/>
          </a:prstGeom>
          <a:noFill/>
          <a:ln>
            <a:noFill/>
          </a:ln>
        </p:spPr>
      </p:pic>
      <p:sp>
        <p:nvSpPr>
          <p:cNvPr id="409" name="Google Shape;409;p27"/>
          <p:cNvSpPr txBox="1"/>
          <p:nvPr/>
        </p:nvSpPr>
        <p:spPr>
          <a:xfrm>
            <a:off x="357000" y="2184913"/>
            <a:ext cx="2528700" cy="4923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Low Value </a:t>
            </a:r>
            <a:r>
              <a:rPr lang="en" sz="700">
                <a:solidFill>
                  <a:schemeClr val="dk2"/>
                </a:solidFill>
                <a:latin typeface="Proxima Nova"/>
                <a:ea typeface="Proxima Nova"/>
                <a:cs typeface="Proxima Nova"/>
                <a:sym typeface="Proxima Nova"/>
              </a:rPr>
              <a:t> traders (&lt;= 12 months) have the most trade volume for Altcoins such. From 2023 to 2024 the trading volume of Altcoins increased by 938.78% from 56B to 582B. Followed by Bitcoin coins in 2nd places of coin preferences in this segment</a:t>
            </a:r>
            <a:endParaRPr sz="700">
              <a:solidFill>
                <a:schemeClr val="dk2"/>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3" name="Shape 413"/>
        <p:cNvGrpSpPr/>
        <p:nvPr/>
      </p:nvGrpSpPr>
      <p:grpSpPr>
        <a:xfrm>
          <a:off x="0" y="0"/>
          <a:ext cx="0" cy="0"/>
          <a:chOff x="0" y="0"/>
          <a:chExt cx="0" cy="0"/>
        </a:xfrm>
      </p:grpSpPr>
      <p:sp>
        <p:nvSpPr>
          <p:cNvPr id="414" name="Google Shape;414;p28"/>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New to Market</a:t>
            </a:r>
            <a:r>
              <a:rPr b="1" lang="en" sz="1800">
                <a:solidFill>
                  <a:srgbClr val="0084B5"/>
                </a:solidFill>
                <a:latin typeface="Montserrat"/>
                <a:ea typeface="Montserrat"/>
                <a:cs typeface="Montserrat"/>
                <a:sym typeface="Montserrat"/>
              </a:rPr>
              <a:t> 2023 vs </a:t>
            </a:r>
            <a:r>
              <a:rPr b="1" lang="en" sz="1800">
                <a:solidFill>
                  <a:srgbClr val="0084B5"/>
                </a:solidFill>
                <a:latin typeface="Montserrat"/>
                <a:ea typeface="Montserrat"/>
                <a:cs typeface="Montserrat"/>
                <a:sym typeface="Montserrat"/>
              </a:rPr>
              <a:t>New to Market</a:t>
            </a:r>
            <a:r>
              <a:rPr b="1" lang="en" sz="1800">
                <a:solidFill>
                  <a:srgbClr val="0084B5"/>
                </a:solidFill>
                <a:latin typeface="Montserrat"/>
                <a:ea typeface="Montserrat"/>
                <a:cs typeface="Montserrat"/>
                <a:sym typeface="Montserrat"/>
              </a:rPr>
              <a:t> 2024 (&lt; 1 Years)</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sp>
        <p:nvSpPr>
          <p:cNvPr id="415" name="Google Shape;415;p28"/>
          <p:cNvSpPr txBox="1"/>
          <p:nvPr/>
        </p:nvSpPr>
        <p:spPr>
          <a:xfrm>
            <a:off x="11983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DCA</a:t>
            </a:r>
            <a:endParaRPr b="1" sz="1000">
              <a:solidFill>
                <a:schemeClr val="dk2"/>
              </a:solidFill>
            </a:endParaRPr>
          </a:p>
        </p:txBody>
      </p:sp>
      <p:sp>
        <p:nvSpPr>
          <p:cNvPr id="416" name="Google Shape;416;p28"/>
          <p:cNvSpPr txBox="1"/>
          <p:nvPr/>
        </p:nvSpPr>
        <p:spPr>
          <a:xfrm>
            <a:off x="302843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Staking</a:t>
            </a:r>
            <a:endParaRPr b="1" sz="1000">
              <a:solidFill>
                <a:schemeClr val="dk2"/>
              </a:solidFill>
            </a:endParaRPr>
          </a:p>
        </p:txBody>
      </p:sp>
      <p:sp>
        <p:nvSpPr>
          <p:cNvPr id="417" name="Google Shape;417;p28"/>
          <p:cNvSpPr txBox="1"/>
          <p:nvPr/>
        </p:nvSpPr>
        <p:spPr>
          <a:xfrm>
            <a:off x="61951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API Trading</a:t>
            </a:r>
            <a:endParaRPr b="1" sz="1000">
              <a:solidFill>
                <a:schemeClr val="dk2"/>
              </a:solidFill>
            </a:endParaRPr>
          </a:p>
        </p:txBody>
      </p:sp>
      <p:graphicFrame>
        <p:nvGraphicFramePr>
          <p:cNvPr id="418" name="Google Shape;418;p28"/>
          <p:cNvGraphicFramePr/>
          <p:nvPr/>
        </p:nvGraphicFramePr>
        <p:xfrm>
          <a:off x="119850" y="657538"/>
          <a:ext cx="3000000" cy="3000000"/>
        </p:xfrm>
        <a:graphic>
          <a:graphicData uri="http://schemas.openxmlformats.org/drawingml/2006/table">
            <a:tbl>
              <a:tblPr>
                <a:noFill/>
                <a:tableStyleId>{0287243F-39C1-4460-8421-3307866EDBE6}</a:tableStyleId>
              </a:tblPr>
              <a:tblGrid>
                <a:gridCol w="620450"/>
                <a:gridCol w="620450"/>
                <a:gridCol w="620450"/>
                <a:gridCol w="492400"/>
              </a:tblGrid>
              <a:tr h="226375">
                <a:tc gridSpan="4">
                  <a:txBody>
                    <a:bodyPr/>
                    <a:lstStyle/>
                    <a:p>
                      <a:pPr indent="0" lvl="0" marL="0" rtl="0" algn="ctr">
                        <a:lnSpc>
                          <a:spcPct val="115000"/>
                        </a:lnSpc>
                        <a:spcBef>
                          <a:spcPts val="0"/>
                        </a:spcBef>
                        <a:spcAft>
                          <a:spcPts val="0"/>
                        </a:spcAft>
                        <a:buNone/>
                      </a:pPr>
                      <a:r>
                        <a:rPr b="1" lang="en" sz="600"/>
                        <a:t>DCA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Total DCA Users</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863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1381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60.02%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1743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2503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43.60%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524.171.965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601.135.565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11.46%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1400">
                <a:tc>
                  <a:txBody>
                    <a:bodyPr/>
                    <a:lstStyle/>
                    <a:p>
                      <a:pPr indent="0" lvl="0" marL="0" rtl="0" algn="l">
                        <a:lnSpc>
                          <a:spcPct val="115000"/>
                        </a:lnSpc>
                        <a:spcBef>
                          <a:spcPts val="0"/>
                        </a:spcBef>
                        <a:spcAft>
                          <a:spcPts val="0"/>
                        </a:spcAft>
                        <a:buNone/>
                      </a:pPr>
                      <a:r>
                        <a:rPr lang="en" sz="600"/>
                        <a:t>Avg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Avg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607.383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435.290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-28.33%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419" name="Google Shape;419;p28"/>
          <p:cNvGraphicFramePr/>
          <p:nvPr/>
        </p:nvGraphicFramePr>
        <p:xfrm>
          <a:off x="3028450" y="657538"/>
          <a:ext cx="3000000" cy="3000000"/>
        </p:xfrm>
        <a:graphic>
          <a:graphicData uri="http://schemas.openxmlformats.org/drawingml/2006/table">
            <a:tbl>
              <a:tblPr>
                <a:noFill/>
                <a:tableStyleId>{0287243F-39C1-4460-8421-3307866EDBE6}</a:tableStyleId>
              </a:tblPr>
              <a:tblGrid>
                <a:gridCol w="620450"/>
                <a:gridCol w="620450"/>
                <a:gridCol w="670600"/>
                <a:gridCol w="442250"/>
              </a:tblGrid>
              <a:tr h="22637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New to Market (&lt; 1 Years)</a:t>
                      </a:r>
                      <a:endParaRPr sz="600"/>
                    </a:p>
                    <a:p>
                      <a:pPr indent="0" lvl="0" marL="0" rtl="0" algn="l">
                        <a:lnSpc>
                          <a:spcPct val="115000"/>
                        </a:lnSpc>
                        <a:spcBef>
                          <a:spcPts val="0"/>
                        </a:spcBef>
                        <a:spcAft>
                          <a:spcPts val="0"/>
                        </a:spcAft>
                        <a:buNone/>
                      </a:pPr>
                      <a:r>
                        <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131,864,106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4,315,887,757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3172.98%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420" name="Google Shape;420;p28"/>
          <p:cNvGraphicFramePr/>
          <p:nvPr/>
        </p:nvGraphicFramePr>
        <p:xfrm>
          <a:off x="6168500" y="657538"/>
          <a:ext cx="3000000" cy="3000000"/>
        </p:xfrm>
        <a:graphic>
          <a:graphicData uri="http://schemas.openxmlformats.org/drawingml/2006/table">
            <a:tbl>
              <a:tblPr>
                <a:noFill/>
                <a:tableStyleId>{0287243F-39C1-4460-8421-3307866EDBE6}</a:tableStyleId>
              </a:tblPr>
              <a:tblGrid>
                <a:gridCol w="700575"/>
                <a:gridCol w="700575"/>
                <a:gridCol w="824250"/>
                <a:gridCol w="432275"/>
              </a:tblGrid>
              <a:tr h="24882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419225">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421900">
                <a:tc>
                  <a:txBody>
                    <a:bodyPr/>
                    <a:lstStyle/>
                    <a:p>
                      <a:pPr indent="0" lvl="0" marL="0" rtl="0" algn="l">
                        <a:lnSpc>
                          <a:spcPct val="115000"/>
                        </a:lnSpc>
                        <a:spcBef>
                          <a:spcPts val="0"/>
                        </a:spcBef>
                        <a:spcAft>
                          <a:spcPts val="0"/>
                        </a:spcAft>
                        <a:buNone/>
                      </a:pPr>
                      <a:r>
                        <a:rPr lang="en" sz="600"/>
                        <a:t>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214,142,382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542,793,870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153.47%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6,118,354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5,538,713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-9.47%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2,997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8,008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167.20%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-4.57%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197,825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185,997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421" name="Google Shape;421;p28"/>
          <p:cNvGraphicFramePr/>
          <p:nvPr/>
        </p:nvGraphicFramePr>
        <p:xfrm>
          <a:off x="119850" y="3613450"/>
          <a:ext cx="3000000" cy="3000000"/>
        </p:xfrm>
        <a:graphic>
          <a:graphicData uri="http://schemas.openxmlformats.org/drawingml/2006/table">
            <a:tbl>
              <a:tblPr>
                <a:noFill/>
                <a:tableStyleId>{0287243F-39C1-4460-8421-3307866EDBE6}</a:tableStyleId>
              </a:tblPr>
              <a:tblGrid>
                <a:gridCol w="552800"/>
                <a:gridCol w="552800"/>
                <a:gridCol w="552800"/>
                <a:gridCol w="552800"/>
                <a:gridCol w="552800"/>
                <a:gridCol w="552800"/>
                <a:gridCol w="552800"/>
                <a:gridCol w="552800"/>
                <a:gridCol w="552800"/>
                <a:gridCol w="552800"/>
                <a:gridCol w="552800"/>
                <a:gridCol w="552800"/>
                <a:gridCol w="552800"/>
                <a:gridCol w="552800"/>
                <a:gridCol w="552800"/>
                <a:gridCol w="552800"/>
              </a:tblGrid>
              <a:tr h="198325">
                <a:tc>
                  <a:txBody>
                    <a:bodyPr/>
                    <a:lstStyle/>
                    <a:p>
                      <a:pPr indent="0" lvl="0" marL="0" rtl="0" algn="l">
                        <a:spcBef>
                          <a:spcPts val="0"/>
                        </a:spcBef>
                        <a:spcAft>
                          <a:spcPts val="0"/>
                        </a:spcAft>
                        <a:buNone/>
                      </a:pPr>
                      <a:r>
                        <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700"/>
                        <a:t>Total DCA Freq</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hMerge="1"/>
                <a:tc hMerge="1"/>
                <a:tc gridSpan="3">
                  <a:txBody>
                    <a:bodyPr/>
                    <a:lstStyle/>
                    <a:p>
                      <a:pPr indent="0" lvl="0" marL="0" rtl="0" algn="ctr">
                        <a:lnSpc>
                          <a:spcPct val="115000"/>
                        </a:lnSpc>
                        <a:spcBef>
                          <a:spcPts val="0"/>
                        </a:spcBef>
                        <a:spcAft>
                          <a:spcPts val="0"/>
                        </a:spcAft>
                        <a:buNone/>
                      </a:pPr>
                      <a:r>
                        <a:rPr b="1" lang="en" sz="700"/>
                        <a:t>Total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hMerge="1"/>
                <a:tc hMerge="1"/>
                <a:tc gridSpan="3">
                  <a:txBody>
                    <a:bodyPr/>
                    <a:lstStyle/>
                    <a:p>
                      <a:pPr indent="0" lvl="0" marL="0" rtl="0" algn="ctr">
                        <a:lnSpc>
                          <a:spcPct val="115000"/>
                        </a:lnSpc>
                        <a:spcBef>
                          <a:spcPts val="0"/>
                        </a:spcBef>
                        <a:spcAft>
                          <a:spcPts val="0"/>
                        </a:spcAft>
                        <a:buNone/>
                      </a:pPr>
                      <a:r>
                        <a:rPr b="1" lang="en" sz="700"/>
                        <a:t>Average DCA Frequency</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hMerge="1"/>
                <a:tc hMerge="1"/>
                <a:tc gridSpan="3">
                  <a:txBody>
                    <a:bodyPr/>
                    <a:lstStyle/>
                    <a:p>
                      <a:pPr indent="0" lvl="0" marL="0" rtl="0" algn="ctr">
                        <a:lnSpc>
                          <a:spcPct val="115000"/>
                        </a:lnSpc>
                        <a:spcBef>
                          <a:spcPts val="0"/>
                        </a:spcBef>
                        <a:spcAft>
                          <a:spcPts val="0"/>
                        </a:spcAft>
                        <a:buNone/>
                      </a:pPr>
                      <a:r>
                        <a:rPr b="1" lang="en" sz="700"/>
                        <a:t>Average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hMerge="1"/>
                <a:tc hMerge="1"/>
              </a:tr>
              <a:tr h="198325">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r>
              <a:tr h="198325">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1,877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243.14%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1,092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2,993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174.08%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338,159,281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733,364,047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116.87%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618,207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390,711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-36.80%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98325">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261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169.07%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351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152.52%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28,718,940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70,004,343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143.76%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296,072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268,216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-9.41%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98325">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228.79%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279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248.75%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21,221,616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38,507,281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81.45%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321,540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177,453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-44.81%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graphicFrame>
        <p:nvGraphicFramePr>
          <p:cNvPr id="422" name="Google Shape;422;p28"/>
          <p:cNvGraphicFramePr/>
          <p:nvPr/>
        </p:nvGraphicFramePr>
        <p:xfrm>
          <a:off x="2648550" y="1769750"/>
          <a:ext cx="3000000" cy="3000000"/>
        </p:xfrm>
        <a:graphic>
          <a:graphicData uri="http://schemas.openxmlformats.org/drawingml/2006/table">
            <a:tbl>
              <a:tblPr>
                <a:noFill/>
                <a:tableStyleId>{0287243F-39C1-4460-8421-3307866EDBE6}</a:tableStyleId>
              </a:tblPr>
              <a:tblGrid>
                <a:gridCol w="477300"/>
                <a:gridCol w="477300"/>
                <a:gridCol w="477300"/>
                <a:gridCol w="477300"/>
                <a:gridCol w="477300"/>
                <a:gridCol w="477300"/>
                <a:gridCol w="477300"/>
              </a:tblGrid>
              <a:tr h="316300">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DCA Amount</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hMerge="1"/>
                <a:tc gridSpan="2">
                  <a:txBody>
                    <a:bodyPr/>
                    <a:lstStyle/>
                    <a:p>
                      <a:pPr indent="0" lvl="0" marL="0" rtl="0" algn="ctr">
                        <a:lnSpc>
                          <a:spcPct val="115000"/>
                        </a:lnSpc>
                        <a:spcBef>
                          <a:spcPts val="0"/>
                        </a:spcBef>
                        <a:spcAft>
                          <a:spcPts val="0"/>
                        </a:spcAft>
                        <a:buNone/>
                      </a:pPr>
                      <a:r>
                        <a:rPr b="1" lang="en" sz="700"/>
                        <a:t>DCA Freq</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hMerge="1"/>
              </a:tr>
              <a:tr h="31630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r>
              <a:tr h="316300">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77.04%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79.70%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87.13%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87.11%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82.61%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630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11.08%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7.40%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8.32%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10.60%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9.69%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630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9.21%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6" name="Shape 426"/>
        <p:cNvGrpSpPr/>
        <p:nvPr/>
      </p:nvGrpSpPr>
      <p:grpSpPr>
        <a:xfrm>
          <a:off x="0" y="0"/>
          <a:ext cx="0" cy="0"/>
          <a:chOff x="0" y="0"/>
          <a:chExt cx="0" cy="0"/>
        </a:xfrm>
      </p:grpSpPr>
      <p:sp>
        <p:nvSpPr>
          <p:cNvPr id="427" name="Google Shape;427;p29"/>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Persona Name: </a:t>
            </a:r>
            <a:r>
              <a:rPr b="1" lang="en" sz="1800">
                <a:solidFill>
                  <a:srgbClr val="0084B5"/>
                </a:solidFill>
                <a:latin typeface="Montserrat"/>
                <a:ea typeface="Montserrat"/>
                <a:cs typeface="Montserrat"/>
                <a:sym typeface="Montserrat"/>
              </a:rPr>
              <a:t>The</a:t>
            </a:r>
            <a:r>
              <a:rPr b="1" lang="en" sz="1800">
                <a:solidFill>
                  <a:srgbClr val="0084B5"/>
                </a:solidFill>
                <a:latin typeface="Montserrat"/>
                <a:ea typeface="Montserrat"/>
                <a:cs typeface="Montserrat"/>
                <a:sym typeface="Montserrat"/>
              </a:rPr>
              <a:t> Dreamer</a:t>
            </a:r>
            <a:endParaRPr b="1" sz="1800">
              <a:solidFill>
                <a:srgbClr val="0084B5"/>
              </a:solidFill>
              <a:latin typeface="Montserrat"/>
              <a:ea typeface="Montserrat"/>
              <a:cs typeface="Montserrat"/>
              <a:sym typeface="Montserrat"/>
            </a:endParaRPr>
          </a:p>
        </p:txBody>
      </p:sp>
      <p:sp>
        <p:nvSpPr>
          <p:cNvPr id="428" name="Google Shape;428;p29"/>
          <p:cNvSpPr txBox="1"/>
          <p:nvPr>
            <p:ph type="title"/>
          </p:nvPr>
        </p:nvSpPr>
        <p:spPr>
          <a:xfrm>
            <a:off x="113475" y="378063"/>
            <a:ext cx="29322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Demographic Information</a:t>
            </a:r>
            <a:endParaRPr b="1" sz="1200">
              <a:solidFill>
                <a:srgbClr val="0084B5"/>
              </a:solidFill>
              <a:latin typeface="Montserrat"/>
              <a:ea typeface="Montserrat"/>
              <a:cs typeface="Montserrat"/>
              <a:sym typeface="Montserrat"/>
            </a:endParaRPr>
          </a:p>
        </p:txBody>
      </p:sp>
      <p:sp>
        <p:nvSpPr>
          <p:cNvPr id="429" name="Google Shape;429;p29"/>
          <p:cNvSpPr txBox="1"/>
          <p:nvPr>
            <p:ph type="title"/>
          </p:nvPr>
        </p:nvSpPr>
        <p:spPr>
          <a:xfrm>
            <a:off x="4623500" y="336013"/>
            <a:ext cx="1175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Background</a:t>
            </a:r>
            <a:endParaRPr b="1" sz="1200">
              <a:solidFill>
                <a:srgbClr val="0084B5"/>
              </a:solidFill>
              <a:latin typeface="Montserrat"/>
              <a:ea typeface="Montserrat"/>
              <a:cs typeface="Montserrat"/>
              <a:sym typeface="Montserrat"/>
            </a:endParaRPr>
          </a:p>
        </p:txBody>
      </p:sp>
      <p:sp>
        <p:nvSpPr>
          <p:cNvPr id="430" name="Google Shape;430;p29"/>
          <p:cNvSpPr txBox="1"/>
          <p:nvPr>
            <p:ph type="title"/>
          </p:nvPr>
        </p:nvSpPr>
        <p:spPr>
          <a:xfrm>
            <a:off x="60800" y="3424688"/>
            <a:ext cx="1943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Needs &amp; Expectation</a:t>
            </a:r>
            <a:endParaRPr b="1" sz="1200">
              <a:solidFill>
                <a:srgbClr val="0084B5"/>
              </a:solidFill>
              <a:latin typeface="Montserrat"/>
              <a:ea typeface="Montserrat"/>
              <a:cs typeface="Montserrat"/>
              <a:sym typeface="Montserrat"/>
            </a:endParaRPr>
          </a:p>
        </p:txBody>
      </p:sp>
      <p:sp>
        <p:nvSpPr>
          <p:cNvPr id="431" name="Google Shape;431;p29"/>
          <p:cNvSpPr txBox="1"/>
          <p:nvPr>
            <p:ph type="title"/>
          </p:nvPr>
        </p:nvSpPr>
        <p:spPr>
          <a:xfrm>
            <a:off x="4572000" y="2231025"/>
            <a:ext cx="2550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Challenge &amp; Pain Points</a:t>
            </a:r>
            <a:endParaRPr b="1" sz="1200">
              <a:solidFill>
                <a:srgbClr val="0084B5"/>
              </a:solidFill>
              <a:latin typeface="Montserrat"/>
              <a:ea typeface="Montserrat"/>
              <a:cs typeface="Montserrat"/>
              <a:sym typeface="Montserrat"/>
            </a:endParaRPr>
          </a:p>
        </p:txBody>
      </p:sp>
      <p:sp>
        <p:nvSpPr>
          <p:cNvPr id="432" name="Google Shape;432;p29"/>
          <p:cNvSpPr txBox="1"/>
          <p:nvPr>
            <p:ph type="title"/>
          </p:nvPr>
        </p:nvSpPr>
        <p:spPr>
          <a:xfrm>
            <a:off x="60825" y="1846200"/>
            <a:ext cx="2517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Motivation, Interest &amp; Goals</a:t>
            </a:r>
            <a:endParaRPr b="1" sz="1200">
              <a:solidFill>
                <a:srgbClr val="0084B5"/>
              </a:solidFill>
              <a:latin typeface="Montserrat"/>
              <a:ea typeface="Montserrat"/>
              <a:cs typeface="Montserrat"/>
              <a:sym typeface="Montserrat"/>
            </a:endParaRPr>
          </a:p>
        </p:txBody>
      </p:sp>
      <p:sp>
        <p:nvSpPr>
          <p:cNvPr id="433" name="Google Shape;433;p29"/>
          <p:cNvSpPr txBox="1"/>
          <p:nvPr/>
        </p:nvSpPr>
        <p:spPr>
          <a:xfrm>
            <a:off x="4623500" y="656725"/>
            <a:ext cx="4437000" cy="1658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Most of people in this group are newcomer</a:t>
            </a:r>
            <a:r>
              <a:rPr lang="en" sz="1000">
                <a:solidFill>
                  <a:schemeClr val="dk1"/>
                </a:solidFill>
                <a:latin typeface="Montserrat"/>
                <a:ea typeface="Montserrat"/>
                <a:cs typeface="Montserrat"/>
                <a:sym typeface="Montserrat"/>
              </a:rPr>
              <a:t>, just started their career in professional work and some of them might be still in </a:t>
            </a:r>
            <a:r>
              <a:rPr lang="en" sz="1000">
                <a:solidFill>
                  <a:schemeClr val="dk1"/>
                </a:solidFill>
                <a:latin typeface="Montserrat"/>
                <a:ea typeface="Montserrat"/>
                <a:cs typeface="Montserrat"/>
                <a:sym typeface="Montserrat"/>
              </a:rPr>
              <a:t>university</a:t>
            </a:r>
            <a:r>
              <a:rPr lang="en" sz="1000">
                <a:solidFill>
                  <a:schemeClr val="dk1"/>
                </a:solidFill>
                <a:latin typeface="Montserrat"/>
                <a:ea typeface="Montserrat"/>
                <a:cs typeface="Montserrat"/>
                <a:sym typeface="Montserrat"/>
              </a:rPr>
              <a:t>, money wise they are not having much as they just entry the early stage of working experience and student.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000">
                <a:solidFill>
                  <a:schemeClr val="dk1"/>
                </a:solidFill>
                <a:latin typeface="Montserrat"/>
                <a:ea typeface="Montserrat"/>
                <a:cs typeface="Montserrat"/>
                <a:sym typeface="Montserrat"/>
              </a:rPr>
              <a:t>They tend to focus on</a:t>
            </a:r>
            <a:r>
              <a:rPr b="1" lang="en" sz="1000">
                <a:solidFill>
                  <a:schemeClr val="dk1"/>
                </a:solidFill>
                <a:latin typeface="Montserrat"/>
                <a:ea typeface="Montserrat"/>
                <a:cs typeface="Montserrat"/>
                <a:sym typeface="Montserrat"/>
              </a:rPr>
              <a:t> financial independence</a:t>
            </a:r>
            <a:r>
              <a:rPr lang="en" sz="1000">
                <a:solidFill>
                  <a:schemeClr val="dk1"/>
                </a:solidFill>
                <a:latin typeface="Montserrat"/>
                <a:ea typeface="Montserrat"/>
                <a:cs typeface="Montserrat"/>
                <a:sym typeface="Montserrat"/>
              </a:rPr>
              <a:t>, thus since they are just graduated and </a:t>
            </a:r>
            <a:r>
              <a:rPr b="1" lang="en" sz="1000">
                <a:solidFill>
                  <a:schemeClr val="dk1"/>
                </a:solidFill>
                <a:latin typeface="Montserrat"/>
                <a:ea typeface="Montserrat"/>
                <a:cs typeface="Montserrat"/>
                <a:sym typeface="Montserrat"/>
              </a:rPr>
              <a:t>mostly a learner,</a:t>
            </a:r>
            <a:r>
              <a:rPr lang="en" sz="1000">
                <a:solidFill>
                  <a:schemeClr val="dk1"/>
                </a:solidFill>
                <a:latin typeface="Montserrat"/>
                <a:ea typeface="Montserrat"/>
                <a:cs typeface="Montserrat"/>
                <a:sym typeface="Montserrat"/>
              </a:rPr>
              <a:t> they seek on opportunities that </a:t>
            </a:r>
            <a:r>
              <a:rPr lang="en" sz="1000">
                <a:solidFill>
                  <a:schemeClr val="dk1"/>
                </a:solidFill>
                <a:latin typeface="Montserrat"/>
                <a:ea typeface="Montserrat"/>
                <a:cs typeface="Montserrat"/>
                <a:sym typeface="Montserrat"/>
              </a:rPr>
              <a:t>historically</a:t>
            </a:r>
            <a:r>
              <a:rPr lang="en" sz="1000">
                <a:solidFill>
                  <a:schemeClr val="dk1"/>
                </a:solidFill>
                <a:latin typeface="Montserrat"/>
                <a:ea typeface="Montserrat"/>
                <a:cs typeface="Montserrat"/>
                <a:sym typeface="Montserrat"/>
              </a:rPr>
              <a:t> generate high revenue. Commitment wise since they are on </a:t>
            </a:r>
            <a:r>
              <a:rPr b="1" lang="en" sz="1000">
                <a:solidFill>
                  <a:schemeClr val="dk1"/>
                </a:solidFill>
                <a:latin typeface="Montserrat"/>
                <a:ea typeface="Montserrat"/>
                <a:cs typeface="Montserrat"/>
                <a:sym typeface="Montserrat"/>
              </a:rPr>
              <a:t>early tapping stage</a:t>
            </a:r>
            <a:r>
              <a:rPr lang="en" sz="1000">
                <a:solidFill>
                  <a:schemeClr val="dk1"/>
                </a:solidFill>
                <a:latin typeface="Montserrat"/>
                <a:ea typeface="Montserrat"/>
                <a:cs typeface="Montserrat"/>
                <a:sym typeface="Montserrat"/>
              </a:rPr>
              <a:t> they </a:t>
            </a:r>
            <a:r>
              <a:rPr lang="en" sz="1000">
                <a:solidFill>
                  <a:schemeClr val="dk1"/>
                </a:solidFill>
                <a:latin typeface="Montserrat"/>
                <a:ea typeface="Montserrat"/>
                <a:cs typeface="Montserrat"/>
                <a:sym typeface="Montserrat"/>
              </a:rPr>
              <a:t>won't</a:t>
            </a:r>
            <a:r>
              <a:rPr lang="en" sz="1000">
                <a:solidFill>
                  <a:schemeClr val="dk1"/>
                </a:solidFill>
                <a:latin typeface="Montserrat"/>
                <a:ea typeface="Montserrat"/>
                <a:cs typeface="Montserrat"/>
                <a:sym typeface="Montserrat"/>
              </a:rPr>
              <a:t> be able to focus on 1 things </a:t>
            </a:r>
            <a:r>
              <a:rPr lang="en" sz="1000">
                <a:solidFill>
                  <a:schemeClr val="dk1"/>
                </a:solidFill>
                <a:latin typeface="Montserrat"/>
                <a:ea typeface="Montserrat"/>
                <a:cs typeface="Montserrat"/>
                <a:sym typeface="Montserrat"/>
              </a:rPr>
              <a:t>until</a:t>
            </a:r>
            <a:r>
              <a:rPr lang="en" sz="1000">
                <a:solidFill>
                  <a:schemeClr val="dk1"/>
                </a:solidFill>
                <a:latin typeface="Montserrat"/>
                <a:ea typeface="Montserrat"/>
                <a:cs typeface="Montserrat"/>
                <a:sym typeface="Montserrat"/>
              </a:rPr>
              <a:t> they </a:t>
            </a:r>
            <a:r>
              <a:rPr lang="en" sz="1000">
                <a:solidFill>
                  <a:schemeClr val="dk1"/>
                </a:solidFill>
                <a:latin typeface="Montserrat"/>
                <a:ea typeface="Montserrat"/>
                <a:cs typeface="Montserrat"/>
                <a:sym typeface="Montserrat"/>
              </a:rPr>
              <a:t>know</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it's</a:t>
            </a:r>
            <a:r>
              <a:rPr lang="en" sz="1000">
                <a:solidFill>
                  <a:schemeClr val="dk1"/>
                </a:solidFill>
                <a:latin typeface="Montserrat"/>
                <a:ea typeface="Montserrat"/>
                <a:cs typeface="Montserrat"/>
                <a:sym typeface="Montserrat"/>
              </a:rPr>
              <a:t> gonna work out</a:t>
            </a:r>
            <a:endParaRPr sz="1000">
              <a:solidFill>
                <a:schemeClr val="dk1"/>
              </a:solidFill>
              <a:latin typeface="Montserrat"/>
              <a:ea typeface="Montserrat"/>
              <a:cs typeface="Montserrat"/>
              <a:sym typeface="Montserrat"/>
            </a:endParaRPr>
          </a:p>
        </p:txBody>
      </p:sp>
      <p:sp>
        <p:nvSpPr>
          <p:cNvPr id="434" name="Google Shape;434;p29"/>
          <p:cNvSpPr txBox="1"/>
          <p:nvPr/>
        </p:nvSpPr>
        <p:spPr>
          <a:xfrm>
            <a:off x="99350" y="2189100"/>
            <a:ext cx="4400100" cy="110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Portfolio growth</a:t>
            </a:r>
            <a:r>
              <a:rPr lang="en" sz="1000">
                <a:solidFill>
                  <a:schemeClr val="dk1"/>
                </a:solidFill>
                <a:latin typeface="Montserrat"/>
                <a:ea typeface="Montserrat"/>
                <a:cs typeface="Montserrat"/>
                <a:sym typeface="Montserrat"/>
              </a:rPr>
              <a:t>, with start small and diversify investment</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Learning the market</a:t>
            </a:r>
            <a:r>
              <a:rPr lang="en" sz="1000">
                <a:solidFill>
                  <a:schemeClr val="dk1"/>
                </a:solidFill>
                <a:latin typeface="Montserrat"/>
                <a:ea typeface="Montserrat"/>
                <a:cs typeface="Montserrat"/>
                <a:sym typeface="Montserrat"/>
              </a:rPr>
              <a:t>, looking for deep understanding as they look the industry and product as </a:t>
            </a:r>
            <a:r>
              <a:rPr lang="en" sz="1000">
                <a:solidFill>
                  <a:schemeClr val="dk1"/>
                </a:solidFill>
                <a:latin typeface="Montserrat"/>
                <a:ea typeface="Montserrat"/>
                <a:cs typeface="Montserrat"/>
                <a:sym typeface="Montserrat"/>
              </a:rPr>
              <a:t>vehicles</a:t>
            </a:r>
            <a:r>
              <a:rPr lang="en" sz="1000">
                <a:solidFill>
                  <a:schemeClr val="dk1"/>
                </a:solidFill>
                <a:latin typeface="Montserrat"/>
                <a:ea typeface="Montserrat"/>
                <a:cs typeface="Montserrat"/>
                <a:sym typeface="Montserrat"/>
              </a:rPr>
              <a:t> to financial independence</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FInancial Independence,</a:t>
            </a:r>
            <a:r>
              <a:rPr lang="en" sz="1000">
                <a:solidFill>
                  <a:schemeClr val="dk1"/>
                </a:solidFill>
                <a:latin typeface="Montserrat"/>
                <a:ea typeface="Montserrat"/>
                <a:cs typeface="Montserrat"/>
                <a:sym typeface="Montserrat"/>
              </a:rPr>
              <a:t> building wealth early to accelerate their saving </a:t>
            </a:r>
            <a:endParaRPr sz="1000">
              <a:solidFill>
                <a:schemeClr val="dk1"/>
              </a:solidFill>
              <a:latin typeface="Montserrat"/>
              <a:ea typeface="Montserrat"/>
              <a:cs typeface="Montserrat"/>
              <a:sym typeface="Montserrat"/>
            </a:endParaRPr>
          </a:p>
        </p:txBody>
      </p:sp>
      <p:sp>
        <p:nvSpPr>
          <p:cNvPr id="435" name="Google Shape;435;p29"/>
          <p:cNvSpPr txBox="1"/>
          <p:nvPr/>
        </p:nvSpPr>
        <p:spPr>
          <a:xfrm>
            <a:off x="97575" y="3730800"/>
            <a:ext cx="8985600" cy="1277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27000" lvl="0" marL="171450" rtl="0" algn="l">
              <a:spcBef>
                <a:spcPts val="0"/>
              </a:spcBef>
              <a:spcAft>
                <a:spcPts val="0"/>
              </a:spcAft>
              <a:buClr>
                <a:schemeClr val="dk1"/>
              </a:buClr>
              <a:buSzPts val="1100"/>
              <a:buFont typeface="Montserrat"/>
              <a:buChar char="●"/>
            </a:pPr>
            <a:r>
              <a:rPr b="1" lang="en" sz="1000">
                <a:solidFill>
                  <a:schemeClr val="dk1"/>
                </a:solidFill>
                <a:latin typeface="Montserrat"/>
                <a:ea typeface="Montserrat"/>
                <a:cs typeface="Montserrat"/>
                <a:sym typeface="Montserrat"/>
              </a:rPr>
              <a:t>A Gambler, risk taker,</a:t>
            </a:r>
            <a:r>
              <a:rPr lang="en" sz="1000">
                <a:solidFill>
                  <a:schemeClr val="dk1"/>
                </a:solidFill>
                <a:latin typeface="Montserrat"/>
                <a:ea typeface="Montserrat"/>
                <a:cs typeface="Montserrat"/>
                <a:sym typeface="Montserrat"/>
              </a:rPr>
              <a:t> in early stage as a trend follower people do commit 1 single shot with small amount just to make sure it is worth to invest their time. As a gambler and risk taker they dont even bother to learn what they doing, simply focus on following the trend</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Curious and </a:t>
            </a:r>
            <a:r>
              <a:rPr b="1" lang="en" sz="1000">
                <a:solidFill>
                  <a:schemeClr val="dk1"/>
                </a:solidFill>
                <a:latin typeface="Montserrat"/>
                <a:ea typeface="Montserrat"/>
                <a:cs typeface="Montserrat"/>
                <a:sym typeface="Montserrat"/>
              </a:rPr>
              <a:t>eager</a:t>
            </a:r>
            <a:r>
              <a:rPr b="1" lang="en" sz="1000">
                <a:solidFill>
                  <a:schemeClr val="dk1"/>
                </a:solidFill>
                <a:latin typeface="Montserrat"/>
                <a:ea typeface="Montserrat"/>
                <a:cs typeface="Montserrat"/>
                <a:sym typeface="Montserrat"/>
              </a:rPr>
              <a:t> to learn,</a:t>
            </a:r>
            <a:r>
              <a:rPr lang="en" sz="1000">
                <a:solidFill>
                  <a:schemeClr val="dk1"/>
                </a:solidFill>
                <a:latin typeface="Montserrat"/>
                <a:ea typeface="Montserrat"/>
                <a:cs typeface="Montserrat"/>
                <a:sym typeface="Montserrat"/>
              </a:rPr>
              <a:t> with the expectation of things gonna work out as their financial </a:t>
            </a:r>
            <a:r>
              <a:rPr lang="en" sz="1000">
                <a:solidFill>
                  <a:schemeClr val="dk1"/>
                </a:solidFill>
                <a:latin typeface="Montserrat"/>
                <a:ea typeface="Montserrat"/>
                <a:cs typeface="Montserrat"/>
                <a:sym typeface="Montserrat"/>
              </a:rPr>
              <a:t>vehicles</a:t>
            </a:r>
            <a:r>
              <a:rPr lang="en" sz="1000">
                <a:solidFill>
                  <a:schemeClr val="dk1"/>
                </a:solidFill>
                <a:latin typeface="Montserrat"/>
                <a:ea typeface="Montserrat"/>
                <a:cs typeface="Montserrat"/>
                <a:sym typeface="Montserrat"/>
              </a:rPr>
              <a:t> they are carrying the fresh of eagerness and learning habit right after graduating and early stage career to deep dive to things or product that help them achieve their goal</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Tech savvy,</a:t>
            </a:r>
            <a:r>
              <a:rPr lang="en" sz="1000">
                <a:solidFill>
                  <a:schemeClr val="dk1"/>
                </a:solidFill>
                <a:latin typeface="Montserrat"/>
                <a:ea typeface="Montserrat"/>
                <a:cs typeface="Montserrat"/>
                <a:sym typeface="Montserrat"/>
              </a:rPr>
              <a:t> based on their age group they are digital natives, they are more likely to focus on internet things product or product in their lifestyle basis to help them achieve their goal </a:t>
            </a:r>
            <a:endParaRPr sz="1000">
              <a:solidFill>
                <a:schemeClr val="dk1"/>
              </a:solidFill>
              <a:latin typeface="Montserrat"/>
              <a:ea typeface="Montserrat"/>
              <a:cs typeface="Montserrat"/>
              <a:sym typeface="Montserrat"/>
            </a:endParaRPr>
          </a:p>
        </p:txBody>
      </p:sp>
      <p:sp>
        <p:nvSpPr>
          <p:cNvPr id="436" name="Google Shape;436;p29"/>
          <p:cNvSpPr txBox="1"/>
          <p:nvPr/>
        </p:nvSpPr>
        <p:spPr>
          <a:xfrm>
            <a:off x="4641950" y="2494975"/>
            <a:ext cx="4400100" cy="110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Limited funds,</a:t>
            </a:r>
            <a:r>
              <a:rPr lang="en" sz="1000">
                <a:solidFill>
                  <a:schemeClr val="dk1"/>
                </a:solidFill>
                <a:latin typeface="Montserrat"/>
                <a:ea typeface="Montserrat"/>
                <a:cs typeface="Montserrat"/>
                <a:sym typeface="Montserrat"/>
              </a:rPr>
              <a:t> people on the age might</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Laziness, </a:t>
            </a:r>
            <a:r>
              <a:rPr lang="en" sz="1000">
                <a:solidFill>
                  <a:schemeClr val="dk1"/>
                </a:solidFill>
                <a:latin typeface="Montserrat"/>
                <a:ea typeface="Montserrat"/>
                <a:cs typeface="Montserrat"/>
                <a:sym typeface="Montserrat"/>
              </a:rPr>
              <a:t>the concept of staying in comfort zone makes this group unable to increase their literacy and improve understanding on the market thus hold till it pump</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Market knowledge, </a:t>
            </a:r>
            <a:r>
              <a:rPr lang="en" sz="1000">
                <a:solidFill>
                  <a:schemeClr val="dk1"/>
                </a:solidFill>
                <a:latin typeface="Montserrat"/>
                <a:ea typeface="Montserrat"/>
                <a:cs typeface="Montserrat"/>
                <a:sym typeface="Montserrat"/>
              </a:rPr>
              <a:t>buy and hold will bring you profit at the end of the day</a:t>
            </a:r>
            <a:endParaRPr sz="1000">
              <a:solidFill>
                <a:schemeClr val="dk1"/>
              </a:solidFill>
              <a:latin typeface="Montserrat"/>
              <a:ea typeface="Montserrat"/>
              <a:cs typeface="Montserrat"/>
              <a:sym typeface="Montserrat"/>
            </a:endParaRPr>
          </a:p>
        </p:txBody>
      </p:sp>
      <p:sp>
        <p:nvSpPr>
          <p:cNvPr id="437" name="Google Shape;437;p29"/>
          <p:cNvSpPr txBox="1"/>
          <p:nvPr/>
        </p:nvSpPr>
        <p:spPr>
          <a:xfrm>
            <a:off x="113475" y="676825"/>
            <a:ext cx="4437000" cy="1262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Age</a:t>
            </a:r>
            <a:r>
              <a:rPr lang="en" sz="1000">
                <a:solidFill>
                  <a:schemeClr val="dk1"/>
                </a:solidFill>
                <a:latin typeface="Montserrat"/>
                <a:ea typeface="Montserrat"/>
                <a:cs typeface="Montserrat"/>
                <a:sym typeface="Montserrat"/>
              </a:rPr>
              <a:t>: 21 years old (fit within 19-25 yr old) 87% from total population age group(0-18) &amp; (26-34)</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Gender</a:t>
            </a:r>
            <a:r>
              <a:rPr lang="en" sz="1000">
                <a:solidFill>
                  <a:schemeClr val="dk1"/>
                </a:solidFill>
                <a:latin typeface="Montserrat"/>
                <a:ea typeface="Montserrat"/>
                <a:cs typeface="Montserrat"/>
                <a:sym typeface="Montserrat"/>
              </a:rPr>
              <a:t>: men</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Location</a:t>
            </a:r>
            <a:r>
              <a:rPr lang="en" sz="1000">
                <a:solidFill>
                  <a:schemeClr val="dk1"/>
                </a:solidFill>
                <a:latin typeface="Montserrat"/>
                <a:ea typeface="Montserrat"/>
                <a:cs typeface="Montserrat"/>
                <a:sym typeface="Montserrat"/>
              </a:rPr>
              <a:t>: Bandung, Bekasi and Bogor</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Occupation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Outlet staff,  intern level in company located in Jakarta</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Income Level</a:t>
            </a:r>
            <a:r>
              <a:rPr lang="en" sz="1000">
                <a:solidFill>
                  <a:schemeClr val="dk1"/>
                </a:solidFill>
                <a:latin typeface="Montserrat"/>
                <a:ea typeface="Montserrat"/>
                <a:cs typeface="Montserrat"/>
                <a:sym typeface="Montserrat"/>
              </a:rPr>
              <a:t>: M</a:t>
            </a:r>
            <a:r>
              <a:rPr lang="en" sz="1000">
                <a:solidFill>
                  <a:schemeClr val="dk1"/>
                </a:solidFill>
                <a:latin typeface="Montserrat"/>
                <a:ea typeface="Montserrat"/>
                <a:cs typeface="Montserrat"/>
                <a:sym typeface="Montserrat"/>
              </a:rPr>
              <a:t>iddle-low networth individual (IDR 3.3 Mio/month)</a:t>
            </a:r>
            <a:endParaRPr sz="1000">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1" name="Shape 441"/>
        <p:cNvGrpSpPr/>
        <p:nvPr/>
      </p:nvGrpSpPr>
      <p:grpSpPr>
        <a:xfrm>
          <a:off x="0" y="0"/>
          <a:ext cx="0" cy="0"/>
          <a:chOff x="0" y="0"/>
          <a:chExt cx="0" cy="0"/>
        </a:xfrm>
      </p:grpSpPr>
      <p:sp>
        <p:nvSpPr>
          <p:cNvPr id="442" name="Google Shape;442;p30"/>
          <p:cNvSpPr txBox="1"/>
          <p:nvPr>
            <p:ph type="title"/>
          </p:nvPr>
        </p:nvSpPr>
        <p:spPr>
          <a:xfrm>
            <a:off x="304800" y="44625"/>
            <a:ext cx="49131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0084B5"/>
                </a:solidFill>
                <a:latin typeface="Montserrat"/>
                <a:ea typeface="Montserrat"/>
                <a:cs typeface="Montserrat"/>
                <a:sym typeface="Montserrat"/>
              </a:rPr>
              <a:t>Low Quality</a:t>
            </a:r>
            <a:r>
              <a:rPr b="1" lang="en" sz="1400">
                <a:solidFill>
                  <a:srgbClr val="0084B5"/>
                </a:solidFill>
                <a:latin typeface="Montserrat"/>
                <a:ea typeface="Montserrat"/>
                <a:cs typeface="Montserrat"/>
                <a:sym typeface="Montserrat"/>
              </a:rPr>
              <a:t> 2023 vs Low Quality 2024 (&gt; 12 months)</a:t>
            </a:r>
            <a:endParaRPr b="1" sz="1400">
              <a:solidFill>
                <a:srgbClr val="0084B5"/>
              </a:solidFill>
              <a:latin typeface="Montserrat"/>
              <a:ea typeface="Montserrat"/>
              <a:cs typeface="Montserrat"/>
              <a:sym typeface="Montserrat"/>
            </a:endParaRPr>
          </a:p>
        </p:txBody>
      </p:sp>
      <p:pic>
        <p:nvPicPr>
          <p:cNvPr id="443" name="Google Shape;443;p30"/>
          <p:cNvPicPr preferRelativeResize="0"/>
          <p:nvPr/>
        </p:nvPicPr>
        <p:blipFill rotWithShape="1">
          <a:blip r:embed="rId4">
            <a:alphaModFix/>
          </a:blip>
          <a:srcRect b="0" l="1390" r="1390" t="0"/>
          <a:stretch/>
        </p:blipFill>
        <p:spPr>
          <a:xfrm>
            <a:off x="404000" y="795563"/>
            <a:ext cx="1541100" cy="1027400"/>
          </a:xfrm>
          <a:prstGeom prst="rect">
            <a:avLst/>
          </a:prstGeom>
          <a:noFill/>
          <a:ln>
            <a:noFill/>
          </a:ln>
        </p:spPr>
      </p:pic>
      <p:sp>
        <p:nvSpPr>
          <p:cNvPr id="444" name="Google Shape;444;p30"/>
          <p:cNvSpPr txBox="1"/>
          <p:nvPr/>
        </p:nvSpPr>
        <p:spPr>
          <a:xfrm>
            <a:off x="3027550" y="7108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2023 Emerging: </a:t>
            </a:r>
            <a:r>
              <a:rPr b="1" lang="en" sz="1000">
                <a:solidFill>
                  <a:schemeClr val="dk2"/>
                </a:solidFill>
              </a:rPr>
              <a:t>348,738</a:t>
            </a:r>
            <a:r>
              <a:rPr b="1" lang="en" sz="1000">
                <a:solidFill>
                  <a:schemeClr val="dk2"/>
                </a:solidFill>
              </a:rPr>
              <a:t> Traders</a:t>
            </a:r>
            <a:endParaRPr b="1" sz="1000">
              <a:solidFill>
                <a:schemeClr val="dk2"/>
              </a:solidFill>
            </a:endParaRPr>
          </a:p>
        </p:txBody>
      </p:sp>
      <p:sp>
        <p:nvSpPr>
          <p:cNvPr id="445" name="Google Shape;445;p30"/>
          <p:cNvSpPr txBox="1"/>
          <p:nvPr/>
        </p:nvSpPr>
        <p:spPr>
          <a:xfrm>
            <a:off x="3083100" y="1446888"/>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2024 Emerging: </a:t>
            </a:r>
            <a:r>
              <a:rPr b="1" lang="en" sz="1000">
                <a:solidFill>
                  <a:schemeClr val="dk2"/>
                </a:solidFill>
              </a:rPr>
              <a:t>380,710</a:t>
            </a:r>
            <a:r>
              <a:rPr b="1" lang="en" sz="1000">
                <a:solidFill>
                  <a:schemeClr val="dk2"/>
                </a:solidFill>
              </a:rPr>
              <a:t> Traders</a:t>
            </a:r>
            <a:endParaRPr b="1" sz="1000">
              <a:solidFill>
                <a:schemeClr val="dk2"/>
              </a:solidFill>
            </a:endParaRPr>
          </a:p>
        </p:txBody>
      </p:sp>
      <p:sp>
        <p:nvSpPr>
          <p:cNvPr id="446" name="Google Shape;446;p30"/>
          <p:cNvSpPr txBox="1"/>
          <p:nvPr/>
        </p:nvSpPr>
        <p:spPr>
          <a:xfrm>
            <a:off x="3444700" y="1024263"/>
            <a:ext cx="12660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6AA84F"/>
                </a:solidFill>
              </a:rPr>
              <a:t>⬆9,01%</a:t>
            </a:r>
            <a:endParaRPr b="1" sz="1600">
              <a:solidFill>
                <a:srgbClr val="6AA84F"/>
              </a:solidFill>
            </a:endParaRPr>
          </a:p>
        </p:txBody>
      </p:sp>
      <p:sp>
        <p:nvSpPr>
          <p:cNvPr id="447" name="Google Shape;447;p30"/>
          <p:cNvSpPr txBox="1"/>
          <p:nvPr/>
        </p:nvSpPr>
        <p:spPr>
          <a:xfrm>
            <a:off x="403988" y="536925"/>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Karyawan Swasta</a:t>
            </a:r>
            <a:endParaRPr b="1" sz="1000">
              <a:solidFill>
                <a:schemeClr val="dk2"/>
              </a:solidFill>
            </a:endParaRPr>
          </a:p>
        </p:txBody>
      </p:sp>
      <p:sp>
        <p:nvSpPr>
          <p:cNvPr id="448" name="Google Shape;448;p30"/>
          <p:cNvSpPr txBox="1"/>
          <p:nvPr/>
        </p:nvSpPr>
        <p:spPr>
          <a:xfrm>
            <a:off x="291488" y="2747500"/>
            <a:ext cx="2753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2"/>
                </a:solidFill>
              </a:rPr>
              <a:t>Low Quality</a:t>
            </a:r>
            <a:r>
              <a:rPr b="1" lang="en" sz="900">
                <a:solidFill>
                  <a:schemeClr val="dk2"/>
                </a:solidFill>
              </a:rPr>
              <a:t> Traders Age Group 2023 &amp; 2024</a:t>
            </a:r>
            <a:endParaRPr b="1" sz="900">
              <a:solidFill>
                <a:schemeClr val="dk2"/>
              </a:solidFill>
            </a:endParaRPr>
          </a:p>
        </p:txBody>
      </p:sp>
      <p:sp>
        <p:nvSpPr>
          <p:cNvPr id="449" name="Google Shape;449;p30"/>
          <p:cNvSpPr txBox="1"/>
          <p:nvPr/>
        </p:nvSpPr>
        <p:spPr>
          <a:xfrm>
            <a:off x="304800" y="3063200"/>
            <a:ext cx="2753700" cy="69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Age group of 26-35 &amp; 36-45 are dominating in this segment. In 2023 and 2024, Men dominating by 87.63% in this segment, meanwhile in 2024, it slightly decreased to 87.30%</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graphicFrame>
        <p:nvGraphicFramePr>
          <p:cNvPr id="450" name="Google Shape;450;p30"/>
          <p:cNvGraphicFramePr/>
          <p:nvPr/>
        </p:nvGraphicFramePr>
        <p:xfrm>
          <a:off x="357000" y="3815100"/>
          <a:ext cx="3000000" cy="3000000"/>
        </p:xfrm>
        <a:graphic>
          <a:graphicData uri="http://schemas.openxmlformats.org/drawingml/2006/table">
            <a:tbl>
              <a:tblPr>
                <a:noFill/>
                <a:tableStyleId>{0287243F-39C1-4460-8421-3307866EDBE6}</a:tableStyleId>
              </a:tblPr>
              <a:tblGrid>
                <a:gridCol w="639550"/>
                <a:gridCol w="639550"/>
                <a:gridCol w="639550"/>
                <a:gridCol w="639550"/>
              </a:tblGrid>
              <a:tr h="140925">
                <a:tc gridSpan="3">
                  <a:txBody>
                    <a:bodyPr/>
                    <a:lstStyle/>
                    <a:p>
                      <a:pPr indent="0" lvl="0" marL="0" rtl="0" algn="ctr">
                        <a:lnSpc>
                          <a:spcPct val="115000"/>
                        </a:lnSpc>
                        <a:spcBef>
                          <a:spcPts val="0"/>
                        </a:spcBef>
                        <a:spcAft>
                          <a:spcPts val="0"/>
                        </a:spcAft>
                        <a:buNone/>
                      </a:pPr>
                      <a:r>
                        <a:rPr b="1" lang="en" sz="600"/>
                        <a:t>Number of Traders (Pelajar &amp; Mahasiswa)</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rowSpan="2">
                  <a:txBody>
                    <a:bodyPr/>
                    <a:lstStyle/>
                    <a:p>
                      <a:pPr indent="0" lvl="0" marL="0" rtl="0" algn="ctr">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140925">
                <a:tc>
                  <a:txBody>
                    <a:bodyPr/>
                    <a:lstStyle/>
                    <a:p>
                      <a:pPr indent="0" lvl="0" marL="0" rtl="0" algn="ctr">
                        <a:lnSpc>
                          <a:spcPct val="115000"/>
                        </a:lnSpc>
                        <a:spcBef>
                          <a:spcPts val="0"/>
                        </a:spcBef>
                        <a:spcAft>
                          <a:spcPts val="0"/>
                        </a:spcAft>
                        <a:buNone/>
                      </a:pPr>
                      <a:r>
                        <a:rPr b="1" lang="en" sz="600"/>
                        <a:t>Age Group</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vMerge="1"/>
              </a:tr>
              <a:tr h="140925">
                <a:tc>
                  <a:txBody>
                    <a:bodyPr/>
                    <a:lstStyle/>
                    <a:p>
                      <a:pPr indent="0" lvl="0" marL="0" rtl="0" algn="ctr">
                        <a:lnSpc>
                          <a:spcPct val="115000"/>
                        </a:lnSpc>
                        <a:spcBef>
                          <a:spcPts val="0"/>
                        </a:spcBef>
                        <a:spcAft>
                          <a:spcPts val="0"/>
                        </a:spcAft>
                        <a:buNone/>
                      </a:pPr>
                      <a:r>
                        <a:rPr lang="en" sz="600"/>
                        <a:t>26-35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59,071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62,094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5.11%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40925">
                <a:tc>
                  <a:txBody>
                    <a:bodyPr/>
                    <a:lstStyle/>
                    <a:p>
                      <a:pPr indent="0" lvl="0" marL="0" rtl="0" algn="ctr">
                        <a:lnSpc>
                          <a:spcPct val="115000"/>
                        </a:lnSpc>
                        <a:spcBef>
                          <a:spcPts val="0"/>
                        </a:spcBef>
                        <a:spcAft>
                          <a:spcPts val="0"/>
                        </a:spcAft>
                        <a:buNone/>
                      </a:pPr>
                      <a:r>
                        <a:rPr lang="en" sz="600">
                          <a:solidFill>
                            <a:schemeClr val="dk1"/>
                          </a:solidFill>
                        </a:rPr>
                        <a:t>36-45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30,300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solidFill>
                            <a:schemeClr val="dk1"/>
                          </a:solidFill>
                        </a:rPr>
                        <a:t>33,330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solidFill>
                            <a:schemeClr val="dk1"/>
                          </a:solidFill>
                        </a:rPr>
                        <a:t>10.0%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451" name="Google Shape;451;p30"/>
          <p:cNvSpPr txBox="1"/>
          <p:nvPr/>
        </p:nvSpPr>
        <p:spPr>
          <a:xfrm>
            <a:off x="3045200" y="17772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Top 3 Deposit Channel in 2023 &amp; 2024</a:t>
            </a:r>
            <a:endParaRPr b="1" sz="1000">
              <a:solidFill>
                <a:schemeClr val="dk2"/>
              </a:solidFill>
            </a:endParaRPr>
          </a:p>
        </p:txBody>
      </p:sp>
      <p:pic>
        <p:nvPicPr>
          <p:cNvPr id="452" name="Google Shape;452;p30"/>
          <p:cNvPicPr preferRelativeResize="0"/>
          <p:nvPr/>
        </p:nvPicPr>
        <p:blipFill>
          <a:blip r:embed="rId5">
            <a:alphaModFix/>
          </a:blip>
          <a:stretch>
            <a:fillRect/>
          </a:stretch>
        </p:blipFill>
        <p:spPr>
          <a:xfrm>
            <a:off x="3128587" y="2141438"/>
            <a:ext cx="1681325" cy="939725"/>
          </a:xfrm>
          <a:prstGeom prst="rect">
            <a:avLst/>
          </a:prstGeom>
          <a:noFill/>
          <a:ln>
            <a:noFill/>
          </a:ln>
        </p:spPr>
      </p:pic>
      <p:sp>
        <p:nvSpPr>
          <p:cNvPr id="453" name="Google Shape;453;p30"/>
          <p:cNvSpPr txBox="1"/>
          <p:nvPr/>
        </p:nvSpPr>
        <p:spPr>
          <a:xfrm>
            <a:off x="4917150" y="20340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23,110</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1,352,296</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454" name="Google Shape;454;p30"/>
          <p:cNvSpPr txBox="1"/>
          <p:nvPr/>
        </p:nvSpPr>
        <p:spPr>
          <a:xfrm>
            <a:off x="4917150" y="25211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14,220</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1,905,934</a:t>
            </a:r>
            <a:endParaRPr sz="700">
              <a:solidFill>
                <a:schemeClr val="dk2"/>
              </a:solidFill>
            </a:endParaRPr>
          </a:p>
        </p:txBody>
      </p:sp>
      <p:sp>
        <p:nvSpPr>
          <p:cNvPr id="455" name="Google Shape;455;p30"/>
          <p:cNvSpPr txBox="1"/>
          <p:nvPr/>
        </p:nvSpPr>
        <p:spPr>
          <a:xfrm>
            <a:off x="4989125" y="308883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13,681</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359,850</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456" name="Google Shape;456;p30"/>
          <p:cNvSpPr txBox="1"/>
          <p:nvPr/>
        </p:nvSpPr>
        <p:spPr>
          <a:xfrm>
            <a:off x="4989125" y="3575888"/>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8,842</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399,021</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457" name="Google Shape;457;p30"/>
          <p:cNvSpPr txBox="1"/>
          <p:nvPr/>
        </p:nvSpPr>
        <p:spPr>
          <a:xfrm>
            <a:off x="4989125" y="403487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2023 : </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10,190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1,369,306</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458" name="Google Shape;458;p30"/>
          <p:cNvSpPr txBox="1"/>
          <p:nvPr/>
        </p:nvSpPr>
        <p:spPr>
          <a:xfrm>
            <a:off x="4989125" y="4521925"/>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2024 : </a:t>
            </a:r>
            <a:endParaRPr sz="5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Users: </a:t>
            </a:r>
            <a:r>
              <a:rPr lang="en" sz="700">
                <a:solidFill>
                  <a:schemeClr val="dk2"/>
                </a:solidFill>
              </a:rPr>
              <a:t>6,650</a:t>
            </a:r>
            <a:r>
              <a:rPr lang="en" sz="700">
                <a:solidFill>
                  <a:schemeClr val="dk2"/>
                </a:solidFill>
              </a:rPr>
              <a:t> Users</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Avg Deposit Amount: Rp </a:t>
            </a:r>
            <a:r>
              <a:rPr lang="en" sz="700">
                <a:solidFill>
                  <a:schemeClr val="dk2"/>
                </a:solidFill>
              </a:rPr>
              <a:t>3,553,092</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pic>
        <p:nvPicPr>
          <p:cNvPr id="459" name="Google Shape;459;p30"/>
          <p:cNvPicPr preferRelativeResize="0"/>
          <p:nvPr/>
        </p:nvPicPr>
        <p:blipFill rotWithShape="1">
          <a:blip r:embed="rId6">
            <a:alphaModFix/>
          </a:blip>
          <a:srcRect b="5666" l="0" r="0" t="5657"/>
          <a:stretch/>
        </p:blipFill>
        <p:spPr>
          <a:xfrm>
            <a:off x="6907075" y="163900"/>
            <a:ext cx="1849201" cy="1293136"/>
          </a:xfrm>
          <a:prstGeom prst="rect">
            <a:avLst/>
          </a:prstGeom>
          <a:noFill/>
          <a:ln>
            <a:noFill/>
          </a:ln>
        </p:spPr>
      </p:pic>
      <p:sp>
        <p:nvSpPr>
          <p:cNvPr id="460" name="Google Shape;460;p30"/>
          <p:cNvSpPr txBox="1"/>
          <p:nvPr/>
        </p:nvSpPr>
        <p:spPr>
          <a:xfrm>
            <a:off x="6863775" y="1564713"/>
            <a:ext cx="1935900" cy="1293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Jawa Barat become a top 1 region for Low Quality (&gt; 12 Months) traders with the population of </a:t>
            </a:r>
            <a:r>
              <a:rPr lang="en" sz="900">
                <a:solidFill>
                  <a:schemeClr val="dk2"/>
                </a:solidFill>
              </a:rPr>
              <a:t>71,540</a:t>
            </a:r>
            <a:r>
              <a:rPr lang="en" sz="900">
                <a:solidFill>
                  <a:schemeClr val="dk2"/>
                </a:solidFill>
              </a:rPr>
              <a:t> traders in 2023, and it grow by 6,33% to </a:t>
            </a:r>
            <a:r>
              <a:rPr lang="en" sz="900">
                <a:solidFill>
                  <a:schemeClr val="dk2"/>
                </a:solidFill>
              </a:rPr>
              <a:t>76,072</a:t>
            </a:r>
            <a:r>
              <a:rPr lang="en" sz="900">
                <a:solidFill>
                  <a:schemeClr val="dk2"/>
                </a:solidFill>
              </a:rPr>
              <a:t> traders in 2024. </a:t>
            </a:r>
            <a:endParaRPr sz="900">
              <a:solidFill>
                <a:schemeClr val="dk2"/>
              </a:solidFill>
            </a:endParaRPr>
          </a:p>
        </p:txBody>
      </p:sp>
      <p:cxnSp>
        <p:nvCxnSpPr>
          <p:cNvPr id="461" name="Google Shape;461;p30"/>
          <p:cNvCxnSpPr/>
          <p:nvPr/>
        </p:nvCxnSpPr>
        <p:spPr>
          <a:xfrm>
            <a:off x="4710700" y="2571750"/>
            <a:ext cx="179100" cy="0"/>
          </a:xfrm>
          <a:prstGeom prst="straightConnector1">
            <a:avLst/>
          </a:prstGeom>
          <a:noFill/>
          <a:ln cap="flat" cmpd="sng" w="9525">
            <a:solidFill>
              <a:schemeClr val="dk2"/>
            </a:solidFill>
            <a:prstDash val="solid"/>
            <a:round/>
            <a:headEnd len="med" w="med" type="none"/>
            <a:tailEnd len="med" w="med" type="stealth"/>
          </a:ln>
        </p:spPr>
      </p:cxnSp>
      <p:cxnSp>
        <p:nvCxnSpPr>
          <p:cNvPr id="462" name="Google Shape;462;p30"/>
          <p:cNvCxnSpPr/>
          <p:nvPr/>
        </p:nvCxnSpPr>
        <p:spPr>
          <a:xfrm>
            <a:off x="4709250" y="3551525"/>
            <a:ext cx="236400" cy="0"/>
          </a:xfrm>
          <a:prstGeom prst="straightConnector1">
            <a:avLst/>
          </a:prstGeom>
          <a:noFill/>
          <a:ln cap="flat" cmpd="sng" w="9525">
            <a:solidFill>
              <a:schemeClr val="dk2"/>
            </a:solidFill>
            <a:prstDash val="solid"/>
            <a:round/>
            <a:headEnd len="med" w="med" type="none"/>
            <a:tailEnd len="med" w="med" type="stealth"/>
          </a:ln>
        </p:spPr>
      </p:cxnSp>
      <p:cxnSp>
        <p:nvCxnSpPr>
          <p:cNvPr id="463" name="Google Shape;463;p30"/>
          <p:cNvCxnSpPr>
            <a:stCxn id="464" idx="3"/>
          </p:cNvCxnSpPr>
          <p:nvPr/>
        </p:nvCxnSpPr>
        <p:spPr>
          <a:xfrm>
            <a:off x="4669138" y="4549625"/>
            <a:ext cx="262200" cy="4800"/>
          </a:xfrm>
          <a:prstGeom prst="straightConnector1">
            <a:avLst/>
          </a:prstGeom>
          <a:noFill/>
          <a:ln cap="flat" cmpd="sng" w="9525">
            <a:solidFill>
              <a:schemeClr val="dk2"/>
            </a:solidFill>
            <a:prstDash val="solid"/>
            <a:round/>
            <a:headEnd len="med" w="med" type="none"/>
            <a:tailEnd len="med" w="med" type="stealth"/>
          </a:ln>
        </p:spPr>
      </p:cxnSp>
      <p:graphicFrame>
        <p:nvGraphicFramePr>
          <p:cNvPr id="465" name="Google Shape;465;p30"/>
          <p:cNvGraphicFramePr/>
          <p:nvPr/>
        </p:nvGraphicFramePr>
        <p:xfrm>
          <a:off x="6758725" y="2965713"/>
          <a:ext cx="3000000" cy="3000000"/>
        </p:xfrm>
        <a:graphic>
          <a:graphicData uri="http://schemas.openxmlformats.org/drawingml/2006/table">
            <a:tbl>
              <a:tblPr>
                <a:noFill/>
                <a:tableStyleId>{0287243F-39C1-4460-8421-3307866EDBE6}</a:tableStyleId>
              </a:tblPr>
              <a:tblGrid>
                <a:gridCol w="565675"/>
                <a:gridCol w="565675"/>
                <a:gridCol w="565675"/>
                <a:gridCol w="448950"/>
              </a:tblGrid>
              <a:tr h="146075">
                <a:tc gridSpan="4">
                  <a:txBody>
                    <a:bodyPr/>
                    <a:lstStyle/>
                    <a:p>
                      <a:pPr indent="0" lvl="0" marL="0" rtl="0" algn="ctr">
                        <a:lnSpc>
                          <a:spcPct val="115000"/>
                        </a:lnSpc>
                        <a:spcBef>
                          <a:spcPts val="0"/>
                        </a:spcBef>
                        <a:spcAft>
                          <a:spcPts val="0"/>
                        </a:spcAft>
                        <a:buNone/>
                      </a:pPr>
                      <a:r>
                        <a:rPr b="1" lang="en" sz="600"/>
                        <a:t>Trading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2461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246100">
                <a:tc>
                  <a:txBody>
                    <a:bodyPr/>
                    <a:lstStyle/>
                    <a:p>
                      <a:pPr indent="0" lvl="0" marL="0" rtl="0" algn="l">
                        <a:lnSpc>
                          <a:spcPct val="115000"/>
                        </a:lnSpc>
                        <a:spcBef>
                          <a:spcPts val="0"/>
                        </a:spcBef>
                        <a:spcAft>
                          <a:spcPts val="0"/>
                        </a:spcAft>
                        <a:buNone/>
                      </a:pPr>
                      <a:r>
                        <a:rPr lang="en" sz="600"/>
                        <a:t>Avg </a:t>
                      </a:r>
                      <a:r>
                        <a:rPr lang="en" sz="600"/>
                        <a:t>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8.16</a:t>
                      </a:r>
                      <a:r>
                        <a:rPr lang="en" sz="600"/>
                        <a: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Trade Frequency (Weekly)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Trade Frequency (Monthly)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14.28%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Trade Frequency (Daily)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802,022,070,726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849,581,947,918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5.93%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461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902,633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836,079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-7.37%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pic>
        <p:nvPicPr>
          <p:cNvPr id="466" name="Google Shape;466;p30"/>
          <p:cNvPicPr preferRelativeResize="0"/>
          <p:nvPr/>
        </p:nvPicPr>
        <p:blipFill>
          <a:blip r:embed="rId7">
            <a:alphaModFix/>
          </a:blip>
          <a:stretch>
            <a:fillRect/>
          </a:stretch>
        </p:blipFill>
        <p:spPr>
          <a:xfrm>
            <a:off x="3558525" y="3125853"/>
            <a:ext cx="930581" cy="939725"/>
          </a:xfrm>
          <a:prstGeom prst="rect">
            <a:avLst/>
          </a:prstGeom>
          <a:noFill/>
          <a:ln>
            <a:noFill/>
          </a:ln>
        </p:spPr>
      </p:pic>
      <p:pic>
        <p:nvPicPr>
          <p:cNvPr id="467" name="Google Shape;467;p30"/>
          <p:cNvPicPr preferRelativeResize="0"/>
          <p:nvPr/>
        </p:nvPicPr>
        <p:blipFill>
          <a:blip r:embed="rId8">
            <a:alphaModFix/>
          </a:blip>
          <a:stretch>
            <a:fillRect/>
          </a:stretch>
        </p:blipFill>
        <p:spPr>
          <a:xfrm>
            <a:off x="3027550" y="4174675"/>
            <a:ext cx="1849200" cy="844975"/>
          </a:xfrm>
          <a:prstGeom prst="rect">
            <a:avLst/>
          </a:prstGeom>
          <a:noFill/>
          <a:ln>
            <a:noFill/>
          </a:ln>
        </p:spPr>
      </p:pic>
      <p:sp>
        <p:nvSpPr>
          <p:cNvPr id="468" name="Google Shape;468;p30"/>
          <p:cNvSpPr txBox="1"/>
          <p:nvPr/>
        </p:nvSpPr>
        <p:spPr>
          <a:xfrm>
            <a:off x="1915400" y="4521925"/>
            <a:ext cx="1017300" cy="57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2"/>
                </a:solidFill>
              </a:rPr>
              <a:t>Source:</a:t>
            </a:r>
            <a:endParaRPr sz="500">
              <a:solidFill>
                <a:schemeClr val="dk2"/>
              </a:solidFill>
            </a:endParaRPr>
          </a:p>
          <a:p>
            <a:pPr indent="0" lvl="0" marL="0" rtl="0" algn="l">
              <a:spcBef>
                <a:spcPts val="0"/>
              </a:spcBef>
              <a:spcAft>
                <a:spcPts val="0"/>
              </a:spcAft>
              <a:buNone/>
            </a:pPr>
            <a:r>
              <a:rPr lang="en" sz="500" u="sng">
                <a:solidFill>
                  <a:schemeClr val="hlink"/>
                </a:solidFill>
                <a:hlinkClick r:id="rId9"/>
              </a:rPr>
              <a:t>Source of Deposit Data</a:t>
            </a:r>
            <a:endParaRPr sz="500">
              <a:solidFill>
                <a:schemeClr val="dk2"/>
              </a:solidFill>
            </a:endParaRPr>
          </a:p>
          <a:p>
            <a:pPr indent="0" lvl="0" marL="0" rtl="0" algn="l">
              <a:spcBef>
                <a:spcPts val="0"/>
              </a:spcBef>
              <a:spcAft>
                <a:spcPts val="0"/>
              </a:spcAft>
              <a:buNone/>
            </a:pPr>
            <a:r>
              <a:rPr lang="en" sz="500" u="sng">
                <a:solidFill>
                  <a:schemeClr val="hlink"/>
                </a:solidFill>
                <a:hlinkClick r:id="rId10"/>
              </a:rPr>
              <a:t>Source of Trade and Location</a:t>
            </a:r>
            <a:endParaRPr sz="500">
              <a:solidFill>
                <a:schemeClr val="dk2"/>
              </a:solidFill>
            </a:endParaRPr>
          </a:p>
          <a:p>
            <a:pPr indent="0" lvl="0" marL="0" rtl="0" algn="l">
              <a:spcBef>
                <a:spcPts val="0"/>
              </a:spcBef>
              <a:spcAft>
                <a:spcPts val="0"/>
              </a:spcAft>
              <a:buNone/>
            </a:pPr>
            <a:r>
              <a:rPr lang="en" sz="500" u="sng">
                <a:solidFill>
                  <a:schemeClr val="hlink"/>
                </a:solidFill>
                <a:hlinkClick r:id="rId11"/>
              </a:rPr>
              <a:t>Source of Age Group</a:t>
            </a:r>
            <a:endParaRPr sz="500">
              <a:solidFill>
                <a:schemeClr val="dk2"/>
              </a:solidFill>
            </a:endParaRPr>
          </a:p>
        </p:txBody>
      </p:sp>
      <p:pic>
        <p:nvPicPr>
          <p:cNvPr id="469" name="Google Shape;469;p30"/>
          <p:cNvPicPr preferRelativeResize="0"/>
          <p:nvPr/>
        </p:nvPicPr>
        <p:blipFill>
          <a:blip r:embed="rId12">
            <a:alphaModFix/>
          </a:blip>
          <a:stretch>
            <a:fillRect/>
          </a:stretch>
        </p:blipFill>
        <p:spPr>
          <a:xfrm>
            <a:off x="5731000" y="982550"/>
            <a:ext cx="694200" cy="694200"/>
          </a:xfrm>
          <a:prstGeom prst="rect">
            <a:avLst/>
          </a:prstGeom>
          <a:noFill/>
          <a:ln>
            <a:noFill/>
          </a:ln>
        </p:spPr>
      </p:pic>
      <p:sp>
        <p:nvSpPr>
          <p:cNvPr id="470" name="Google Shape;470;p30"/>
          <p:cNvSpPr txBox="1"/>
          <p:nvPr/>
        </p:nvSpPr>
        <p:spPr>
          <a:xfrm>
            <a:off x="5365975" y="1565800"/>
            <a:ext cx="15411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Average income:</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Indonesia : 3,3M/Month</a:t>
            </a:r>
            <a:endParaRPr sz="700">
              <a:solidFill>
                <a:schemeClr val="dk2"/>
              </a:solidFill>
            </a:endParaRPr>
          </a:p>
        </p:txBody>
      </p:sp>
      <p:sp>
        <p:nvSpPr>
          <p:cNvPr id="471" name="Google Shape;471;p30"/>
          <p:cNvSpPr txBox="1"/>
          <p:nvPr/>
        </p:nvSpPr>
        <p:spPr>
          <a:xfrm>
            <a:off x="5365975" y="44625"/>
            <a:ext cx="1462500" cy="939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500">
                <a:solidFill>
                  <a:schemeClr val="dk2"/>
                </a:solidFill>
              </a:rPr>
              <a:t>Top 3 City in Jawa Barat:</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Kota Bandung:</a:t>
            </a:r>
            <a:endParaRPr b="1" sz="500">
              <a:solidFill>
                <a:schemeClr val="dk2"/>
              </a:solidFill>
            </a:endParaRPr>
          </a:p>
          <a:p>
            <a:pPr indent="0" lvl="0" marL="457200" rtl="0" algn="l">
              <a:spcBef>
                <a:spcPts val="0"/>
              </a:spcBef>
              <a:spcAft>
                <a:spcPts val="0"/>
              </a:spcAft>
              <a:buNone/>
            </a:pPr>
            <a:r>
              <a:rPr b="1" lang="en" sz="500">
                <a:solidFill>
                  <a:schemeClr val="dk2"/>
                </a:solidFill>
              </a:rPr>
              <a:t>2023 (9013 users), 2024 (9008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Kota Bekasi:</a:t>
            </a:r>
            <a:endParaRPr b="1" sz="500">
              <a:solidFill>
                <a:schemeClr val="dk2"/>
              </a:solidFill>
            </a:endParaRPr>
          </a:p>
          <a:p>
            <a:pPr indent="0" lvl="0" marL="457200" rtl="0" algn="l">
              <a:spcBef>
                <a:spcPts val="0"/>
              </a:spcBef>
              <a:spcAft>
                <a:spcPts val="0"/>
              </a:spcAft>
              <a:buNone/>
            </a:pPr>
            <a:r>
              <a:rPr b="1" lang="en" sz="500">
                <a:solidFill>
                  <a:schemeClr val="dk2"/>
                </a:solidFill>
              </a:rPr>
              <a:t>2023 (8973 users), 2024 (8884 users)</a:t>
            </a:r>
            <a:endParaRPr b="1" sz="500">
              <a:solidFill>
                <a:schemeClr val="dk2"/>
              </a:solidFill>
            </a:endParaRPr>
          </a:p>
          <a:p>
            <a:pPr indent="-260350" lvl="0" marL="457200" rtl="0" algn="l">
              <a:spcBef>
                <a:spcPts val="0"/>
              </a:spcBef>
              <a:spcAft>
                <a:spcPts val="0"/>
              </a:spcAft>
              <a:buClr>
                <a:schemeClr val="dk2"/>
              </a:buClr>
              <a:buSzPts val="500"/>
              <a:buAutoNum type="arabicPeriod"/>
            </a:pPr>
            <a:r>
              <a:rPr b="1" lang="en" sz="500">
                <a:solidFill>
                  <a:schemeClr val="dk2"/>
                </a:solidFill>
              </a:rPr>
              <a:t>Kab. Bogor:</a:t>
            </a:r>
            <a:endParaRPr b="1" sz="500">
              <a:solidFill>
                <a:schemeClr val="dk2"/>
              </a:solidFill>
            </a:endParaRPr>
          </a:p>
          <a:p>
            <a:pPr indent="0" lvl="0" marL="457200" rtl="0" algn="l">
              <a:spcBef>
                <a:spcPts val="0"/>
              </a:spcBef>
              <a:spcAft>
                <a:spcPts val="0"/>
              </a:spcAft>
              <a:buNone/>
            </a:pPr>
            <a:r>
              <a:rPr b="1" lang="en" sz="500">
                <a:solidFill>
                  <a:schemeClr val="dk2"/>
                </a:solidFill>
              </a:rPr>
              <a:t>2023 (6493 users), 2024 (6431 users)</a:t>
            </a:r>
            <a:endParaRPr b="1" sz="500">
              <a:solidFill>
                <a:schemeClr val="dk2"/>
              </a:solidFill>
            </a:endParaRPr>
          </a:p>
          <a:p>
            <a:pPr indent="0" lvl="0" marL="457200" rtl="0" algn="l">
              <a:spcBef>
                <a:spcPts val="0"/>
              </a:spcBef>
              <a:spcAft>
                <a:spcPts val="0"/>
              </a:spcAft>
              <a:buNone/>
            </a:pPr>
            <a:r>
              <a:t/>
            </a:r>
            <a:endParaRPr b="1" sz="500">
              <a:solidFill>
                <a:schemeClr val="dk2"/>
              </a:solidFill>
            </a:endParaRPr>
          </a:p>
        </p:txBody>
      </p:sp>
      <p:cxnSp>
        <p:nvCxnSpPr>
          <p:cNvPr id="472" name="Google Shape;472;p30"/>
          <p:cNvCxnSpPr/>
          <p:nvPr/>
        </p:nvCxnSpPr>
        <p:spPr>
          <a:xfrm rot="10800000">
            <a:off x="6851050" y="370825"/>
            <a:ext cx="1031700" cy="422700"/>
          </a:xfrm>
          <a:prstGeom prst="straightConnector1">
            <a:avLst/>
          </a:prstGeom>
          <a:noFill/>
          <a:ln cap="flat" cmpd="sng" w="9525">
            <a:solidFill>
              <a:srgbClr val="FF0000"/>
            </a:solidFill>
            <a:prstDash val="dash"/>
            <a:round/>
            <a:headEnd len="med" w="med" type="none"/>
            <a:tailEnd len="med" w="med" type="stealth"/>
          </a:ln>
        </p:spPr>
      </p:cxnSp>
      <p:pic>
        <p:nvPicPr>
          <p:cNvPr id="473" name="Google Shape;473;p30"/>
          <p:cNvPicPr preferRelativeResize="0"/>
          <p:nvPr/>
        </p:nvPicPr>
        <p:blipFill>
          <a:blip r:embed="rId13">
            <a:alphaModFix/>
          </a:blip>
          <a:stretch>
            <a:fillRect/>
          </a:stretch>
        </p:blipFill>
        <p:spPr>
          <a:xfrm>
            <a:off x="356994" y="1902005"/>
            <a:ext cx="301206" cy="301153"/>
          </a:xfrm>
          <a:prstGeom prst="rect">
            <a:avLst/>
          </a:prstGeom>
          <a:noFill/>
          <a:ln>
            <a:noFill/>
          </a:ln>
        </p:spPr>
      </p:pic>
      <p:pic>
        <p:nvPicPr>
          <p:cNvPr id="474" name="Google Shape;474;p30"/>
          <p:cNvPicPr preferRelativeResize="0"/>
          <p:nvPr/>
        </p:nvPicPr>
        <p:blipFill>
          <a:blip r:embed="rId14">
            <a:alphaModFix/>
          </a:blip>
          <a:stretch>
            <a:fillRect/>
          </a:stretch>
        </p:blipFill>
        <p:spPr>
          <a:xfrm>
            <a:off x="1559319" y="1902018"/>
            <a:ext cx="301206" cy="301153"/>
          </a:xfrm>
          <a:prstGeom prst="rect">
            <a:avLst/>
          </a:prstGeom>
          <a:noFill/>
          <a:ln>
            <a:noFill/>
          </a:ln>
        </p:spPr>
      </p:pic>
      <p:pic>
        <p:nvPicPr>
          <p:cNvPr id="475" name="Google Shape;475;p30"/>
          <p:cNvPicPr preferRelativeResize="0"/>
          <p:nvPr/>
        </p:nvPicPr>
        <p:blipFill>
          <a:blip r:embed="rId15">
            <a:alphaModFix/>
          </a:blip>
          <a:stretch>
            <a:fillRect/>
          </a:stretch>
        </p:blipFill>
        <p:spPr>
          <a:xfrm>
            <a:off x="1158545" y="1902022"/>
            <a:ext cx="301205" cy="301153"/>
          </a:xfrm>
          <a:prstGeom prst="rect">
            <a:avLst/>
          </a:prstGeom>
          <a:noFill/>
          <a:ln>
            <a:noFill/>
          </a:ln>
        </p:spPr>
      </p:pic>
      <p:pic>
        <p:nvPicPr>
          <p:cNvPr id="476" name="Google Shape;476;p30"/>
          <p:cNvPicPr preferRelativeResize="0"/>
          <p:nvPr/>
        </p:nvPicPr>
        <p:blipFill>
          <a:blip r:embed="rId16">
            <a:alphaModFix/>
          </a:blip>
          <a:stretch>
            <a:fillRect/>
          </a:stretch>
        </p:blipFill>
        <p:spPr>
          <a:xfrm flipH="1">
            <a:off x="757770" y="1902015"/>
            <a:ext cx="301204" cy="301153"/>
          </a:xfrm>
          <a:prstGeom prst="rect">
            <a:avLst/>
          </a:prstGeom>
          <a:noFill/>
          <a:ln>
            <a:noFill/>
          </a:ln>
        </p:spPr>
      </p:pic>
      <p:pic>
        <p:nvPicPr>
          <p:cNvPr id="477" name="Google Shape;477;p30"/>
          <p:cNvPicPr preferRelativeResize="0"/>
          <p:nvPr/>
        </p:nvPicPr>
        <p:blipFill>
          <a:blip r:embed="rId17">
            <a:alphaModFix/>
          </a:blip>
          <a:stretch>
            <a:fillRect/>
          </a:stretch>
        </p:blipFill>
        <p:spPr>
          <a:xfrm>
            <a:off x="1960101" y="1923988"/>
            <a:ext cx="281550" cy="281550"/>
          </a:xfrm>
          <a:prstGeom prst="rect">
            <a:avLst/>
          </a:prstGeom>
          <a:noFill/>
          <a:ln>
            <a:noFill/>
          </a:ln>
        </p:spPr>
      </p:pic>
      <p:pic>
        <p:nvPicPr>
          <p:cNvPr id="478" name="Google Shape;478;p30"/>
          <p:cNvPicPr preferRelativeResize="0"/>
          <p:nvPr/>
        </p:nvPicPr>
        <p:blipFill>
          <a:blip r:embed="rId18">
            <a:alphaModFix/>
          </a:blip>
          <a:stretch>
            <a:fillRect/>
          </a:stretch>
        </p:blipFill>
        <p:spPr>
          <a:xfrm>
            <a:off x="2343950" y="1901975"/>
            <a:ext cx="301199" cy="301199"/>
          </a:xfrm>
          <a:prstGeom prst="rect">
            <a:avLst/>
          </a:prstGeom>
          <a:noFill/>
          <a:ln>
            <a:noFill/>
          </a:ln>
        </p:spPr>
      </p:pic>
      <p:sp>
        <p:nvSpPr>
          <p:cNvPr id="479" name="Google Shape;479;p30"/>
          <p:cNvSpPr txBox="1"/>
          <p:nvPr/>
        </p:nvSpPr>
        <p:spPr>
          <a:xfrm>
            <a:off x="371750" y="2230377"/>
            <a:ext cx="2528700" cy="5715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lang="en" sz="700">
                <a:solidFill>
                  <a:schemeClr val="dk2"/>
                </a:solidFill>
                <a:latin typeface="Proxima Nova"/>
                <a:ea typeface="Proxima Nova"/>
                <a:cs typeface="Proxima Nova"/>
                <a:sym typeface="Proxima Nova"/>
              </a:rPr>
              <a:t>Low Value traders (&gt; 12 months) have the most trade volume for Altcoins such. From 2023 to 2024 the trading volume of Altcoins increased by 76.19% from 1.68T to 2.96T. Followed by Stablecoins in 2nd places at 2023 and MEME coins in 2nd places at 2024 of coin preferences in this segment</a:t>
            </a:r>
            <a:endParaRPr sz="700">
              <a:solidFill>
                <a:schemeClr val="dk2"/>
              </a:solidFill>
              <a:latin typeface="Proxima Nova"/>
              <a:ea typeface="Proxima Nova"/>
              <a:cs typeface="Proxima Nova"/>
              <a:sym typeface="Proxima Nova"/>
            </a:endParaRPr>
          </a:p>
        </p:txBody>
      </p:sp>
      <p:grpSp>
        <p:nvGrpSpPr>
          <p:cNvPr id="480" name="Google Shape;480;p30"/>
          <p:cNvGrpSpPr/>
          <p:nvPr/>
        </p:nvGrpSpPr>
        <p:grpSpPr>
          <a:xfrm>
            <a:off x="2008225" y="1035450"/>
            <a:ext cx="831625" cy="749300"/>
            <a:chOff x="2006250" y="663775"/>
            <a:chExt cx="831625" cy="749300"/>
          </a:xfrm>
        </p:grpSpPr>
        <p:pic>
          <p:nvPicPr>
            <p:cNvPr id="481" name="Google Shape;481;p30"/>
            <p:cNvPicPr preferRelativeResize="0"/>
            <p:nvPr/>
          </p:nvPicPr>
          <p:blipFill>
            <a:blip r:embed="rId19">
              <a:alphaModFix/>
            </a:blip>
            <a:stretch>
              <a:fillRect/>
            </a:stretch>
          </p:blipFill>
          <p:spPr>
            <a:xfrm>
              <a:off x="2250371" y="663775"/>
              <a:ext cx="352100" cy="352100"/>
            </a:xfrm>
            <a:prstGeom prst="rect">
              <a:avLst/>
            </a:prstGeom>
            <a:noFill/>
            <a:ln>
              <a:noFill/>
            </a:ln>
          </p:spPr>
        </p:pic>
        <p:pic>
          <p:nvPicPr>
            <p:cNvPr id="482" name="Google Shape;482;p30"/>
            <p:cNvPicPr preferRelativeResize="0"/>
            <p:nvPr/>
          </p:nvPicPr>
          <p:blipFill>
            <a:blip r:embed="rId20">
              <a:alphaModFix/>
            </a:blip>
            <a:stretch>
              <a:fillRect/>
            </a:stretch>
          </p:blipFill>
          <p:spPr>
            <a:xfrm flipH="1">
              <a:off x="2006250" y="1051350"/>
              <a:ext cx="352100" cy="352100"/>
            </a:xfrm>
            <a:prstGeom prst="rect">
              <a:avLst/>
            </a:prstGeom>
            <a:noFill/>
            <a:ln>
              <a:noFill/>
            </a:ln>
          </p:spPr>
        </p:pic>
        <p:pic>
          <p:nvPicPr>
            <p:cNvPr id="483" name="Google Shape;483;p30"/>
            <p:cNvPicPr preferRelativeResize="0"/>
            <p:nvPr/>
          </p:nvPicPr>
          <p:blipFill>
            <a:blip r:embed="rId21">
              <a:alphaModFix/>
            </a:blip>
            <a:stretch>
              <a:fillRect/>
            </a:stretch>
          </p:blipFill>
          <p:spPr>
            <a:xfrm>
              <a:off x="2485775" y="1060975"/>
              <a:ext cx="352100" cy="3521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7" name="Shape 487"/>
        <p:cNvGrpSpPr/>
        <p:nvPr/>
      </p:nvGrpSpPr>
      <p:grpSpPr>
        <a:xfrm>
          <a:off x="0" y="0"/>
          <a:ext cx="0" cy="0"/>
          <a:chOff x="0" y="0"/>
          <a:chExt cx="0" cy="0"/>
        </a:xfrm>
      </p:grpSpPr>
      <p:sp>
        <p:nvSpPr>
          <p:cNvPr id="488" name="Google Shape;488;p31"/>
          <p:cNvSpPr txBox="1"/>
          <p:nvPr>
            <p:ph type="title"/>
          </p:nvPr>
        </p:nvSpPr>
        <p:spPr>
          <a:xfrm>
            <a:off x="304800" y="44625"/>
            <a:ext cx="82944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New to Market</a:t>
            </a:r>
            <a:r>
              <a:rPr b="1" lang="en" sz="1800">
                <a:solidFill>
                  <a:srgbClr val="0084B5"/>
                </a:solidFill>
                <a:latin typeface="Montserrat"/>
                <a:ea typeface="Montserrat"/>
                <a:cs typeface="Montserrat"/>
                <a:sym typeface="Montserrat"/>
              </a:rPr>
              <a:t> 2023 vs </a:t>
            </a:r>
            <a:r>
              <a:rPr b="1" lang="en" sz="1800">
                <a:solidFill>
                  <a:srgbClr val="0084B5"/>
                </a:solidFill>
                <a:latin typeface="Montserrat"/>
                <a:ea typeface="Montserrat"/>
                <a:cs typeface="Montserrat"/>
                <a:sym typeface="Montserrat"/>
              </a:rPr>
              <a:t>New to Market</a:t>
            </a:r>
            <a:r>
              <a:rPr b="1" lang="en" sz="1800">
                <a:solidFill>
                  <a:srgbClr val="0084B5"/>
                </a:solidFill>
                <a:latin typeface="Montserrat"/>
                <a:ea typeface="Montserrat"/>
                <a:cs typeface="Montserrat"/>
                <a:sym typeface="Montserrat"/>
              </a:rPr>
              <a:t> 2024 (&gt; 1 years)</a:t>
            </a:r>
            <a:endParaRPr b="1" sz="1800">
              <a:solidFill>
                <a:srgbClr val="0084B5"/>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500">
              <a:solidFill>
                <a:srgbClr val="0084B5"/>
              </a:solidFill>
              <a:latin typeface="Montserrat"/>
              <a:ea typeface="Montserrat"/>
              <a:cs typeface="Montserrat"/>
              <a:sym typeface="Montserrat"/>
            </a:endParaRPr>
          </a:p>
        </p:txBody>
      </p:sp>
      <p:sp>
        <p:nvSpPr>
          <p:cNvPr id="489" name="Google Shape;489;p31"/>
          <p:cNvSpPr txBox="1"/>
          <p:nvPr/>
        </p:nvSpPr>
        <p:spPr>
          <a:xfrm>
            <a:off x="1251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DCA</a:t>
            </a:r>
            <a:endParaRPr b="1" sz="1000">
              <a:solidFill>
                <a:schemeClr val="dk2"/>
              </a:solidFill>
            </a:endParaRPr>
          </a:p>
        </p:txBody>
      </p:sp>
      <p:sp>
        <p:nvSpPr>
          <p:cNvPr id="490" name="Google Shape;490;p31"/>
          <p:cNvSpPr txBox="1"/>
          <p:nvPr/>
        </p:nvSpPr>
        <p:spPr>
          <a:xfrm>
            <a:off x="302843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Staking</a:t>
            </a:r>
            <a:endParaRPr b="1" sz="1000">
              <a:solidFill>
                <a:schemeClr val="dk2"/>
              </a:solidFill>
            </a:endParaRPr>
          </a:p>
        </p:txBody>
      </p:sp>
      <p:sp>
        <p:nvSpPr>
          <p:cNvPr id="491" name="Google Shape;491;p31"/>
          <p:cNvSpPr txBox="1"/>
          <p:nvPr/>
        </p:nvSpPr>
        <p:spPr>
          <a:xfrm>
            <a:off x="6195188" y="399550"/>
            <a:ext cx="25287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API Trading</a:t>
            </a:r>
            <a:endParaRPr b="1" sz="1000">
              <a:solidFill>
                <a:schemeClr val="dk2"/>
              </a:solidFill>
            </a:endParaRPr>
          </a:p>
        </p:txBody>
      </p:sp>
      <p:graphicFrame>
        <p:nvGraphicFramePr>
          <p:cNvPr id="492" name="Google Shape;492;p31"/>
          <p:cNvGraphicFramePr/>
          <p:nvPr/>
        </p:nvGraphicFramePr>
        <p:xfrm>
          <a:off x="125200" y="657538"/>
          <a:ext cx="3000000" cy="3000000"/>
        </p:xfrm>
        <a:graphic>
          <a:graphicData uri="http://schemas.openxmlformats.org/drawingml/2006/table">
            <a:tbl>
              <a:tblPr>
                <a:noFill/>
                <a:tableStyleId>{0287243F-39C1-4460-8421-3307866EDBE6}</a:tableStyleId>
              </a:tblPr>
              <a:tblGrid>
                <a:gridCol w="620450"/>
                <a:gridCol w="620450"/>
                <a:gridCol w="620450"/>
                <a:gridCol w="492400"/>
              </a:tblGrid>
              <a:tr h="226375">
                <a:tc gridSpan="4">
                  <a:txBody>
                    <a:bodyPr/>
                    <a:lstStyle/>
                    <a:p>
                      <a:pPr indent="0" lvl="0" marL="0" rtl="0" algn="ctr">
                        <a:lnSpc>
                          <a:spcPct val="115000"/>
                        </a:lnSpc>
                        <a:spcBef>
                          <a:spcPts val="0"/>
                        </a:spcBef>
                        <a:spcAft>
                          <a:spcPts val="0"/>
                        </a:spcAft>
                        <a:buNone/>
                      </a:pPr>
                      <a:r>
                        <a:rPr b="1" lang="en" sz="600"/>
                        <a:t>DCA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Type</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Total DCA Users</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2387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2902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21.57%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4508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5428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20.40%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Total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1.815.642.321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1.501.129.751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-17.32%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1400">
                <a:tc>
                  <a:txBody>
                    <a:bodyPr/>
                    <a:lstStyle/>
                    <a:p>
                      <a:pPr indent="0" lvl="0" marL="0" rtl="0" algn="l">
                        <a:lnSpc>
                          <a:spcPct val="115000"/>
                        </a:lnSpc>
                        <a:spcBef>
                          <a:spcPts val="0"/>
                        </a:spcBef>
                        <a:spcAft>
                          <a:spcPts val="0"/>
                        </a:spcAft>
                        <a:buNone/>
                      </a:pPr>
                      <a:r>
                        <a:rPr lang="en" sz="600"/>
                        <a:t>Avg DCA Freq</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0%</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83800">
                <a:tc>
                  <a:txBody>
                    <a:bodyPr/>
                    <a:lstStyle/>
                    <a:p>
                      <a:pPr indent="0" lvl="0" marL="0" rtl="0" algn="l">
                        <a:lnSpc>
                          <a:spcPct val="115000"/>
                        </a:lnSpc>
                        <a:spcBef>
                          <a:spcPts val="0"/>
                        </a:spcBef>
                        <a:spcAft>
                          <a:spcPts val="0"/>
                        </a:spcAft>
                        <a:buNone/>
                      </a:pPr>
                      <a:r>
                        <a:rPr lang="en" sz="600"/>
                        <a:t>Avg DCA Amount</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760.637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517.274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600"/>
                        <a:t>-31.99%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493" name="Google Shape;493;p31"/>
          <p:cNvGraphicFramePr/>
          <p:nvPr/>
        </p:nvGraphicFramePr>
        <p:xfrm>
          <a:off x="3028450" y="657538"/>
          <a:ext cx="3000000" cy="3000000"/>
        </p:xfrm>
        <a:graphic>
          <a:graphicData uri="http://schemas.openxmlformats.org/drawingml/2006/table">
            <a:tbl>
              <a:tblPr>
                <a:noFill/>
                <a:tableStyleId>{0287243F-39C1-4460-8421-3307866EDBE6}</a:tableStyleId>
              </a:tblPr>
              <a:tblGrid>
                <a:gridCol w="620450"/>
                <a:gridCol w="620450"/>
                <a:gridCol w="670600"/>
                <a:gridCol w="442250"/>
              </a:tblGrid>
              <a:tr h="22637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381400">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383800">
                <a:tc>
                  <a:txBody>
                    <a:bodyPr/>
                    <a:lstStyle/>
                    <a:p>
                      <a:pPr indent="0" lvl="0" marL="0" rtl="0" algn="l">
                        <a:lnSpc>
                          <a:spcPct val="115000"/>
                        </a:lnSpc>
                        <a:spcBef>
                          <a:spcPts val="0"/>
                        </a:spcBef>
                        <a:spcAft>
                          <a:spcPts val="0"/>
                        </a:spcAft>
                        <a:buNone/>
                      </a:pPr>
                      <a:r>
                        <a:rPr lang="en" sz="600"/>
                        <a:t>New to Market (&gt; 1 Years)</a:t>
                      </a:r>
                      <a:endParaRPr sz="600"/>
                    </a:p>
                    <a:p>
                      <a:pPr indent="0" lvl="0" marL="0" rtl="0" algn="l">
                        <a:lnSpc>
                          <a:spcPct val="115000"/>
                        </a:lnSpc>
                        <a:spcBef>
                          <a:spcPts val="0"/>
                        </a:spcBef>
                        <a:spcAft>
                          <a:spcPts val="0"/>
                        </a:spcAft>
                        <a:buNone/>
                      </a:pPr>
                      <a:r>
                        <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46,537,892,536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25,665,737,374</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-44.85%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494" name="Google Shape;494;p31"/>
          <p:cNvGraphicFramePr/>
          <p:nvPr/>
        </p:nvGraphicFramePr>
        <p:xfrm>
          <a:off x="6195200" y="657538"/>
          <a:ext cx="3000000" cy="3000000"/>
        </p:xfrm>
        <a:graphic>
          <a:graphicData uri="http://schemas.openxmlformats.org/drawingml/2006/table">
            <a:tbl>
              <a:tblPr>
                <a:noFill/>
                <a:tableStyleId>{0287243F-39C1-4460-8421-3307866EDBE6}</a:tableStyleId>
              </a:tblPr>
              <a:tblGrid>
                <a:gridCol w="700575"/>
                <a:gridCol w="700575"/>
                <a:gridCol w="824250"/>
                <a:gridCol w="432275"/>
              </a:tblGrid>
              <a:tr h="248825">
                <a:tc gridSpan="4">
                  <a:txBody>
                    <a:bodyPr/>
                    <a:lstStyle/>
                    <a:p>
                      <a:pPr indent="0" lvl="0" marL="0" rtl="0" algn="ctr">
                        <a:lnSpc>
                          <a:spcPct val="115000"/>
                        </a:lnSpc>
                        <a:spcBef>
                          <a:spcPts val="0"/>
                        </a:spcBef>
                        <a:spcAft>
                          <a:spcPts val="0"/>
                        </a:spcAft>
                        <a:buNone/>
                      </a:pPr>
                      <a:r>
                        <a:rPr b="1" lang="en" sz="600"/>
                        <a:t>Staking Behaviour</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hMerge="1"/>
              </a:tr>
              <a:tr h="419225">
                <a:tc>
                  <a:txBody>
                    <a:bodyPr/>
                    <a:lstStyle/>
                    <a:p>
                      <a:pPr indent="0" lvl="0" marL="0" rtl="0" algn="l">
                        <a:lnSpc>
                          <a:spcPct val="115000"/>
                        </a:lnSpc>
                        <a:spcBef>
                          <a:spcPts val="0"/>
                        </a:spcBef>
                        <a:spcAft>
                          <a:spcPts val="0"/>
                        </a:spcAft>
                        <a:buNone/>
                      </a:pPr>
                      <a:r>
                        <a:rPr b="1" lang="en" sz="600"/>
                        <a:t>Segment</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2023</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r">
                        <a:lnSpc>
                          <a:spcPct val="115000"/>
                        </a:lnSpc>
                        <a:spcBef>
                          <a:spcPts val="0"/>
                        </a:spcBef>
                        <a:spcAft>
                          <a:spcPts val="0"/>
                        </a:spcAft>
                        <a:buNone/>
                      </a:pPr>
                      <a:r>
                        <a:rPr b="1" lang="en" sz="600"/>
                        <a:t>2024</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600"/>
                        <a:t>Growth %</a:t>
                      </a:r>
                      <a:endParaRPr b="1"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r>
              <a:tr h="421900">
                <a:tc>
                  <a:txBody>
                    <a:bodyPr/>
                    <a:lstStyle/>
                    <a:p>
                      <a:pPr indent="0" lvl="0" marL="0" rtl="0" algn="l">
                        <a:lnSpc>
                          <a:spcPct val="115000"/>
                        </a:lnSpc>
                        <a:spcBef>
                          <a:spcPts val="0"/>
                        </a:spcBef>
                        <a:spcAft>
                          <a:spcPts val="0"/>
                        </a:spcAft>
                        <a:buNone/>
                      </a:pPr>
                      <a:r>
                        <a:rPr lang="en" sz="600"/>
                        <a:t>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164,091,851,102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119,810,086,098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-26.99%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Volume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6,744,425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5,019,485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-25.58%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561,043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433,909</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-22.66%</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API Trade Frequency</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23</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18</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-21.17%</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21900">
                <a:tc>
                  <a:txBody>
                    <a:bodyPr/>
                    <a:lstStyle/>
                    <a:p>
                      <a:pPr indent="0" lvl="0" marL="0" rtl="0" algn="l">
                        <a:lnSpc>
                          <a:spcPct val="115000"/>
                        </a:lnSpc>
                        <a:spcBef>
                          <a:spcPts val="0"/>
                        </a:spcBef>
                        <a:spcAft>
                          <a:spcPts val="0"/>
                        </a:spcAft>
                        <a:buNone/>
                      </a:pPr>
                      <a:r>
                        <a:rPr lang="en" sz="600"/>
                        <a:t>AVG Basket Size</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478,061</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452,615</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600"/>
                        <a:t>-5.32%</a:t>
                      </a:r>
                      <a:endParaRPr sz="6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495" name="Google Shape;495;p31"/>
          <p:cNvGraphicFramePr/>
          <p:nvPr/>
        </p:nvGraphicFramePr>
        <p:xfrm>
          <a:off x="125200" y="3661525"/>
          <a:ext cx="3000000" cy="3000000"/>
        </p:xfrm>
        <a:graphic>
          <a:graphicData uri="http://schemas.openxmlformats.org/drawingml/2006/table">
            <a:tbl>
              <a:tblPr>
                <a:noFill/>
                <a:tableStyleId>{0287243F-39C1-4460-8421-3307866EDBE6}</a:tableStyleId>
              </a:tblPr>
              <a:tblGrid>
                <a:gridCol w="553800"/>
                <a:gridCol w="553800"/>
                <a:gridCol w="553800"/>
                <a:gridCol w="553800"/>
                <a:gridCol w="553800"/>
                <a:gridCol w="553800"/>
                <a:gridCol w="553800"/>
                <a:gridCol w="553800"/>
                <a:gridCol w="553800"/>
                <a:gridCol w="553800"/>
                <a:gridCol w="553800"/>
                <a:gridCol w="553800"/>
                <a:gridCol w="553800"/>
                <a:gridCol w="553800"/>
                <a:gridCol w="553800"/>
                <a:gridCol w="553800"/>
              </a:tblGrid>
              <a:tr h="189200">
                <a:tc>
                  <a:txBody>
                    <a:bodyPr/>
                    <a:lstStyle/>
                    <a:p>
                      <a:pPr indent="0" lvl="0" marL="0" rtl="0" algn="l">
                        <a:spcBef>
                          <a:spcPts val="0"/>
                        </a:spcBef>
                        <a:spcAft>
                          <a:spcPts val="0"/>
                        </a:spcAft>
                        <a:buNone/>
                      </a:pPr>
                      <a:r>
                        <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700"/>
                        <a:t>Total DCA Freq</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hMerge="1"/>
                <a:tc hMerge="1"/>
                <a:tc gridSpan="3">
                  <a:txBody>
                    <a:bodyPr/>
                    <a:lstStyle/>
                    <a:p>
                      <a:pPr indent="0" lvl="0" marL="0" rtl="0" algn="ctr">
                        <a:lnSpc>
                          <a:spcPct val="115000"/>
                        </a:lnSpc>
                        <a:spcBef>
                          <a:spcPts val="0"/>
                        </a:spcBef>
                        <a:spcAft>
                          <a:spcPts val="0"/>
                        </a:spcAft>
                        <a:buNone/>
                      </a:pPr>
                      <a:r>
                        <a:rPr b="1" lang="en" sz="700"/>
                        <a:t>Total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hMerge="1"/>
                <a:tc hMerge="1"/>
                <a:tc gridSpan="3">
                  <a:txBody>
                    <a:bodyPr/>
                    <a:lstStyle/>
                    <a:p>
                      <a:pPr indent="0" lvl="0" marL="0" rtl="0" algn="ctr">
                        <a:lnSpc>
                          <a:spcPct val="115000"/>
                        </a:lnSpc>
                        <a:spcBef>
                          <a:spcPts val="0"/>
                        </a:spcBef>
                        <a:spcAft>
                          <a:spcPts val="0"/>
                        </a:spcAft>
                        <a:buNone/>
                      </a:pPr>
                      <a:r>
                        <a:rPr b="1" lang="en" sz="700"/>
                        <a:t>Average DCA Frequency</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hMerge="1"/>
                <a:tc hMerge="1"/>
                <a:tc gridSpan="3">
                  <a:txBody>
                    <a:bodyPr/>
                    <a:lstStyle/>
                    <a:p>
                      <a:pPr indent="0" lvl="0" marL="0" rtl="0" algn="ctr">
                        <a:lnSpc>
                          <a:spcPct val="115000"/>
                        </a:lnSpc>
                        <a:spcBef>
                          <a:spcPts val="0"/>
                        </a:spcBef>
                        <a:spcAft>
                          <a:spcPts val="0"/>
                        </a:spcAft>
                        <a:buNone/>
                      </a:pPr>
                      <a:r>
                        <a:rPr b="1" lang="en" sz="700"/>
                        <a:t>Average DCA Amount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hMerge="1"/>
                <a:tc hMerge="1"/>
              </a:tr>
              <a:tr h="189200">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700"/>
                        <a:t>%</a:t>
                      </a:r>
                      <a:endParaRPr b="1"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solidFill>
                      <a:srgbClr val="B4A7D6"/>
                    </a:solidFill>
                  </a:tcPr>
                </a:tc>
              </a:tr>
              <a:tr h="270300">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2,179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3,147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44.42%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3,647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5,211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42.88%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1,489,970,580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1,427,328,828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-4.20%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683,786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453,552</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-33.67%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89200">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613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760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23.98%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860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1,051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22.21%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312,002,493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269,077,407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-13.76%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508,976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354,049</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-30.44%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r h="189200">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75.00%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463</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776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67.60%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155,099,376</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191,521,701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23.48%</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461,605</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325,717</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-29.44%</a:t>
                      </a:r>
                      <a:endParaRPr sz="700"/>
                    </a:p>
                  </a:txBody>
                  <a:tcPr marT="19050" marB="19050" marR="28575" marL="28575" anchor="b">
                    <a:lnL cap="flat" cmpd="sng" w="7150">
                      <a:solidFill>
                        <a:srgbClr val="000000"/>
                      </a:solidFill>
                      <a:prstDash val="solid"/>
                      <a:round/>
                      <a:headEnd len="sm" w="sm" type="none"/>
                      <a:tailEnd len="sm" w="sm" type="none"/>
                    </a:lnL>
                    <a:lnR cap="flat" cmpd="sng" w="7150">
                      <a:solidFill>
                        <a:srgbClr val="000000"/>
                      </a:solidFill>
                      <a:prstDash val="solid"/>
                      <a:round/>
                      <a:headEnd len="sm" w="sm" type="none"/>
                      <a:tailEnd len="sm" w="sm" type="none"/>
                    </a:lnR>
                    <a:lnT cap="flat" cmpd="sng" w="7150">
                      <a:solidFill>
                        <a:srgbClr val="000000"/>
                      </a:solidFill>
                      <a:prstDash val="solid"/>
                      <a:round/>
                      <a:headEnd len="sm" w="sm" type="none"/>
                      <a:tailEnd len="sm" w="sm" type="none"/>
                    </a:lnT>
                    <a:lnB cap="flat" cmpd="sng" w="7150">
                      <a:solidFill>
                        <a:srgbClr val="000000"/>
                      </a:solidFill>
                      <a:prstDash val="solid"/>
                      <a:round/>
                      <a:headEnd len="sm" w="sm" type="none"/>
                      <a:tailEnd len="sm" w="sm" type="none"/>
                    </a:lnB>
                  </a:tcPr>
                </a:tc>
              </a:tr>
            </a:tbl>
          </a:graphicData>
        </a:graphic>
      </p:graphicFrame>
      <p:graphicFrame>
        <p:nvGraphicFramePr>
          <p:cNvPr id="496" name="Google Shape;496;p31"/>
          <p:cNvGraphicFramePr/>
          <p:nvPr/>
        </p:nvGraphicFramePr>
        <p:xfrm>
          <a:off x="2653900" y="1747500"/>
          <a:ext cx="3000000" cy="3000000"/>
        </p:xfrm>
        <a:graphic>
          <a:graphicData uri="http://schemas.openxmlformats.org/drawingml/2006/table">
            <a:tbl>
              <a:tblPr>
                <a:noFill/>
                <a:tableStyleId>{0287243F-39C1-4460-8421-3307866EDBE6}</a:tableStyleId>
              </a:tblPr>
              <a:tblGrid>
                <a:gridCol w="480925"/>
                <a:gridCol w="480925"/>
                <a:gridCol w="480925"/>
                <a:gridCol w="480925"/>
                <a:gridCol w="480925"/>
                <a:gridCol w="480925"/>
                <a:gridCol w="480925"/>
              </a:tblGrid>
              <a:tr h="328125">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DCA Amount</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hMerge="1"/>
                <a:tc gridSpan="2">
                  <a:txBody>
                    <a:bodyPr/>
                    <a:lstStyle/>
                    <a:p>
                      <a:pPr indent="0" lvl="0" marL="0" rtl="0" algn="ctr">
                        <a:lnSpc>
                          <a:spcPct val="115000"/>
                        </a:lnSpc>
                        <a:spcBef>
                          <a:spcPts val="0"/>
                        </a:spcBef>
                        <a:spcAft>
                          <a:spcPts val="0"/>
                        </a:spcAft>
                        <a:buNone/>
                      </a:pPr>
                      <a:r>
                        <a:rPr b="1" lang="en" sz="700"/>
                        <a:t>DCA Freq</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hMerge="1"/>
              </a:tr>
              <a:tr h="328125">
                <a:tc>
                  <a:txBody>
                    <a:bodyPr/>
                    <a:lstStyle/>
                    <a:p>
                      <a:pPr indent="0" lvl="0" marL="0" rtl="0" algn="l">
                        <a:lnSpc>
                          <a:spcPct val="115000"/>
                        </a:lnSpc>
                        <a:spcBef>
                          <a:spcPts val="0"/>
                        </a:spcBef>
                        <a:spcAft>
                          <a:spcPts val="0"/>
                        </a:spcAft>
                        <a:buNone/>
                      </a:pPr>
                      <a:r>
                        <a:rPr lang="en" sz="700"/>
                        <a:t>Coin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r>
              <a:tr h="328125">
                <a:tc>
                  <a:txBody>
                    <a:bodyPr/>
                    <a:lstStyle/>
                    <a:p>
                      <a:pPr indent="0" lvl="0" marL="0" rtl="0" algn="l">
                        <a:lnSpc>
                          <a:spcPct val="115000"/>
                        </a:lnSpc>
                        <a:spcBef>
                          <a:spcPts val="0"/>
                        </a:spcBef>
                        <a:spcAft>
                          <a:spcPts val="0"/>
                        </a:spcAft>
                        <a:buNone/>
                      </a:pPr>
                      <a:r>
                        <a:rPr lang="en" sz="700"/>
                        <a:t>BTC</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69.66%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70.01%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76.13%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75.60%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73.38%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74.04%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8125">
                <a:tc>
                  <a:txBody>
                    <a:bodyPr/>
                    <a:lstStyle/>
                    <a:p>
                      <a:pPr indent="0" lvl="0" marL="0" rtl="0" algn="l">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19.60%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15.94%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14.25%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28125">
                <a:tc>
                  <a:txBody>
                    <a:bodyPr/>
                    <a:lstStyle/>
                    <a:p>
                      <a:pPr indent="0" lvl="0" marL="0" rtl="0" algn="l">
                        <a:lnSpc>
                          <a:spcPct val="115000"/>
                        </a:lnSpc>
                        <a:spcBef>
                          <a:spcPts val="0"/>
                        </a:spcBef>
                        <a:spcAft>
                          <a:spcPts val="0"/>
                        </a:spcAft>
                        <a:buNone/>
                      </a:pPr>
                      <a:r>
                        <a:rPr lang="en" sz="700"/>
                        <a:t>USDT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10.74%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13.08%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9.32%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500" name="Shape 500"/>
        <p:cNvGrpSpPr/>
        <p:nvPr/>
      </p:nvGrpSpPr>
      <p:grpSpPr>
        <a:xfrm>
          <a:off x="0" y="0"/>
          <a:ext cx="0" cy="0"/>
          <a:chOff x="0" y="0"/>
          <a:chExt cx="0" cy="0"/>
        </a:xfrm>
      </p:grpSpPr>
      <p:sp>
        <p:nvSpPr>
          <p:cNvPr id="501" name="Google Shape;501;p32"/>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Persona Name: </a:t>
            </a:r>
            <a:r>
              <a:rPr b="1" lang="en" sz="1800">
                <a:solidFill>
                  <a:srgbClr val="0084B5"/>
                </a:solidFill>
                <a:latin typeface="Montserrat"/>
                <a:ea typeface="Montserrat"/>
                <a:cs typeface="Montserrat"/>
                <a:sym typeface="Montserrat"/>
              </a:rPr>
              <a:t>The</a:t>
            </a:r>
            <a:r>
              <a:rPr b="1" lang="en" sz="1800">
                <a:solidFill>
                  <a:srgbClr val="0084B5"/>
                </a:solidFill>
                <a:latin typeface="Montserrat"/>
                <a:ea typeface="Montserrat"/>
                <a:cs typeface="Montserrat"/>
                <a:sym typeface="Montserrat"/>
              </a:rPr>
              <a:t> Dreamer</a:t>
            </a:r>
            <a:endParaRPr b="1" sz="1800">
              <a:solidFill>
                <a:srgbClr val="0084B5"/>
              </a:solidFill>
              <a:latin typeface="Montserrat"/>
              <a:ea typeface="Montserrat"/>
              <a:cs typeface="Montserrat"/>
              <a:sym typeface="Montserrat"/>
            </a:endParaRPr>
          </a:p>
        </p:txBody>
      </p:sp>
      <p:sp>
        <p:nvSpPr>
          <p:cNvPr id="502" name="Google Shape;502;p32"/>
          <p:cNvSpPr txBox="1"/>
          <p:nvPr>
            <p:ph type="title"/>
          </p:nvPr>
        </p:nvSpPr>
        <p:spPr>
          <a:xfrm>
            <a:off x="113475" y="378063"/>
            <a:ext cx="29322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Demographic Information</a:t>
            </a:r>
            <a:endParaRPr b="1" sz="1200">
              <a:solidFill>
                <a:srgbClr val="0084B5"/>
              </a:solidFill>
              <a:latin typeface="Montserrat"/>
              <a:ea typeface="Montserrat"/>
              <a:cs typeface="Montserrat"/>
              <a:sym typeface="Montserrat"/>
            </a:endParaRPr>
          </a:p>
        </p:txBody>
      </p:sp>
      <p:sp>
        <p:nvSpPr>
          <p:cNvPr id="503" name="Google Shape;503;p32"/>
          <p:cNvSpPr txBox="1"/>
          <p:nvPr>
            <p:ph type="title"/>
          </p:nvPr>
        </p:nvSpPr>
        <p:spPr>
          <a:xfrm>
            <a:off x="4623500" y="336013"/>
            <a:ext cx="1175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Background</a:t>
            </a:r>
            <a:endParaRPr b="1" sz="1200">
              <a:solidFill>
                <a:srgbClr val="0084B5"/>
              </a:solidFill>
              <a:latin typeface="Montserrat"/>
              <a:ea typeface="Montserrat"/>
              <a:cs typeface="Montserrat"/>
              <a:sym typeface="Montserrat"/>
            </a:endParaRPr>
          </a:p>
        </p:txBody>
      </p:sp>
      <p:sp>
        <p:nvSpPr>
          <p:cNvPr id="504" name="Google Shape;504;p32"/>
          <p:cNvSpPr txBox="1"/>
          <p:nvPr>
            <p:ph type="title"/>
          </p:nvPr>
        </p:nvSpPr>
        <p:spPr>
          <a:xfrm>
            <a:off x="60800" y="3574213"/>
            <a:ext cx="1943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Needs &amp; Expectation</a:t>
            </a:r>
            <a:endParaRPr b="1" sz="1200">
              <a:solidFill>
                <a:srgbClr val="0084B5"/>
              </a:solidFill>
              <a:latin typeface="Montserrat"/>
              <a:ea typeface="Montserrat"/>
              <a:cs typeface="Montserrat"/>
              <a:sym typeface="Montserrat"/>
            </a:endParaRPr>
          </a:p>
        </p:txBody>
      </p:sp>
      <p:sp>
        <p:nvSpPr>
          <p:cNvPr id="505" name="Google Shape;505;p32"/>
          <p:cNvSpPr txBox="1"/>
          <p:nvPr>
            <p:ph type="title"/>
          </p:nvPr>
        </p:nvSpPr>
        <p:spPr>
          <a:xfrm>
            <a:off x="4572000" y="1934113"/>
            <a:ext cx="2550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Challenge &amp; Pain Points</a:t>
            </a:r>
            <a:endParaRPr b="1" sz="1200">
              <a:solidFill>
                <a:srgbClr val="0084B5"/>
              </a:solidFill>
              <a:latin typeface="Montserrat"/>
              <a:ea typeface="Montserrat"/>
              <a:cs typeface="Montserrat"/>
              <a:sym typeface="Montserrat"/>
            </a:endParaRPr>
          </a:p>
        </p:txBody>
      </p:sp>
      <p:sp>
        <p:nvSpPr>
          <p:cNvPr id="506" name="Google Shape;506;p32"/>
          <p:cNvSpPr txBox="1"/>
          <p:nvPr>
            <p:ph type="title"/>
          </p:nvPr>
        </p:nvSpPr>
        <p:spPr>
          <a:xfrm>
            <a:off x="60800" y="1938925"/>
            <a:ext cx="25176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Motivation, Interest &amp; Goals</a:t>
            </a:r>
            <a:endParaRPr b="1" sz="1200">
              <a:solidFill>
                <a:srgbClr val="0084B5"/>
              </a:solidFill>
              <a:latin typeface="Montserrat"/>
              <a:ea typeface="Montserrat"/>
              <a:cs typeface="Montserrat"/>
              <a:sym typeface="Montserrat"/>
            </a:endParaRPr>
          </a:p>
        </p:txBody>
      </p:sp>
      <p:sp>
        <p:nvSpPr>
          <p:cNvPr id="507" name="Google Shape;507;p32"/>
          <p:cNvSpPr txBox="1"/>
          <p:nvPr/>
        </p:nvSpPr>
        <p:spPr>
          <a:xfrm>
            <a:off x="4623500" y="656725"/>
            <a:ext cx="4437000" cy="1277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 trend follower with</a:t>
            </a:r>
            <a:r>
              <a:rPr lang="en" sz="1000">
                <a:solidFill>
                  <a:schemeClr val="dk1"/>
                </a:solidFill>
                <a:latin typeface="Montserrat"/>
                <a:ea typeface="Montserrat"/>
                <a:cs typeface="Montserrat"/>
                <a:sym typeface="Montserrat"/>
              </a:rPr>
              <a:t> a big dream, this type of individual are opportunistic and </a:t>
            </a:r>
            <a:r>
              <a:rPr b="1" lang="en" sz="1000">
                <a:solidFill>
                  <a:schemeClr val="dk1"/>
                </a:solidFill>
                <a:latin typeface="Montserrat"/>
                <a:ea typeface="Montserrat"/>
                <a:cs typeface="Montserrat"/>
                <a:sym typeface="Montserrat"/>
              </a:rPr>
              <a:t>Convenient seeker</a:t>
            </a:r>
            <a:r>
              <a:rPr lang="en" sz="1000">
                <a:solidFill>
                  <a:schemeClr val="dk1"/>
                </a:solidFill>
                <a:latin typeface="Montserrat"/>
                <a:ea typeface="Montserrat"/>
                <a:cs typeface="Montserrat"/>
                <a:sym typeface="Montserrat"/>
              </a:rPr>
              <a:t>. They mostly attract to shortcuts on what can help them reach their goal.</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They don’t want to go outside their comfort zone, purely depending on the momentum or luck beside them, they are ambitious yet a  dreamer.</a:t>
            </a:r>
            <a:endParaRPr b="1" sz="1000">
              <a:solidFill>
                <a:schemeClr val="dk1"/>
              </a:solidFill>
              <a:latin typeface="Montserrat"/>
              <a:ea typeface="Montserrat"/>
              <a:cs typeface="Montserrat"/>
              <a:sym typeface="Montserrat"/>
            </a:endParaRPr>
          </a:p>
        </p:txBody>
      </p:sp>
      <p:sp>
        <p:nvSpPr>
          <p:cNvPr id="508" name="Google Shape;508;p32"/>
          <p:cNvSpPr txBox="1"/>
          <p:nvPr/>
        </p:nvSpPr>
        <p:spPr>
          <a:xfrm>
            <a:off x="97575" y="2203813"/>
            <a:ext cx="4400100" cy="1416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Maintain comfort zone, </a:t>
            </a:r>
            <a:r>
              <a:rPr lang="en" sz="1000">
                <a:solidFill>
                  <a:schemeClr val="dk1"/>
                </a:solidFill>
                <a:latin typeface="Montserrat"/>
                <a:ea typeface="Montserrat"/>
                <a:cs typeface="Montserrat"/>
                <a:sym typeface="Montserrat"/>
              </a:rPr>
              <a:t> in need for alternatives to support their necessities while maintaining their sweat spot.</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Trial and error</a:t>
            </a:r>
            <a:r>
              <a:rPr lang="en" sz="1000">
                <a:solidFill>
                  <a:schemeClr val="dk1"/>
                </a:solidFill>
                <a:latin typeface="Montserrat"/>
                <a:ea typeface="Montserrat"/>
                <a:cs typeface="Montserrat"/>
                <a:sym typeface="Montserrat"/>
              </a:rPr>
              <a:t>, looking for chip in sum amount of money based on </a:t>
            </a:r>
            <a:r>
              <a:rPr lang="en" sz="1000">
                <a:solidFill>
                  <a:schemeClr val="dk1"/>
                </a:solidFill>
                <a:latin typeface="Montserrat"/>
                <a:ea typeface="Montserrat"/>
                <a:cs typeface="Montserrat"/>
                <a:sym typeface="Montserrat"/>
              </a:rPr>
              <a:t>ongoing</a:t>
            </a:r>
            <a:r>
              <a:rPr lang="en" sz="1000">
                <a:solidFill>
                  <a:schemeClr val="dk1"/>
                </a:solidFill>
                <a:latin typeface="Montserrat"/>
                <a:ea typeface="Montserrat"/>
                <a:cs typeface="Montserrat"/>
                <a:sym typeface="Montserrat"/>
              </a:rPr>
              <a:t> trend and hoping to be part of the success people</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FInancial Independence,</a:t>
            </a:r>
            <a:r>
              <a:rPr lang="en" sz="1000">
                <a:solidFill>
                  <a:schemeClr val="dk1"/>
                </a:solidFill>
                <a:latin typeface="Montserrat"/>
                <a:ea typeface="Montserrat"/>
                <a:cs typeface="Montserrat"/>
                <a:sym typeface="Montserrat"/>
              </a:rPr>
              <a:t> looking for momentum to help them to be financial independence as current work not working out</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Trial and error, looking for chip in sum amount of money</a:t>
            </a:r>
            <a:endParaRPr sz="1000">
              <a:solidFill>
                <a:schemeClr val="dk1"/>
              </a:solidFill>
              <a:latin typeface="Montserrat"/>
              <a:ea typeface="Montserrat"/>
              <a:cs typeface="Montserrat"/>
              <a:sym typeface="Montserrat"/>
            </a:endParaRPr>
          </a:p>
        </p:txBody>
      </p:sp>
      <p:sp>
        <p:nvSpPr>
          <p:cNvPr id="509" name="Google Shape;509;p32"/>
          <p:cNvSpPr txBox="1"/>
          <p:nvPr/>
        </p:nvSpPr>
        <p:spPr>
          <a:xfrm>
            <a:off x="97575" y="3880325"/>
            <a:ext cx="8985600" cy="1123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27000" lvl="0" marL="171450" rtl="0" algn="l">
              <a:spcBef>
                <a:spcPts val="0"/>
              </a:spcBef>
              <a:spcAft>
                <a:spcPts val="0"/>
              </a:spcAft>
              <a:buClr>
                <a:schemeClr val="dk1"/>
              </a:buClr>
              <a:buSzPts val="1100"/>
              <a:buFont typeface="Montserrat"/>
              <a:buChar char="●"/>
            </a:pPr>
            <a:r>
              <a:rPr b="1" lang="en" sz="1000">
                <a:solidFill>
                  <a:schemeClr val="dk1"/>
                </a:solidFill>
                <a:latin typeface="Montserrat"/>
                <a:ea typeface="Montserrat"/>
                <a:cs typeface="Montserrat"/>
                <a:sym typeface="Montserrat"/>
              </a:rPr>
              <a:t>A Dreamer, risk taker,</a:t>
            </a:r>
            <a:r>
              <a:rPr lang="en" sz="1000">
                <a:solidFill>
                  <a:schemeClr val="dk1"/>
                </a:solidFill>
                <a:latin typeface="Montserrat"/>
                <a:ea typeface="Montserrat"/>
                <a:cs typeface="Montserrat"/>
                <a:sym typeface="Montserrat"/>
              </a:rPr>
              <a:t> in early stage as a trend follower people won’t invest their time, yet transaction is base on hoping being part of the trend and community success. </a:t>
            </a:r>
            <a:r>
              <a:rPr lang="en" sz="1000">
                <a:solidFill>
                  <a:schemeClr val="dk1"/>
                </a:solidFill>
                <a:latin typeface="Montserrat"/>
                <a:ea typeface="Montserrat"/>
                <a:cs typeface="Montserrat"/>
                <a:sym typeface="Montserrat"/>
              </a:rPr>
              <a:t>As a gambler and risk taker they dont even bother to learn what they doing, simply focus on following the trend</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Any effort revolves around their comfort zone </a:t>
            </a:r>
            <a:r>
              <a:rPr lang="en" sz="1000">
                <a:solidFill>
                  <a:schemeClr val="dk1"/>
                </a:solidFill>
                <a:latin typeface="Montserrat"/>
                <a:ea typeface="Montserrat"/>
                <a:cs typeface="Montserrat"/>
                <a:sym typeface="Montserrat"/>
              </a:rPr>
              <a:t>will be the driven factor for this segment will be the driver </a:t>
            </a:r>
            <a:r>
              <a:rPr b="1" lang="en" sz="1000">
                <a:solidFill>
                  <a:schemeClr val="dk1"/>
                </a:solidFill>
                <a:latin typeface="Montserrat"/>
                <a:ea typeface="Montserrat"/>
                <a:cs typeface="Montserrat"/>
                <a:sym typeface="Montserrat"/>
              </a:rPr>
              <a:t>(an ignorant)</a:t>
            </a:r>
            <a:r>
              <a:rPr lang="en" sz="1000">
                <a:solidFill>
                  <a:schemeClr val="dk1"/>
                </a:solidFill>
                <a:latin typeface="Montserrat"/>
                <a:ea typeface="Montserrat"/>
                <a:cs typeface="Montserrat"/>
                <a:sym typeface="Montserrat"/>
              </a:rPr>
              <a:t> outside it.</a:t>
            </a:r>
            <a:endParaRPr sz="1000">
              <a:solidFill>
                <a:schemeClr val="dk1"/>
              </a:solidFill>
              <a:latin typeface="Montserrat"/>
              <a:ea typeface="Montserrat"/>
              <a:cs typeface="Montserrat"/>
              <a:sym typeface="Montserrat"/>
            </a:endParaRPr>
          </a:p>
          <a:p>
            <a:pPr indent="-12065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A Skeptical investor, </a:t>
            </a:r>
            <a:r>
              <a:rPr lang="en" sz="1000">
                <a:solidFill>
                  <a:schemeClr val="dk1"/>
                </a:solidFill>
                <a:latin typeface="Montserrat"/>
                <a:ea typeface="Montserrat"/>
                <a:cs typeface="Montserrat"/>
                <a:sym typeface="Montserrat"/>
              </a:rPr>
              <a:t>when you are the part of community and you cannot make it, feels like it is not meant for you thus you ignore all knowledge and everything needed to succeeded and blame it on the </a:t>
            </a:r>
            <a:endParaRPr sz="1000">
              <a:solidFill>
                <a:schemeClr val="dk1"/>
              </a:solidFill>
              <a:latin typeface="Montserrat"/>
              <a:ea typeface="Montserrat"/>
              <a:cs typeface="Montserrat"/>
              <a:sym typeface="Montserrat"/>
            </a:endParaRPr>
          </a:p>
        </p:txBody>
      </p:sp>
      <p:sp>
        <p:nvSpPr>
          <p:cNvPr id="510" name="Google Shape;510;p32"/>
          <p:cNvSpPr txBox="1"/>
          <p:nvPr/>
        </p:nvSpPr>
        <p:spPr>
          <a:xfrm>
            <a:off x="4641950" y="2277013"/>
            <a:ext cx="4400100" cy="95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Lack of experience</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they are new &amp; not familiar with it, market volatility and new industry will be the blocker to the goal including compound concept is unknown to them</a:t>
            </a:r>
            <a:endParaRPr sz="1000">
              <a:solidFill>
                <a:schemeClr val="dk1"/>
              </a:solidFill>
              <a:latin typeface="Montserrat"/>
              <a:ea typeface="Montserrat"/>
              <a:cs typeface="Montserrat"/>
              <a:sym typeface="Montserrat"/>
            </a:endParaRPr>
          </a:p>
          <a:p>
            <a:pPr indent="-177800" lvl="0" marL="171450" rtl="0" algn="l">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Time Management, </a:t>
            </a:r>
            <a:r>
              <a:rPr lang="en" sz="1000">
                <a:solidFill>
                  <a:schemeClr val="dk1"/>
                </a:solidFill>
                <a:latin typeface="Montserrat"/>
                <a:ea typeface="Montserrat"/>
                <a:cs typeface="Montserrat"/>
                <a:sym typeface="Montserrat"/>
              </a:rPr>
              <a:t>tend to miss and can’t commit since in early stage they haven’t feel it worth to invest more time</a:t>
            </a:r>
            <a:endParaRPr sz="1000">
              <a:solidFill>
                <a:schemeClr val="dk1"/>
              </a:solidFill>
              <a:latin typeface="Montserrat"/>
              <a:ea typeface="Montserrat"/>
              <a:cs typeface="Montserrat"/>
              <a:sym typeface="Montserrat"/>
            </a:endParaRPr>
          </a:p>
        </p:txBody>
      </p:sp>
      <p:sp>
        <p:nvSpPr>
          <p:cNvPr id="511" name="Google Shape;511;p32"/>
          <p:cNvSpPr txBox="1"/>
          <p:nvPr/>
        </p:nvSpPr>
        <p:spPr>
          <a:xfrm>
            <a:off x="113475" y="676825"/>
            <a:ext cx="4437000" cy="1262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Age</a:t>
            </a:r>
            <a:r>
              <a:rPr lang="en" sz="1000">
                <a:solidFill>
                  <a:schemeClr val="dk1"/>
                </a:solidFill>
                <a:latin typeface="Montserrat"/>
                <a:ea typeface="Montserrat"/>
                <a:cs typeface="Montserrat"/>
                <a:sym typeface="Montserrat"/>
              </a:rPr>
              <a:t>: 27 years old (fit within 26-35 yr old) 62% from total population segment</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Gender</a:t>
            </a:r>
            <a:r>
              <a:rPr lang="en" sz="1000">
                <a:solidFill>
                  <a:schemeClr val="dk1"/>
                </a:solidFill>
                <a:latin typeface="Montserrat"/>
                <a:ea typeface="Montserrat"/>
                <a:cs typeface="Montserrat"/>
                <a:sym typeface="Montserrat"/>
              </a:rPr>
              <a:t>: men with 87.3% from population</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Location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Bandung, Bekasi and Bogor</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Occupation</a:t>
            </a:r>
            <a:r>
              <a:rPr lang="en" sz="1000">
                <a:solidFill>
                  <a:schemeClr val="dk1"/>
                </a:solidFill>
                <a:latin typeface="Montserrat"/>
                <a:ea typeface="Montserrat"/>
                <a:cs typeface="Montserrat"/>
                <a:sym typeface="Montserrat"/>
              </a:rPr>
              <a:t>: Staff</a:t>
            </a:r>
            <a:r>
              <a:rPr lang="en" sz="1000">
                <a:solidFill>
                  <a:schemeClr val="dk1"/>
                </a:solidFill>
                <a:latin typeface="Montserrat"/>
                <a:ea typeface="Montserrat"/>
                <a:cs typeface="Montserrat"/>
                <a:sym typeface="Montserrat"/>
              </a:rPr>
              <a:t> level in company located in Jakarta</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1000">
                <a:solidFill>
                  <a:schemeClr val="dk1"/>
                </a:solidFill>
                <a:latin typeface="Montserrat"/>
                <a:ea typeface="Montserrat"/>
                <a:cs typeface="Montserrat"/>
                <a:sym typeface="Montserrat"/>
              </a:rPr>
              <a:t>Income Level</a:t>
            </a:r>
            <a:r>
              <a:rPr lang="en" sz="1000">
                <a:solidFill>
                  <a:schemeClr val="dk1"/>
                </a:solidFill>
                <a:latin typeface="Montserrat"/>
                <a:ea typeface="Montserrat"/>
                <a:cs typeface="Montserrat"/>
                <a:sym typeface="Montserrat"/>
              </a:rPr>
              <a:t>: Middle-low to Middle networth individual (</a:t>
            </a:r>
            <a:r>
              <a:rPr lang="en" sz="1000">
                <a:solidFill>
                  <a:schemeClr val="dk1"/>
                </a:solidFill>
                <a:latin typeface="Montserrat"/>
                <a:ea typeface="Montserrat"/>
                <a:cs typeface="Montserrat"/>
                <a:sym typeface="Montserrat"/>
              </a:rPr>
              <a:t>IDR 3.3 Mio/month)</a:t>
            </a:r>
            <a:endParaRPr sz="1000">
              <a:solidFill>
                <a:schemeClr val="dk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5" name="Shape 515"/>
        <p:cNvGrpSpPr/>
        <p:nvPr/>
      </p:nvGrpSpPr>
      <p:grpSpPr>
        <a:xfrm>
          <a:off x="0" y="0"/>
          <a:ext cx="0" cy="0"/>
          <a:chOff x="0" y="0"/>
          <a:chExt cx="0" cy="0"/>
        </a:xfrm>
      </p:grpSpPr>
      <p:sp>
        <p:nvSpPr>
          <p:cNvPr id="516" name="Google Shape;516;p33"/>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Indodax Academy</a:t>
            </a:r>
            <a:endParaRPr b="1" sz="1800">
              <a:solidFill>
                <a:srgbClr val="0084B5"/>
              </a:solidFill>
              <a:latin typeface="Montserrat"/>
              <a:ea typeface="Montserrat"/>
              <a:cs typeface="Montserrat"/>
              <a:sym typeface="Montserrat"/>
            </a:endParaRPr>
          </a:p>
        </p:txBody>
      </p:sp>
      <p:pic>
        <p:nvPicPr>
          <p:cNvPr id="517" name="Google Shape;517;p33" title="Chart"/>
          <p:cNvPicPr preferRelativeResize="0"/>
          <p:nvPr/>
        </p:nvPicPr>
        <p:blipFill>
          <a:blip r:embed="rId4">
            <a:alphaModFix/>
          </a:blip>
          <a:stretch>
            <a:fillRect/>
          </a:stretch>
        </p:blipFill>
        <p:spPr>
          <a:xfrm>
            <a:off x="135000" y="1191100"/>
            <a:ext cx="4994424" cy="3033500"/>
          </a:xfrm>
          <a:prstGeom prst="rect">
            <a:avLst/>
          </a:prstGeom>
          <a:noFill/>
          <a:ln>
            <a:noFill/>
          </a:ln>
        </p:spPr>
      </p:pic>
      <p:graphicFrame>
        <p:nvGraphicFramePr>
          <p:cNvPr id="518" name="Google Shape;518;p33"/>
          <p:cNvGraphicFramePr/>
          <p:nvPr/>
        </p:nvGraphicFramePr>
        <p:xfrm>
          <a:off x="5453500" y="1191100"/>
          <a:ext cx="3000000" cy="3000000"/>
        </p:xfrm>
        <a:graphic>
          <a:graphicData uri="http://schemas.openxmlformats.org/drawingml/2006/table">
            <a:tbl>
              <a:tblPr>
                <a:noFill/>
                <a:tableStyleId>{0287243F-39C1-4460-8421-3307866EDBE6}</a:tableStyleId>
              </a:tblPr>
              <a:tblGrid>
                <a:gridCol w="1200150"/>
                <a:gridCol w="1171575"/>
              </a:tblGrid>
              <a:tr h="200025">
                <a:tc>
                  <a:txBody>
                    <a:bodyPr/>
                    <a:lstStyle/>
                    <a:p>
                      <a:pPr indent="0" lvl="0" marL="0" rtl="0" algn="ctr">
                        <a:lnSpc>
                          <a:spcPct val="115000"/>
                        </a:lnSpc>
                        <a:spcBef>
                          <a:spcPts val="0"/>
                        </a:spcBef>
                        <a:spcAft>
                          <a:spcPts val="0"/>
                        </a:spcAft>
                        <a:buNone/>
                      </a:pPr>
                      <a:r>
                        <a:rPr lang="en" sz="1000"/>
                        <a:t>Segments</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1000"/>
                        <a:t>Open Academy (%)</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lang="en" sz="1000"/>
                        <a:t>The Dreamer &gt;1Y</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1.18%</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Dreamer &lt;1Y</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1.74%</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Supervisor</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2.81%</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Manager</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4.63%</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1000"/>
                        <a:t>The Executive</a:t>
                      </a:r>
                      <a:endParaRPr b="1"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4.96%</a:t>
                      </a:r>
                      <a:endParaRPr b="1"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Owner</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0.61%</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519" name="Google Shape;519;p33"/>
          <p:cNvSpPr txBox="1"/>
          <p:nvPr/>
        </p:nvSpPr>
        <p:spPr>
          <a:xfrm>
            <a:off x="135000" y="43053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Notes : Data from Netcore of who else open Academy on</a:t>
            </a:r>
            <a:endParaRPr/>
          </a:p>
        </p:txBody>
      </p:sp>
      <p:graphicFrame>
        <p:nvGraphicFramePr>
          <p:cNvPr id="520" name="Google Shape;520;p33"/>
          <p:cNvGraphicFramePr/>
          <p:nvPr/>
        </p:nvGraphicFramePr>
        <p:xfrm>
          <a:off x="5453500" y="2757750"/>
          <a:ext cx="3000000" cy="3000000"/>
        </p:xfrm>
        <a:graphic>
          <a:graphicData uri="http://schemas.openxmlformats.org/drawingml/2006/table">
            <a:tbl>
              <a:tblPr>
                <a:noFill/>
                <a:tableStyleId>{0287243F-39C1-4460-8421-3307866EDBE6}</a:tableStyleId>
              </a:tblPr>
              <a:tblGrid>
                <a:gridCol w="1200150"/>
                <a:gridCol w="1171575"/>
                <a:gridCol w="952500"/>
              </a:tblGrid>
              <a:tr h="200025">
                <a:tc>
                  <a:txBody>
                    <a:bodyPr/>
                    <a:lstStyle/>
                    <a:p>
                      <a:pPr indent="0" lvl="0" marL="0" rtl="0" algn="ctr">
                        <a:lnSpc>
                          <a:spcPct val="115000"/>
                        </a:lnSpc>
                        <a:spcBef>
                          <a:spcPts val="0"/>
                        </a:spcBef>
                        <a:spcAft>
                          <a:spcPts val="0"/>
                        </a:spcAft>
                        <a:buNone/>
                      </a:pPr>
                      <a:r>
                        <a:rPr lang="en" sz="1000"/>
                        <a:t>Segments</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1000"/>
                        <a:t>Not Open Academy</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1000"/>
                        <a:t>Open Academy</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FE2F3"/>
                    </a:solidFill>
                  </a:tcPr>
                </a:tc>
              </a:tr>
              <a:tr h="200025">
                <a:tc>
                  <a:txBody>
                    <a:bodyPr/>
                    <a:lstStyle/>
                    <a:p>
                      <a:pPr indent="0" lvl="0" marL="0" rtl="0" algn="ctr">
                        <a:lnSpc>
                          <a:spcPct val="115000"/>
                        </a:lnSpc>
                        <a:spcBef>
                          <a:spcPts val="0"/>
                        </a:spcBef>
                        <a:spcAft>
                          <a:spcPts val="0"/>
                        </a:spcAft>
                        <a:buNone/>
                      </a:pPr>
                      <a:r>
                        <a:rPr lang="en" sz="1000"/>
                        <a:t>The Dreamer &gt;1Y</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377762</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4458</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Dreamer &lt;1Y</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206734</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3589</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Supervisor</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124974</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3517</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Manager</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29017</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1343</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Executive</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7231</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359</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000"/>
                        <a:t>The Owner</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489</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3</a:t>
                      </a:r>
                      <a:endParaRPr sz="1000"/>
                    </a:p>
                  </a:txBody>
                  <a:tcPr marT="19050" marB="19050" marR="28575" marL="28575" anchor="ctr">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
        <p:nvSpPr>
          <p:cNvPr id="521" name="Google Shape;521;p33"/>
          <p:cNvSpPr txBox="1"/>
          <p:nvPr/>
        </p:nvSpPr>
        <p:spPr>
          <a:xfrm>
            <a:off x="2481575" y="470450"/>
            <a:ext cx="2163300" cy="63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Total Open Academy Users:</a:t>
            </a:r>
            <a:endParaRPr b="1" sz="1000">
              <a:solidFill>
                <a:schemeClr val="dk1"/>
              </a:solidFill>
              <a:latin typeface="Montserrat"/>
              <a:ea typeface="Montserrat"/>
              <a:cs typeface="Montserrat"/>
              <a:sym typeface="Montserrat"/>
            </a:endParaRPr>
          </a:p>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50,828</a:t>
            </a:r>
            <a:endParaRPr b="1" sz="1000">
              <a:solidFill>
                <a:schemeClr val="dk1"/>
              </a:solidFill>
              <a:latin typeface="Montserrat"/>
              <a:ea typeface="Montserrat"/>
              <a:cs typeface="Montserrat"/>
              <a:sym typeface="Montserrat"/>
            </a:endParaRPr>
          </a:p>
        </p:txBody>
      </p:sp>
      <p:sp>
        <p:nvSpPr>
          <p:cNvPr id="522" name="Google Shape;522;p33"/>
          <p:cNvSpPr txBox="1"/>
          <p:nvPr/>
        </p:nvSpPr>
        <p:spPr>
          <a:xfrm>
            <a:off x="4768725" y="470450"/>
            <a:ext cx="2163300" cy="63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Email cannot be found:</a:t>
            </a:r>
            <a:endParaRPr b="1" sz="1000">
              <a:solidFill>
                <a:schemeClr val="dk1"/>
              </a:solidFill>
              <a:latin typeface="Montserrat"/>
              <a:ea typeface="Montserrat"/>
              <a:cs typeface="Montserrat"/>
              <a:sym typeface="Montserrat"/>
            </a:endParaRPr>
          </a:p>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37,559</a:t>
            </a:r>
            <a:endParaRPr b="1" sz="1000">
              <a:solidFill>
                <a:schemeClr val="dk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6" name="Shape 526"/>
        <p:cNvGrpSpPr/>
        <p:nvPr/>
      </p:nvGrpSpPr>
      <p:grpSpPr>
        <a:xfrm>
          <a:off x="0" y="0"/>
          <a:ext cx="0" cy="0"/>
          <a:chOff x="0" y="0"/>
          <a:chExt cx="0" cy="0"/>
        </a:xfrm>
      </p:grpSpPr>
      <p:sp>
        <p:nvSpPr>
          <p:cNvPr id="527" name="Google Shape;527;p34"/>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Staking</a:t>
            </a:r>
            <a:endParaRPr b="1" sz="1800">
              <a:solidFill>
                <a:srgbClr val="0084B5"/>
              </a:solidFill>
              <a:latin typeface="Montserrat"/>
              <a:ea typeface="Montserrat"/>
              <a:cs typeface="Montserrat"/>
              <a:sym typeface="Montserrat"/>
            </a:endParaRPr>
          </a:p>
        </p:txBody>
      </p:sp>
      <p:graphicFrame>
        <p:nvGraphicFramePr>
          <p:cNvPr id="528" name="Google Shape;528;p34"/>
          <p:cNvGraphicFramePr/>
          <p:nvPr/>
        </p:nvGraphicFramePr>
        <p:xfrm>
          <a:off x="311950" y="469713"/>
          <a:ext cx="3000000" cy="3000000"/>
        </p:xfrm>
        <a:graphic>
          <a:graphicData uri="http://schemas.openxmlformats.org/drawingml/2006/table">
            <a:tbl>
              <a:tblPr>
                <a:noFill/>
                <a:tableStyleId>{0287243F-39C1-4460-8421-3307866EDBE6}</a:tableStyleId>
              </a:tblPr>
              <a:tblGrid>
                <a:gridCol w="1226950"/>
                <a:gridCol w="1138650"/>
                <a:gridCol w="1138650"/>
                <a:gridCol w="755800"/>
                <a:gridCol w="1226950"/>
                <a:gridCol w="1138650"/>
                <a:gridCol w="1138650"/>
                <a:gridCol w="755800"/>
              </a:tblGrid>
              <a:tr h="170500">
                <a:tc gridSpan="4">
                  <a:txBody>
                    <a:bodyPr/>
                    <a:lstStyle/>
                    <a:p>
                      <a:pPr indent="0" lvl="0" marL="0" rtl="0" algn="ctr">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c gridSpan="4">
                  <a:txBody>
                    <a:bodyPr/>
                    <a:lstStyle/>
                    <a:p>
                      <a:pPr indent="0" lvl="0" marL="0" rtl="0" algn="ctr">
                        <a:lnSpc>
                          <a:spcPct val="115000"/>
                        </a:lnSpc>
                        <a:spcBef>
                          <a:spcPts val="0"/>
                        </a:spcBef>
                        <a:spcAft>
                          <a:spcPts val="0"/>
                        </a:spcAft>
                        <a:buNone/>
                      </a:pPr>
                      <a:r>
                        <a:rPr lang="en" sz="700"/>
                        <a:t>BNB</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r>
              <a:tr h="1705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170500">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17,780,638,866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58,279,194,941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227.77%</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1,521,505,459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7,027,682,074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361.89%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11,614,988,854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88,393,529,291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661.03%</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2,635,699,142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10,040,204,299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280.93%</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19,111,810,191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75,585,032,701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295.49%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2,934,703,777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6,921,346,665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135.84%</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389,031,352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1,620,463,890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316.54%</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97,745,717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92,990,334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EA4335"/>
                          </a:solidFill>
                        </a:rPr>
                        <a:t>-4.87%</a:t>
                      </a:r>
                      <a:endParaRPr b="1" sz="700">
                        <a:solidFill>
                          <a:srgbClr val="EA4335"/>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239,736,602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1,626,319,121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578.38%</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101,889,438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117,571,362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15.39%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28,268,063,696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13,693,291,717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EA4335"/>
                          </a:solidFill>
                        </a:rPr>
                        <a:t>-51.56%</a:t>
                      </a:r>
                      <a:endParaRPr b="1" sz="700">
                        <a:solidFill>
                          <a:srgbClr val="EA4335"/>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6,806,527,131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3,866,963,399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EA4335"/>
                          </a:solidFill>
                        </a:rPr>
                        <a:t>-43.19%</a:t>
                      </a:r>
                      <a:endParaRPr b="1" sz="700">
                        <a:solidFill>
                          <a:srgbClr val="EA4335"/>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gridSpan="4">
                  <a:txBody>
                    <a:bodyPr/>
                    <a:lstStyle/>
                    <a:p>
                      <a:pPr indent="0" lvl="0" marL="0" rtl="0" algn="ctr">
                        <a:lnSpc>
                          <a:spcPct val="115000"/>
                        </a:lnSpc>
                        <a:spcBef>
                          <a:spcPts val="0"/>
                        </a:spcBef>
                        <a:spcAft>
                          <a:spcPts val="0"/>
                        </a:spcAft>
                        <a:buNone/>
                      </a:pPr>
                      <a:r>
                        <a:rPr lang="en" sz="700"/>
                        <a:t>DOT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c gridSpan="4">
                  <a:txBody>
                    <a:bodyPr/>
                    <a:lstStyle/>
                    <a:p>
                      <a:pPr indent="0" lvl="0" marL="0" rtl="0" algn="ctr">
                        <a:lnSpc>
                          <a:spcPct val="115000"/>
                        </a:lnSpc>
                        <a:spcBef>
                          <a:spcPts val="0"/>
                        </a:spcBef>
                        <a:spcAft>
                          <a:spcPts val="0"/>
                        </a:spcAft>
                        <a:buNone/>
                      </a:pPr>
                      <a:r>
                        <a:rPr lang="en" sz="700"/>
                        <a:t>POL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r>
              <a:tr h="1705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170500">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1,946,998,621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21,108,703,838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984.17%</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1,268,584,213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8,447,421,741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565.89%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1,984,027,183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12,095,871,446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509.66%</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2,630,513,467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8,248,161,510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213.56%</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3,345,894,076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16,662,284,714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397.99%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2,822,828,388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10,161,542,805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259.98%</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12,675,566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117,169,663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824.37%</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178,033,556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194,163,544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9.06%</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173,883,038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703,929,765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304.83%</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88,995,450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486,498,456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446.66%</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4,763,160,338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3,562,416,239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EA4335"/>
                          </a:solidFill>
                        </a:rPr>
                        <a:t>-25.21%</a:t>
                      </a:r>
                      <a:endParaRPr b="1" sz="700">
                        <a:solidFill>
                          <a:srgbClr val="EA4335"/>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3,554,601,121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1,958,400,823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EA4335"/>
                          </a:solidFill>
                        </a:rPr>
                        <a:t>-44.91%</a:t>
                      </a:r>
                      <a:endParaRPr b="1" sz="700">
                        <a:solidFill>
                          <a:srgbClr val="EA4335"/>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gridSpan="4">
                  <a:txBody>
                    <a:bodyPr/>
                    <a:lstStyle/>
                    <a:p>
                      <a:pPr indent="0" lvl="0" marL="0" rtl="0" algn="ctr">
                        <a:lnSpc>
                          <a:spcPct val="115000"/>
                        </a:lnSpc>
                        <a:spcBef>
                          <a:spcPts val="0"/>
                        </a:spcBef>
                        <a:spcAft>
                          <a:spcPts val="0"/>
                        </a:spcAft>
                        <a:buNone/>
                      </a:pPr>
                      <a:r>
                        <a:rPr lang="en" sz="700"/>
                        <a:t>SOL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c gridSpan="4">
                  <a:txBody>
                    <a:bodyPr/>
                    <a:lstStyle/>
                    <a:p>
                      <a:pPr indent="0" lvl="0" marL="0" rtl="0" algn="ctr">
                        <a:lnSpc>
                          <a:spcPct val="115000"/>
                        </a:lnSpc>
                        <a:spcBef>
                          <a:spcPts val="0"/>
                        </a:spcBef>
                        <a:spcAft>
                          <a:spcPts val="0"/>
                        </a:spcAft>
                        <a:buNone/>
                      </a:pPr>
                      <a:r>
                        <a:rPr lang="en" sz="700"/>
                        <a:t>ALL ASSETS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hMerge="1"/>
                <a:tc hMerge="1"/>
                <a:tc hMerge="1"/>
              </a:tr>
              <a:tr h="1705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700"/>
                        <a: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170500">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1,652,425,285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15,720,349,392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851.35%</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24,170,152,444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110,583,351,986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357.52%</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4,300,050,723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35,870,831,680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734.20%</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23,165,279,370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154,648,598,226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567.59%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3,588,193,625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25,071,982,884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598.74%</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31,803,430,056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134,402,189,769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322.60%</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500">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99,462,502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150,396,614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51.21%</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776,948,693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2,175,184,045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179.96%</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193,080,149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1,381,468,355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615.49%</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797,584,677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4,315,787,059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441.11%</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2950">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2,521,779,424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2,603,798,012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4A853"/>
                          </a:solidFill>
                        </a:rPr>
                        <a:t>3.25%</a:t>
                      </a:r>
                      <a:endParaRPr b="1" sz="700">
                        <a:solidFill>
                          <a:srgbClr val="34A85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45,914,131,710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25,684,870,190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EA4335"/>
                          </a:solidFill>
                        </a:rPr>
                        <a:t>-44.06%</a:t>
                      </a:r>
                      <a:endParaRPr b="1" sz="700">
                        <a:solidFill>
                          <a:srgbClr val="EA4335"/>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2" name="Shape 532"/>
        <p:cNvGrpSpPr/>
        <p:nvPr/>
      </p:nvGrpSpPr>
      <p:grpSpPr>
        <a:xfrm>
          <a:off x="0" y="0"/>
          <a:ext cx="0" cy="0"/>
          <a:chOff x="0" y="0"/>
          <a:chExt cx="0" cy="0"/>
        </a:xfrm>
      </p:grpSpPr>
      <p:sp>
        <p:nvSpPr>
          <p:cNvPr id="533" name="Google Shape;533;p35"/>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Staking</a:t>
            </a:r>
            <a:endParaRPr b="1" sz="1800">
              <a:solidFill>
                <a:srgbClr val="0084B5"/>
              </a:solidFill>
              <a:latin typeface="Montserrat"/>
              <a:ea typeface="Montserrat"/>
              <a:cs typeface="Montserrat"/>
              <a:sym typeface="Montserrat"/>
            </a:endParaRPr>
          </a:p>
        </p:txBody>
      </p:sp>
      <p:graphicFrame>
        <p:nvGraphicFramePr>
          <p:cNvPr id="534" name="Google Shape;534;p35"/>
          <p:cNvGraphicFramePr/>
          <p:nvPr/>
        </p:nvGraphicFramePr>
        <p:xfrm>
          <a:off x="1750425" y="327600"/>
          <a:ext cx="3000000" cy="3000000"/>
        </p:xfrm>
        <a:graphic>
          <a:graphicData uri="http://schemas.openxmlformats.org/drawingml/2006/table">
            <a:tbl>
              <a:tblPr>
                <a:noFill/>
                <a:tableStyleId>{0287243F-39C1-4460-8421-3307866EDBE6}</a:tableStyleId>
              </a:tblPr>
              <a:tblGrid>
                <a:gridCol w="1136125"/>
                <a:gridCol w="1136125"/>
                <a:gridCol w="1136125"/>
                <a:gridCol w="1136125"/>
                <a:gridCol w="1136125"/>
                <a:gridCol w="1136125"/>
              </a:tblGrid>
              <a:tr h="125800">
                <a:tc gridSpan="3">
                  <a:txBody>
                    <a:bodyPr/>
                    <a:lstStyle/>
                    <a:p>
                      <a:pPr indent="0" lvl="0" marL="0" rtl="0" algn="ctr">
                        <a:lnSpc>
                          <a:spcPct val="115000"/>
                        </a:lnSpc>
                        <a:spcBef>
                          <a:spcPts val="0"/>
                        </a:spcBef>
                        <a:spcAft>
                          <a:spcPts val="0"/>
                        </a:spcAft>
                        <a:buNone/>
                      </a:pPr>
                      <a:r>
                        <a:rPr lang="en" sz="700"/>
                        <a:t>ETH</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gridSpan="3">
                  <a:txBody>
                    <a:bodyPr/>
                    <a:lstStyle/>
                    <a:p>
                      <a:pPr indent="0" lvl="0" marL="0" rtl="0" algn="ctr">
                        <a:lnSpc>
                          <a:spcPct val="115000"/>
                        </a:lnSpc>
                        <a:spcBef>
                          <a:spcPts val="0"/>
                        </a:spcBef>
                        <a:spcAft>
                          <a:spcPts val="0"/>
                        </a:spcAft>
                        <a:buNone/>
                      </a:pPr>
                      <a:r>
                        <a:rPr lang="en" sz="700"/>
                        <a:t>BNB</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r>
              <a:tr h="1258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172700">
                <a:tc>
                  <a:txBody>
                    <a:bodyPr/>
                    <a:lstStyle/>
                    <a:p>
                      <a:pPr indent="0" lvl="0" marL="0" marR="0" rtl="0" algn="ctr">
                        <a:lnSpc>
                          <a:spcPct val="115000"/>
                        </a:lnSpc>
                        <a:spcBef>
                          <a:spcPts val="0"/>
                        </a:spcBef>
                        <a:spcAft>
                          <a:spcPts val="0"/>
                        </a:spcAft>
                        <a:buNone/>
                      </a:pPr>
                      <a:r>
                        <a:rPr lang="en" sz="700"/>
                        <a:t>Common Traders</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22.97%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24.36%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10.79%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25.04%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2700">
                <a:tc>
                  <a:txBody>
                    <a:bodyPr/>
                    <a:lstStyle/>
                    <a:p>
                      <a:pPr indent="0" lvl="0" marL="0" marR="0" rtl="0" algn="ctr">
                        <a:lnSpc>
                          <a:spcPct val="115000"/>
                        </a:lnSpc>
                        <a:spcBef>
                          <a:spcPts val="0"/>
                        </a:spcBef>
                        <a:spcAft>
                          <a:spcPts val="0"/>
                        </a:spcAft>
                        <a:buNone/>
                      </a:pPr>
                      <a:r>
                        <a:rPr lang="en" sz="700"/>
                        <a:t>Wealthy Individual</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15.01%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36.95%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18.70%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Emerging Individual</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24.69%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31.60%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20.82%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24.66%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2700">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0.50%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0.68%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0.69%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0.33%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New to Market &lt; 1Y</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0.31%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0.68%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0.72%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0.42%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New to Market &gt; 1Y</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36.52%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5.72%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48.28%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5800">
                <a:tc gridSpan="3">
                  <a:txBody>
                    <a:bodyPr/>
                    <a:lstStyle/>
                    <a:p>
                      <a:pPr indent="0" lvl="0" marL="0" rtl="0" algn="ctr">
                        <a:lnSpc>
                          <a:spcPct val="115000"/>
                        </a:lnSpc>
                        <a:spcBef>
                          <a:spcPts val="0"/>
                        </a:spcBef>
                        <a:spcAft>
                          <a:spcPts val="0"/>
                        </a:spcAft>
                        <a:buNone/>
                      </a:pPr>
                      <a:r>
                        <a:rPr lang="en" sz="700"/>
                        <a:t>DOT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gridSpan="3">
                  <a:txBody>
                    <a:bodyPr/>
                    <a:lstStyle/>
                    <a:p>
                      <a:pPr indent="0" lvl="0" marL="0" rtl="0" algn="ctr">
                        <a:lnSpc>
                          <a:spcPct val="115000"/>
                        </a:lnSpc>
                        <a:spcBef>
                          <a:spcPts val="0"/>
                        </a:spcBef>
                        <a:spcAft>
                          <a:spcPts val="0"/>
                        </a:spcAft>
                        <a:buNone/>
                      </a:pPr>
                      <a:r>
                        <a:rPr lang="en" sz="700"/>
                        <a:t>POL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r>
              <a:tr h="1258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172700">
                <a:tc>
                  <a:txBody>
                    <a:bodyPr/>
                    <a:lstStyle/>
                    <a:p>
                      <a:pPr indent="0" lvl="0" marL="0" marR="0" rtl="0" algn="ctr">
                        <a:lnSpc>
                          <a:spcPct val="115000"/>
                        </a:lnSpc>
                        <a:spcBef>
                          <a:spcPts val="0"/>
                        </a:spcBef>
                        <a:spcAft>
                          <a:spcPts val="0"/>
                        </a:spcAft>
                        <a:buNone/>
                      </a:pPr>
                      <a:r>
                        <a:rPr lang="en" sz="700"/>
                        <a:t>Common Traders</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15.92%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38.91%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28.64%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2700">
                <a:tc>
                  <a:txBody>
                    <a:bodyPr/>
                    <a:lstStyle/>
                    <a:p>
                      <a:pPr indent="0" lvl="0" marL="0" marR="0" rtl="0" algn="ctr">
                        <a:lnSpc>
                          <a:spcPct val="115000"/>
                        </a:lnSpc>
                        <a:spcBef>
                          <a:spcPts val="0"/>
                        </a:spcBef>
                        <a:spcAft>
                          <a:spcPts val="0"/>
                        </a:spcAft>
                        <a:buNone/>
                      </a:pPr>
                      <a:r>
                        <a:rPr lang="en" sz="700"/>
                        <a:t>Wealthy Individual</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24.95%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27.96%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Emerging Individual</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27.37%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30.71%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26.77%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34.45%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2700">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0.22%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New to Market &lt; 1Y</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1.42%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0.84%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New to Market &gt; 1Y</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38.96%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33.71%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6.64%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5800">
                <a:tc gridSpan="3">
                  <a:txBody>
                    <a:bodyPr/>
                    <a:lstStyle/>
                    <a:p>
                      <a:pPr indent="0" lvl="0" marL="0" rtl="0" algn="ctr">
                        <a:lnSpc>
                          <a:spcPct val="115000"/>
                        </a:lnSpc>
                        <a:spcBef>
                          <a:spcPts val="0"/>
                        </a:spcBef>
                        <a:spcAft>
                          <a:spcPts val="0"/>
                        </a:spcAft>
                        <a:buNone/>
                      </a:pPr>
                      <a:r>
                        <a:rPr lang="en" sz="700"/>
                        <a:t>SOL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gridSpan="3">
                  <a:txBody>
                    <a:bodyPr/>
                    <a:lstStyle/>
                    <a:p>
                      <a:pPr indent="0" lvl="0" marL="0" rtl="0" algn="ctr">
                        <a:lnSpc>
                          <a:spcPct val="115000"/>
                        </a:lnSpc>
                        <a:spcBef>
                          <a:spcPts val="0"/>
                        </a:spcBef>
                        <a:spcAft>
                          <a:spcPts val="0"/>
                        </a:spcAft>
                        <a:buNone/>
                      </a:pPr>
                      <a:r>
                        <a:rPr lang="en" sz="700"/>
                        <a:t>ALL ASSETS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hMerge="1"/>
                <a:tc hMerge="1"/>
              </a:tr>
              <a:tr h="1258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172700">
                <a:tc>
                  <a:txBody>
                    <a:bodyPr/>
                    <a:lstStyle/>
                    <a:p>
                      <a:pPr indent="0" lvl="0" marL="0" marR="0" rtl="0" algn="ctr">
                        <a:lnSpc>
                          <a:spcPct val="115000"/>
                        </a:lnSpc>
                        <a:spcBef>
                          <a:spcPts val="0"/>
                        </a:spcBef>
                        <a:spcAft>
                          <a:spcPts val="0"/>
                        </a:spcAft>
                        <a:buNone/>
                      </a:pPr>
                      <a:r>
                        <a:rPr lang="en" sz="700"/>
                        <a:t>Common Traders</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13.37%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19.46%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19.09%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25.61%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2700">
                <a:tc>
                  <a:txBody>
                    <a:bodyPr/>
                    <a:lstStyle/>
                    <a:p>
                      <a:pPr indent="0" lvl="0" marL="0" marR="0" rtl="0" algn="ctr">
                        <a:lnSpc>
                          <a:spcPct val="115000"/>
                        </a:lnSpc>
                        <a:spcBef>
                          <a:spcPts val="0"/>
                        </a:spcBef>
                        <a:spcAft>
                          <a:spcPts val="0"/>
                        </a:spcAft>
                        <a:buNone/>
                      </a:pPr>
                      <a:r>
                        <a:rPr lang="en" sz="700"/>
                        <a:t>Wealthy Individual</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34.80%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44.40%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18.29%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35.81%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Emerging Individual</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29.04%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25.12%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31.13%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2700">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0.81%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0.19%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Institution Trader</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0.61%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0.50%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New to Market &lt; 1Y</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0.63%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8050">
                <a:tc>
                  <a:txBody>
                    <a:bodyPr/>
                    <a:lstStyle/>
                    <a:p>
                      <a:pPr indent="0" lvl="0" marL="0" marR="0" rtl="0" algn="ctr">
                        <a:lnSpc>
                          <a:spcPct val="115000"/>
                        </a:lnSpc>
                        <a:spcBef>
                          <a:spcPts val="0"/>
                        </a:spcBef>
                        <a:spcAft>
                          <a:spcPts val="0"/>
                        </a:spcAft>
                        <a:buNone/>
                      </a:pPr>
                      <a:r>
                        <a:rPr lang="en" sz="700"/>
                        <a:t>New to Market &gt; 1Y</a:t>
                      </a:r>
                      <a:endParaRPr sz="700"/>
                    </a:p>
                  </a:txBody>
                  <a:tcPr marT="19050" marB="19050" marR="91425" marL="914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20.41%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3.22%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36.26%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5.95%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8" name="Shape 538"/>
        <p:cNvGrpSpPr/>
        <p:nvPr/>
      </p:nvGrpSpPr>
      <p:grpSpPr>
        <a:xfrm>
          <a:off x="0" y="0"/>
          <a:ext cx="0" cy="0"/>
          <a:chOff x="0" y="0"/>
          <a:chExt cx="0" cy="0"/>
        </a:xfrm>
      </p:grpSpPr>
      <p:sp>
        <p:nvSpPr>
          <p:cNvPr id="539" name="Google Shape;539;p36"/>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API Traders</a:t>
            </a:r>
            <a:endParaRPr b="1" sz="1800">
              <a:solidFill>
                <a:srgbClr val="0084B5"/>
              </a:solidFill>
              <a:latin typeface="Montserrat"/>
              <a:ea typeface="Montserrat"/>
              <a:cs typeface="Montserrat"/>
              <a:sym typeface="Montserrat"/>
            </a:endParaRPr>
          </a:p>
        </p:txBody>
      </p:sp>
      <p:graphicFrame>
        <p:nvGraphicFramePr>
          <p:cNvPr id="540" name="Google Shape;540;p36"/>
          <p:cNvGraphicFramePr/>
          <p:nvPr/>
        </p:nvGraphicFramePr>
        <p:xfrm>
          <a:off x="111263" y="660950"/>
          <a:ext cx="3000000" cy="3000000"/>
        </p:xfrm>
        <a:graphic>
          <a:graphicData uri="http://schemas.openxmlformats.org/drawingml/2006/table">
            <a:tbl>
              <a:tblPr>
                <a:noFill/>
                <a:tableStyleId>{0287243F-39C1-4460-8421-3307866EDBE6}</a:tableStyleId>
              </a:tblPr>
              <a:tblGrid>
                <a:gridCol w="816100"/>
                <a:gridCol w="1075750"/>
                <a:gridCol w="843950"/>
                <a:gridCol w="955200"/>
                <a:gridCol w="992300"/>
                <a:gridCol w="825375"/>
                <a:gridCol w="816100"/>
                <a:gridCol w="649175"/>
                <a:gridCol w="649175"/>
                <a:gridCol w="649175"/>
                <a:gridCol w="649175"/>
              </a:tblGrid>
              <a:tr h="479250">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lang="en" sz="700"/>
                        <a:t>API Trade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lang="en" sz="700"/>
                        <a:t>NON API Trade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lang="en" sz="700"/>
                        <a:t>Total Trade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lang="en" sz="700"/>
                        <a:t>API Trade Volume Share % From Total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lang="en" sz="700"/>
                        <a:t>NON API Trade Volume Share % From Total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r>
              <a:tr h="272000">
                <a:tc>
                  <a:txBody>
                    <a:bodyPr/>
                    <a:lstStyle/>
                    <a:p>
                      <a:pPr indent="0" lvl="0" marL="0" rtl="0" algn="ctr">
                        <a:lnSpc>
                          <a:spcPct val="115000"/>
                        </a:lnSpc>
                        <a:spcBef>
                          <a:spcPts val="0"/>
                        </a:spcBef>
                        <a:spcAft>
                          <a:spcPts val="0"/>
                        </a:spcAft>
                        <a:buNone/>
                      </a:pPr>
                      <a:r>
                        <a:rPr lang="en" sz="700"/>
                        <a:t>Segment</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700"/>
                        <a:t>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445375">
                <a:tc>
                  <a:txBody>
                    <a:bodyPr/>
                    <a:lstStyle/>
                    <a:p>
                      <a:pPr indent="0" lvl="0" marL="0" rtl="0" algn="ctr">
                        <a:lnSpc>
                          <a:spcPct val="115000"/>
                        </a:lnSpc>
                        <a:spcBef>
                          <a:spcPts val="0"/>
                        </a:spcBef>
                        <a:spcAft>
                          <a:spcPts val="0"/>
                        </a:spcAft>
                        <a:buNone/>
                      </a:pPr>
                      <a:r>
                        <a:rPr lang="en" sz="700"/>
                        <a:t>Common Traders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565,842,801,651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666,463,357,632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1,293,220,272,644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2,296,167,676,530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1,859,063,074,295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2,962,631,034,162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30.44%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22.50%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69.56%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77.50%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375">
                <a:tc>
                  <a:txBody>
                    <a:bodyPr/>
                    <a:lstStyle/>
                    <a:p>
                      <a:pPr indent="0" lvl="0" marL="0" rtl="0" algn="ctr">
                        <a:lnSpc>
                          <a:spcPct val="115000"/>
                        </a:lnSpc>
                        <a:spcBef>
                          <a:spcPts val="0"/>
                        </a:spcBef>
                        <a:spcAft>
                          <a:spcPts val="0"/>
                        </a:spcAft>
                        <a:buNone/>
                      </a:pPr>
                      <a:r>
                        <a:rPr lang="en" sz="700"/>
                        <a:t>Wealthy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7,335,293,165,964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15,226,419,355,998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6,298,776,926,613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5,783,952,432,749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13,634,070,092,577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21,010,371,788,747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53.80%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72.47%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46.20%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27.53%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375">
                <a:tc>
                  <a:txBody>
                    <a:bodyPr/>
                    <a:lstStyle/>
                    <a:p>
                      <a:pPr indent="0" lvl="0" marL="0" rtl="0" algn="ctr">
                        <a:lnSpc>
                          <a:spcPct val="115000"/>
                        </a:lnSpc>
                        <a:spcBef>
                          <a:spcPts val="0"/>
                        </a:spcBef>
                        <a:spcAft>
                          <a:spcPts val="0"/>
                        </a:spcAft>
                        <a:buNone/>
                      </a:pPr>
                      <a:r>
                        <a:rPr lang="en" sz="700"/>
                        <a:t>Emerging Individual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1,254,981,174,252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1,440,258,634,253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2,763,401,483,606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4,885,424,769,014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4,018,382,657,857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6,325,683,403,267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68.77%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77.23%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375">
                <a:tc>
                  <a:txBody>
                    <a:bodyPr/>
                    <a:lstStyle/>
                    <a:p>
                      <a:pPr indent="0" lvl="0" marL="0" rtl="0" algn="ctr">
                        <a:lnSpc>
                          <a:spcPct val="115000"/>
                        </a:lnSpc>
                        <a:spcBef>
                          <a:spcPts val="0"/>
                        </a:spcBef>
                        <a:spcAft>
                          <a:spcPts val="0"/>
                        </a:spcAft>
                        <a:buNone/>
                      </a:pPr>
                      <a:r>
                        <a:rPr lang="en" sz="700"/>
                        <a:t>Institution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16,120,778,864,895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31,574,704,805,045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1,762,558,223,983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830,570,007,510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17,883,337,088,878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32,405,274,812,555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90.14%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97.44%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9.86%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375">
                <a:tc>
                  <a:txBody>
                    <a:bodyPr/>
                    <a:lstStyle/>
                    <a:p>
                      <a:pPr indent="0" lvl="0" marL="0" rtl="0" algn="ctr">
                        <a:lnSpc>
                          <a:spcPct val="115000"/>
                        </a:lnSpc>
                        <a:spcBef>
                          <a:spcPts val="0"/>
                        </a:spcBef>
                        <a:spcAft>
                          <a:spcPts val="0"/>
                        </a:spcAft>
                        <a:buNone/>
                      </a:pPr>
                      <a:r>
                        <a:rPr lang="en" sz="700"/>
                        <a:t>New to Market &lt;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214,142,382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542,793,870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46,090,231,496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182,378,592,868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46,304,373,878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182,921,386,738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0.46%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0.30%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99.54%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99.70%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375">
                <a:tc>
                  <a:txBody>
                    <a:bodyPr/>
                    <a:lstStyle/>
                    <a:p>
                      <a:pPr indent="0" lvl="0" marL="0" rtl="0" algn="ctr">
                        <a:lnSpc>
                          <a:spcPct val="115000"/>
                        </a:lnSpc>
                        <a:spcBef>
                          <a:spcPts val="0"/>
                        </a:spcBef>
                        <a:spcAft>
                          <a:spcPts val="0"/>
                        </a:spcAft>
                        <a:buNone/>
                      </a:pPr>
                      <a:r>
                        <a:rPr lang="en" sz="700"/>
                        <a:t>New to Market &gt; 1Y</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164,091,851,102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119,810,086,098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637,930,219,624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729,771,861,820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802,022,070,726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849,581,947,918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20.46%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14.10%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79.54%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85.90%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4" name="Shape 544"/>
        <p:cNvGrpSpPr/>
        <p:nvPr/>
      </p:nvGrpSpPr>
      <p:grpSpPr>
        <a:xfrm>
          <a:off x="0" y="0"/>
          <a:ext cx="0" cy="0"/>
          <a:chOff x="0" y="0"/>
          <a:chExt cx="0" cy="0"/>
        </a:xfrm>
      </p:grpSpPr>
      <p:sp>
        <p:nvSpPr>
          <p:cNvPr id="545" name="Google Shape;545;p37"/>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API Traders</a:t>
            </a:r>
            <a:endParaRPr b="1" sz="1800">
              <a:solidFill>
                <a:srgbClr val="0084B5"/>
              </a:solidFill>
              <a:latin typeface="Montserrat"/>
              <a:ea typeface="Montserrat"/>
              <a:cs typeface="Montserrat"/>
              <a:sym typeface="Montserrat"/>
            </a:endParaRPr>
          </a:p>
        </p:txBody>
      </p:sp>
      <p:graphicFrame>
        <p:nvGraphicFramePr>
          <p:cNvPr id="546" name="Google Shape;546;p37"/>
          <p:cNvGraphicFramePr/>
          <p:nvPr/>
        </p:nvGraphicFramePr>
        <p:xfrm>
          <a:off x="310000" y="754150"/>
          <a:ext cx="3000000" cy="3000000"/>
        </p:xfrm>
        <a:graphic>
          <a:graphicData uri="http://schemas.openxmlformats.org/drawingml/2006/table">
            <a:tbl>
              <a:tblPr>
                <a:noFill/>
                <a:tableStyleId>{0287243F-39C1-4460-8421-3307866EDBE6}</a:tableStyleId>
              </a:tblPr>
              <a:tblGrid>
                <a:gridCol w="589850"/>
                <a:gridCol w="769375"/>
                <a:gridCol w="598400"/>
                <a:gridCol w="461625"/>
                <a:gridCol w="589850"/>
                <a:gridCol w="589850"/>
                <a:gridCol w="461625"/>
                <a:gridCol w="461625"/>
                <a:gridCol w="461625"/>
                <a:gridCol w="461625"/>
                <a:gridCol w="461625"/>
                <a:gridCol w="461625"/>
                <a:gridCol w="461625"/>
                <a:gridCol w="461625"/>
                <a:gridCol w="461625"/>
                <a:gridCol w="461625"/>
              </a:tblGrid>
              <a:tr h="220300">
                <a:tc>
                  <a:txBody>
                    <a:bodyPr/>
                    <a:lstStyle/>
                    <a:p>
                      <a:pPr indent="0" lvl="0" marL="0" rtl="0" algn="l">
                        <a:spcBef>
                          <a:spcPts val="0"/>
                        </a:spcBef>
                        <a:spcAft>
                          <a:spcPts val="0"/>
                        </a:spcAft>
                        <a:buNone/>
                      </a:pPr>
                      <a:r>
                        <a:t/>
                      </a:r>
                      <a:endParaRPr b="1" sz="12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800"/>
                        <a:t>API Trade Volume</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800"/>
                        <a:t>[AVG] API Trade Volume</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FF2CC"/>
                    </a:solidFill>
                  </a:tcPr>
                </a:tc>
                <a:tc hMerge="1"/>
                <a:tc hMerge="1"/>
                <a:tc gridSpan="3">
                  <a:txBody>
                    <a:bodyPr/>
                    <a:lstStyle/>
                    <a:p>
                      <a:pPr indent="0" lvl="0" marL="0" rtl="0" algn="ctr">
                        <a:lnSpc>
                          <a:spcPct val="115000"/>
                        </a:lnSpc>
                        <a:spcBef>
                          <a:spcPts val="0"/>
                        </a:spcBef>
                        <a:spcAft>
                          <a:spcPts val="0"/>
                        </a:spcAft>
                        <a:buNone/>
                      </a:pPr>
                      <a:r>
                        <a:rPr b="1" lang="en" sz="800"/>
                        <a:t>API Trade Frequency</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D9EAD3"/>
                    </a:solidFill>
                  </a:tcPr>
                </a:tc>
                <a:tc hMerge="1"/>
                <a:tc hMerge="1"/>
                <a:tc gridSpan="3">
                  <a:txBody>
                    <a:bodyPr/>
                    <a:lstStyle/>
                    <a:p>
                      <a:pPr indent="0" lvl="0" marL="0" rtl="0" algn="ctr">
                        <a:lnSpc>
                          <a:spcPct val="115000"/>
                        </a:lnSpc>
                        <a:spcBef>
                          <a:spcPts val="0"/>
                        </a:spcBef>
                        <a:spcAft>
                          <a:spcPts val="0"/>
                        </a:spcAft>
                        <a:buNone/>
                      </a:pPr>
                      <a:r>
                        <a:rPr b="1" lang="en" sz="800"/>
                        <a:t>[AVG] API Trade Frequency</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hMerge="1"/>
                <a:tc hMerge="1"/>
                <a:tc gridSpan="3">
                  <a:txBody>
                    <a:bodyPr/>
                    <a:lstStyle/>
                    <a:p>
                      <a:pPr indent="0" lvl="0" marL="0" rtl="0" algn="ctr">
                        <a:lnSpc>
                          <a:spcPct val="115000"/>
                        </a:lnSpc>
                        <a:spcBef>
                          <a:spcPts val="0"/>
                        </a:spcBef>
                        <a:spcAft>
                          <a:spcPts val="0"/>
                        </a:spcAft>
                        <a:buNone/>
                      </a:pPr>
                      <a:r>
                        <a:rPr b="1" lang="en" sz="800"/>
                        <a:t>[AVG] Basket Size</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EAD1DC"/>
                    </a:solidFill>
                  </a:tcPr>
                </a:tc>
                <a:tc hMerge="1"/>
                <a:tc hMerge="1"/>
              </a:tr>
              <a:tr h="199425">
                <a:tc>
                  <a:txBody>
                    <a:bodyPr/>
                    <a:lstStyle/>
                    <a:p>
                      <a:pPr indent="0" lvl="0" marL="0" rtl="0" algn="ctr">
                        <a:lnSpc>
                          <a:spcPct val="115000"/>
                        </a:lnSpc>
                        <a:spcBef>
                          <a:spcPts val="0"/>
                        </a:spcBef>
                        <a:spcAft>
                          <a:spcPts val="0"/>
                        </a:spcAft>
                        <a:buNone/>
                      </a:pPr>
                      <a:r>
                        <a:rPr b="1" lang="en" sz="800"/>
                        <a:t>Segment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EAD1DC"/>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EAD1DC"/>
                    </a:solidFill>
                  </a:tcPr>
                </a:tc>
              </a:tr>
              <a:tr h="322875">
                <a:tc>
                  <a:txBody>
                    <a:bodyPr/>
                    <a:lstStyle/>
                    <a:p>
                      <a:pPr indent="0" lvl="0" marL="0" rtl="0" algn="ctr">
                        <a:lnSpc>
                          <a:spcPct val="115000"/>
                        </a:lnSpc>
                        <a:spcBef>
                          <a:spcPts val="0"/>
                        </a:spcBef>
                        <a:spcAft>
                          <a:spcPts val="0"/>
                        </a:spcAft>
                        <a:buNone/>
                      </a:pPr>
                      <a:r>
                        <a:rPr lang="en" sz="800"/>
                        <a:t>Common Traders</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565,842,801,651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666,463,357,632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17.78%</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95,727,085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92,564,355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-3.30%</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1,151,909</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947,916</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-17.71%</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195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-32.44%</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2,516,954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2,692,382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6.97%</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22875">
                <a:tc>
                  <a:txBody>
                    <a:bodyPr/>
                    <a:lstStyle/>
                    <a:p>
                      <a:pPr indent="0" lvl="0" marL="0" rtl="0" algn="ctr">
                        <a:lnSpc>
                          <a:spcPct val="115000"/>
                        </a:lnSpc>
                        <a:spcBef>
                          <a:spcPts val="0"/>
                        </a:spcBef>
                        <a:spcAft>
                          <a:spcPts val="0"/>
                        </a:spcAft>
                        <a:buNone/>
                      </a:pPr>
                      <a:r>
                        <a:rPr lang="en" sz="800"/>
                        <a:t>Wealthy Individual</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7,335,293,165,964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15,226,419,355,998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107.58%</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14,243,287,701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26,619,614,259</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86.89%</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4,400,940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7,936,775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80.34%</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8,546</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13,875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62.37%</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9,454,241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7,899,714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-16.44%</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22875">
                <a:tc>
                  <a:txBody>
                    <a:bodyPr/>
                    <a:lstStyle/>
                    <a:p>
                      <a:pPr indent="0" lvl="0" marL="0" rtl="0" algn="ctr">
                        <a:lnSpc>
                          <a:spcPct val="115000"/>
                        </a:lnSpc>
                        <a:spcBef>
                          <a:spcPts val="0"/>
                        </a:spcBef>
                        <a:spcAft>
                          <a:spcPts val="0"/>
                        </a:spcAft>
                        <a:buNone/>
                      </a:pPr>
                      <a:r>
                        <a:rPr lang="en" sz="800"/>
                        <a:t>Emerging Individual</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1,254,981,174,252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1,440,258,634,253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14.76%</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686,532,371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752,879,579</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9.66%</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1,278,703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1,057,995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-17.26%</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700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553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-20.94%</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4,954,753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4,906,728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-0.97%</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22875">
                <a:tc>
                  <a:txBody>
                    <a:bodyPr/>
                    <a:lstStyle/>
                    <a:p>
                      <a:pPr indent="0" lvl="0" marL="0" rtl="0" algn="ctr">
                        <a:lnSpc>
                          <a:spcPct val="115000"/>
                        </a:lnSpc>
                        <a:spcBef>
                          <a:spcPts val="0"/>
                        </a:spcBef>
                        <a:spcAft>
                          <a:spcPts val="0"/>
                        </a:spcAft>
                        <a:buNone/>
                      </a:pPr>
                      <a:r>
                        <a:rPr lang="en" sz="800"/>
                        <a:t>Institution</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16,120,778,864,895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31,574,704,805,045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95.86%</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255,885,378,808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584,716,755,649</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128.51%</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3,785,450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6,195,335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63.66%</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60,087</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114,728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90.94%</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14,133,023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13,806,964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-2.31%</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22875">
                <a:tc>
                  <a:txBody>
                    <a:bodyPr/>
                    <a:lstStyle/>
                    <a:p>
                      <a:pPr indent="0" lvl="0" marL="0" rtl="0" algn="ctr">
                        <a:lnSpc>
                          <a:spcPct val="115000"/>
                        </a:lnSpc>
                        <a:spcBef>
                          <a:spcPts val="0"/>
                        </a:spcBef>
                        <a:spcAft>
                          <a:spcPts val="0"/>
                        </a:spcAft>
                        <a:buNone/>
                      </a:pPr>
                      <a:r>
                        <a:rPr lang="en" sz="800"/>
                        <a:t>New to Market &lt; 1Y</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214,142,382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542,793,870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153.47%</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6,118,354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5,538,713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-9.47%</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2,997</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8,008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167.20%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86</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82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-4.57%</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197,825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185,997</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-5.98%</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22875">
                <a:tc>
                  <a:txBody>
                    <a:bodyPr/>
                    <a:lstStyle/>
                    <a:p>
                      <a:pPr indent="0" lvl="0" marL="0" rtl="0" algn="ctr">
                        <a:lnSpc>
                          <a:spcPct val="115000"/>
                        </a:lnSpc>
                        <a:spcBef>
                          <a:spcPts val="0"/>
                        </a:spcBef>
                        <a:spcAft>
                          <a:spcPts val="0"/>
                        </a:spcAft>
                        <a:buNone/>
                      </a:pPr>
                      <a:r>
                        <a:rPr lang="en" sz="800"/>
                        <a:t>New to Market &gt; 1Y</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164,091,851,102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119,810,086,098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-26.99%</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6,744,425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5,019,485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-25.58%</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561,043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433,909</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-22.66%</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-21.17%</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478,061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452,615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EA4335"/>
                          </a:solidFill>
                        </a:rPr>
                        <a:t>-5.32%</a:t>
                      </a:r>
                      <a:endParaRPr b="1" sz="800">
                        <a:solidFill>
                          <a:srgbClr val="EA4335"/>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0" name="Shape 550"/>
        <p:cNvGrpSpPr/>
        <p:nvPr/>
      </p:nvGrpSpPr>
      <p:grpSpPr>
        <a:xfrm>
          <a:off x="0" y="0"/>
          <a:ext cx="0" cy="0"/>
          <a:chOff x="0" y="0"/>
          <a:chExt cx="0" cy="0"/>
        </a:xfrm>
      </p:grpSpPr>
      <p:sp>
        <p:nvSpPr>
          <p:cNvPr id="551" name="Google Shape;551;p38"/>
          <p:cNvSpPr txBox="1"/>
          <p:nvPr>
            <p:ph type="title"/>
          </p:nvPr>
        </p:nvSpPr>
        <p:spPr>
          <a:xfrm>
            <a:off x="135000" y="29900"/>
            <a:ext cx="4437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0084B5"/>
                </a:solidFill>
                <a:latin typeface="Montserrat"/>
                <a:ea typeface="Montserrat"/>
                <a:cs typeface="Montserrat"/>
                <a:sym typeface="Montserrat"/>
              </a:rPr>
              <a:t>DCA</a:t>
            </a:r>
            <a:r>
              <a:rPr b="1" lang="en" sz="1800">
                <a:solidFill>
                  <a:srgbClr val="0084B5"/>
                </a:solidFill>
                <a:latin typeface="Montserrat"/>
                <a:ea typeface="Montserrat"/>
                <a:cs typeface="Montserrat"/>
                <a:sym typeface="Montserrat"/>
              </a:rPr>
              <a:t> </a:t>
            </a:r>
            <a:endParaRPr b="1" sz="1800">
              <a:solidFill>
                <a:srgbClr val="0084B5"/>
              </a:solidFill>
              <a:latin typeface="Montserrat"/>
              <a:ea typeface="Montserrat"/>
              <a:cs typeface="Montserrat"/>
              <a:sym typeface="Montserrat"/>
            </a:endParaRPr>
          </a:p>
        </p:txBody>
      </p:sp>
      <p:graphicFrame>
        <p:nvGraphicFramePr>
          <p:cNvPr id="552" name="Google Shape;552;p38"/>
          <p:cNvGraphicFramePr/>
          <p:nvPr/>
        </p:nvGraphicFramePr>
        <p:xfrm>
          <a:off x="216875" y="589375"/>
          <a:ext cx="3000000" cy="3000000"/>
        </p:xfrm>
        <a:graphic>
          <a:graphicData uri="http://schemas.openxmlformats.org/drawingml/2006/table">
            <a:tbl>
              <a:tblPr>
                <a:noFill/>
                <a:tableStyleId>{0287243F-39C1-4460-8421-3307866EDBE6}</a:tableStyleId>
              </a:tblPr>
              <a:tblGrid>
                <a:gridCol w="553375"/>
                <a:gridCol w="492850"/>
                <a:gridCol w="492850"/>
                <a:gridCol w="492850"/>
                <a:gridCol w="570650"/>
                <a:gridCol w="605250"/>
                <a:gridCol w="674400"/>
                <a:gridCol w="492850"/>
                <a:gridCol w="492850"/>
                <a:gridCol w="492850"/>
                <a:gridCol w="492850"/>
                <a:gridCol w="492850"/>
                <a:gridCol w="492850"/>
                <a:gridCol w="492850"/>
                <a:gridCol w="492850"/>
                <a:gridCol w="492850"/>
              </a:tblGrid>
              <a:tr h="211650">
                <a:tc>
                  <a:txBody>
                    <a:bodyPr/>
                    <a:lstStyle/>
                    <a:p>
                      <a:pPr indent="0" lvl="0" marL="0" rtl="0" algn="l">
                        <a:spcBef>
                          <a:spcPts val="0"/>
                        </a:spcBef>
                        <a:spcAft>
                          <a:spcPts val="0"/>
                        </a:spcAft>
                        <a:buNone/>
                      </a:pPr>
                      <a:r>
                        <a:t/>
                      </a:r>
                      <a:endParaRPr sz="12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gridSpan="3">
                  <a:txBody>
                    <a:bodyPr/>
                    <a:lstStyle/>
                    <a:p>
                      <a:pPr indent="0" lvl="0" marL="0" rtl="0" algn="ctr">
                        <a:lnSpc>
                          <a:spcPct val="115000"/>
                        </a:lnSpc>
                        <a:spcBef>
                          <a:spcPts val="0"/>
                        </a:spcBef>
                        <a:spcAft>
                          <a:spcPts val="0"/>
                        </a:spcAft>
                        <a:buNone/>
                      </a:pPr>
                      <a:r>
                        <a:rPr b="1" lang="en" sz="800"/>
                        <a:t>Total Users</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hMerge="1"/>
                <a:tc hMerge="1"/>
                <a:tc gridSpan="3">
                  <a:txBody>
                    <a:bodyPr/>
                    <a:lstStyle/>
                    <a:p>
                      <a:pPr indent="0" lvl="0" marL="0" rtl="0" algn="ctr">
                        <a:lnSpc>
                          <a:spcPct val="115000"/>
                        </a:lnSpc>
                        <a:spcBef>
                          <a:spcPts val="0"/>
                        </a:spcBef>
                        <a:spcAft>
                          <a:spcPts val="0"/>
                        </a:spcAft>
                        <a:buNone/>
                      </a:pPr>
                      <a:r>
                        <a:rPr b="1" lang="en" sz="800"/>
                        <a:t>Total DCA Freq</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A4C2F4"/>
                    </a:solidFill>
                  </a:tcPr>
                </a:tc>
                <a:tc hMerge="1"/>
                <a:tc hMerge="1"/>
                <a:tc gridSpan="3">
                  <a:txBody>
                    <a:bodyPr/>
                    <a:lstStyle/>
                    <a:p>
                      <a:pPr indent="0" lvl="0" marL="0" rtl="0" algn="ctr">
                        <a:lnSpc>
                          <a:spcPct val="115000"/>
                        </a:lnSpc>
                        <a:spcBef>
                          <a:spcPts val="0"/>
                        </a:spcBef>
                        <a:spcAft>
                          <a:spcPts val="0"/>
                        </a:spcAft>
                        <a:buNone/>
                      </a:pPr>
                      <a:r>
                        <a:rPr b="1" lang="en" sz="800"/>
                        <a:t>Total DCA Amount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6D7A8"/>
                    </a:solidFill>
                  </a:tcPr>
                </a:tc>
                <a:tc hMerge="1"/>
                <a:tc hMerge="1"/>
                <a:tc gridSpan="3">
                  <a:txBody>
                    <a:bodyPr/>
                    <a:lstStyle/>
                    <a:p>
                      <a:pPr indent="0" lvl="0" marL="0" rtl="0" algn="ctr">
                        <a:lnSpc>
                          <a:spcPct val="115000"/>
                        </a:lnSpc>
                        <a:spcBef>
                          <a:spcPts val="0"/>
                        </a:spcBef>
                        <a:spcAft>
                          <a:spcPts val="0"/>
                        </a:spcAft>
                        <a:buNone/>
                      </a:pPr>
                      <a:r>
                        <a:rPr b="1" lang="en" sz="800"/>
                        <a:t>Average DCA Frequency</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BBC04"/>
                    </a:solidFill>
                  </a:tcPr>
                </a:tc>
                <a:tc hMerge="1"/>
                <a:tc hMerge="1"/>
                <a:tc gridSpan="3">
                  <a:txBody>
                    <a:bodyPr/>
                    <a:lstStyle/>
                    <a:p>
                      <a:pPr indent="0" lvl="0" marL="0" rtl="0" algn="ctr">
                        <a:lnSpc>
                          <a:spcPct val="115000"/>
                        </a:lnSpc>
                        <a:spcBef>
                          <a:spcPts val="0"/>
                        </a:spcBef>
                        <a:spcAft>
                          <a:spcPts val="0"/>
                        </a:spcAft>
                        <a:buNone/>
                      </a:pPr>
                      <a:r>
                        <a:rPr b="1" lang="en" sz="800"/>
                        <a:t>Average DCA Amount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4A7D6"/>
                    </a:solidFill>
                  </a:tcPr>
                </a:tc>
                <a:tc hMerge="1"/>
                <a:tc hMerge="1"/>
              </a:tr>
              <a:tr h="191575">
                <a:tc>
                  <a:txBody>
                    <a:bodyPr/>
                    <a:lstStyle/>
                    <a:p>
                      <a:pPr indent="0" lvl="0" marL="0" rtl="0" algn="ctr">
                        <a:lnSpc>
                          <a:spcPct val="115000"/>
                        </a:lnSpc>
                        <a:spcBef>
                          <a:spcPts val="0"/>
                        </a:spcBef>
                        <a:spcAft>
                          <a:spcPts val="0"/>
                        </a:spcAft>
                        <a:buNone/>
                      </a:pPr>
                      <a:r>
                        <a:rPr b="1" lang="en" sz="800"/>
                        <a:t>Segment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FBBC04"/>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t>%</a:t>
                      </a:r>
                      <a:endParaRPr b="1"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solidFill>
                      <a:srgbClr val="B4A7D6"/>
                    </a:solidFill>
                  </a:tcPr>
                </a:tc>
              </a:tr>
              <a:tr h="310175">
                <a:tc>
                  <a:txBody>
                    <a:bodyPr/>
                    <a:lstStyle/>
                    <a:p>
                      <a:pPr indent="0" lvl="0" marL="0" rtl="0" algn="ctr">
                        <a:lnSpc>
                          <a:spcPct val="115000"/>
                        </a:lnSpc>
                        <a:spcBef>
                          <a:spcPts val="0"/>
                        </a:spcBef>
                        <a:spcAft>
                          <a:spcPts val="0"/>
                        </a:spcAft>
                        <a:buNone/>
                      </a:pPr>
                      <a:r>
                        <a:rPr lang="en" sz="800"/>
                        <a:t>Common Traders</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365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1,021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179.73%</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1,007</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2,078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106.36%</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1,201,304,975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927,884,813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-22.76%</a:t>
                      </a:r>
                      <a:endParaRPr b="1" sz="800">
                        <a:solidFill>
                          <a:srgbClr val="FF0000"/>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-33.33%</a:t>
                      </a:r>
                      <a:endParaRPr b="1" sz="800">
                        <a:solidFill>
                          <a:srgbClr val="FF0000"/>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3,291,247</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908,800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-72.39%</a:t>
                      </a:r>
                      <a:endParaRPr b="1" sz="800">
                        <a:solidFill>
                          <a:srgbClr val="FF0000"/>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10175">
                <a:tc>
                  <a:txBody>
                    <a:bodyPr/>
                    <a:lstStyle/>
                    <a:p>
                      <a:pPr indent="0" lvl="0" marL="0" rtl="0" algn="ctr">
                        <a:lnSpc>
                          <a:spcPct val="115000"/>
                        </a:lnSpc>
                        <a:spcBef>
                          <a:spcPts val="0"/>
                        </a:spcBef>
                        <a:spcAft>
                          <a:spcPts val="0"/>
                        </a:spcAft>
                        <a:buNone/>
                      </a:pPr>
                      <a:r>
                        <a:rPr lang="en" sz="800"/>
                        <a:t>Wealthy Individual</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372.73%</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179</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752.38%</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43,250,000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259,631,573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500.30%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50.00%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3,931,818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4,992,915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26.99%</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310175">
                <a:tc>
                  <a:txBody>
                    <a:bodyPr/>
                    <a:lstStyle/>
                    <a:p>
                      <a:pPr indent="0" lvl="0" marL="0" rtl="0" algn="ctr">
                        <a:lnSpc>
                          <a:spcPct val="115000"/>
                        </a:lnSpc>
                        <a:spcBef>
                          <a:spcPts val="0"/>
                        </a:spcBef>
                        <a:spcAft>
                          <a:spcPts val="0"/>
                        </a:spcAft>
                        <a:buNone/>
                      </a:pPr>
                      <a:r>
                        <a:rPr lang="en" sz="800"/>
                        <a:t>Emerging Individual</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80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235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193.75%</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153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794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418.95%</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225,590,892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1,465,181,498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549.49%</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50.00%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2,819,886</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6,234,815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121.10%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191575">
                <a:tc>
                  <a:txBody>
                    <a:bodyPr/>
                    <a:lstStyle/>
                    <a:p>
                      <a:pPr indent="0" lvl="0" marL="0" rtl="0" algn="ctr">
                        <a:lnSpc>
                          <a:spcPct val="115000"/>
                        </a:lnSpc>
                        <a:spcBef>
                          <a:spcPts val="0"/>
                        </a:spcBef>
                        <a:spcAft>
                          <a:spcPts val="0"/>
                        </a:spcAft>
                        <a:buNone/>
                      </a:pPr>
                      <a:r>
                        <a:rPr lang="en" sz="800"/>
                        <a:t>Institution</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47025">
                <a:tc>
                  <a:txBody>
                    <a:bodyPr/>
                    <a:lstStyle/>
                    <a:p>
                      <a:pPr indent="0" lvl="0" marL="0" rtl="0" algn="ctr">
                        <a:lnSpc>
                          <a:spcPct val="115000"/>
                        </a:lnSpc>
                        <a:spcBef>
                          <a:spcPts val="0"/>
                        </a:spcBef>
                        <a:spcAft>
                          <a:spcPts val="0"/>
                        </a:spcAft>
                        <a:buNone/>
                      </a:pPr>
                      <a:r>
                        <a:rPr lang="en" sz="800"/>
                        <a:t>New to Market &lt; 1Y</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863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1,381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60.02%</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1,743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2,503</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43.60%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524,171,965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601,135,565</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14.68%</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607,384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435,290</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-28.33%</a:t>
                      </a:r>
                      <a:endParaRPr b="1" sz="800">
                        <a:solidFill>
                          <a:srgbClr val="FF0000"/>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r h="447025">
                <a:tc>
                  <a:txBody>
                    <a:bodyPr/>
                    <a:lstStyle/>
                    <a:p>
                      <a:pPr indent="0" lvl="0" marL="0" rtl="0" algn="ctr">
                        <a:lnSpc>
                          <a:spcPct val="115000"/>
                        </a:lnSpc>
                        <a:spcBef>
                          <a:spcPts val="0"/>
                        </a:spcBef>
                        <a:spcAft>
                          <a:spcPts val="0"/>
                        </a:spcAft>
                        <a:buNone/>
                      </a:pPr>
                      <a:r>
                        <a:rPr lang="en" sz="800"/>
                        <a:t>New to Market &gt; 1Y</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2,387</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2,902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21.58%</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4,508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5,428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20.41%</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1,815,642,321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1,501,129,751</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-17.32%</a:t>
                      </a:r>
                      <a:endParaRPr b="1" sz="800">
                        <a:solidFill>
                          <a:srgbClr val="FF0000"/>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4A853"/>
                          </a:solidFill>
                        </a:rPr>
                        <a:t>0.00%</a:t>
                      </a:r>
                      <a:endParaRPr b="1" sz="800">
                        <a:solidFill>
                          <a:srgbClr val="34A853"/>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760,638</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517,274</a:t>
                      </a:r>
                      <a:endParaRPr sz="800"/>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-31.99%</a:t>
                      </a:r>
                      <a:endParaRPr b="1" sz="800">
                        <a:solidFill>
                          <a:srgbClr val="FF0000"/>
                        </a:solidFill>
                      </a:endParaRPr>
                    </a:p>
                  </a:txBody>
                  <a:tcPr marT="19050" marB="19050" marR="28575" marL="28575" anchor="b">
                    <a:lnL cap="flat" cmpd="sng" w="5950">
                      <a:solidFill>
                        <a:srgbClr val="000000"/>
                      </a:solidFill>
                      <a:prstDash val="solid"/>
                      <a:round/>
                      <a:headEnd len="sm" w="sm" type="none"/>
                      <a:tailEnd len="sm" w="sm" type="none"/>
                    </a:lnL>
                    <a:lnR cap="flat" cmpd="sng" w="5950">
                      <a:solidFill>
                        <a:srgbClr val="000000"/>
                      </a:solidFill>
                      <a:prstDash val="solid"/>
                      <a:round/>
                      <a:headEnd len="sm" w="sm" type="none"/>
                      <a:tailEnd len="sm" w="sm" type="none"/>
                    </a:lnR>
                    <a:lnT cap="flat" cmpd="sng" w="5950">
                      <a:solidFill>
                        <a:srgbClr val="000000"/>
                      </a:solidFill>
                      <a:prstDash val="solid"/>
                      <a:round/>
                      <a:headEnd len="sm" w="sm" type="none"/>
                      <a:tailEnd len="sm" w="sm" type="none"/>
                    </a:lnT>
                    <a:lnB cap="flat" cmpd="sng" w="5950">
                      <a:solidFill>
                        <a:srgbClr val="000000"/>
                      </a:solidFill>
                      <a:prstDash val="solid"/>
                      <a:round/>
                      <a:headEnd len="sm" w="sm" type="none"/>
                      <a:tailEnd len="sm" w="sm" type="none"/>
                    </a:lnB>
                  </a:tcPr>
                </a:tc>
              </a:tr>
            </a:tbl>
          </a:graphicData>
        </a:graphic>
      </p:graphicFrame>
      <p:graphicFrame>
        <p:nvGraphicFramePr>
          <p:cNvPr id="553" name="Google Shape;553;p38"/>
          <p:cNvGraphicFramePr/>
          <p:nvPr/>
        </p:nvGraphicFramePr>
        <p:xfrm>
          <a:off x="1263100" y="3242175"/>
          <a:ext cx="3000000" cy="3000000"/>
        </p:xfrm>
        <a:graphic>
          <a:graphicData uri="http://schemas.openxmlformats.org/drawingml/2006/table">
            <a:tbl>
              <a:tblPr>
                <a:noFill/>
                <a:tableStyleId>{0287243F-39C1-4460-8421-3307866EDBE6}</a:tableStyleId>
              </a:tblPr>
              <a:tblGrid>
                <a:gridCol w="1109800"/>
                <a:gridCol w="895000"/>
                <a:gridCol w="895000"/>
                <a:gridCol w="895000"/>
                <a:gridCol w="895000"/>
                <a:gridCol w="895000"/>
                <a:gridCol w="895000"/>
              </a:tblGrid>
              <a:tr h="148950">
                <a:tc>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b="1" lang="en" sz="800"/>
                        <a:t>Total Users</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800"/>
                        <a:t>DCA Freq</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800"/>
                        <a:t>DCA Amount</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r>
              <a:tr h="148950">
                <a:tc>
                  <a:txBody>
                    <a:bodyPr/>
                    <a:lstStyle/>
                    <a:p>
                      <a:pPr indent="0" lvl="0" marL="0" rtl="0" algn="ctr">
                        <a:lnSpc>
                          <a:spcPct val="115000"/>
                        </a:lnSpc>
                        <a:spcBef>
                          <a:spcPts val="0"/>
                        </a:spcBef>
                        <a:spcAft>
                          <a:spcPts val="0"/>
                        </a:spcAft>
                        <a:buNone/>
                      </a:pPr>
                      <a:r>
                        <a:rPr b="1" lang="en" sz="800"/>
                        <a:t>Segment</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2023</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b="1" lang="en" sz="800"/>
                        <a:t>2024</a:t>
                      </a:r>
                      <a:endParaRPr b="1"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148950">
                <a:tc>
                  <a:txBody>
                    <a:bodyPr/>
                    <a:lstStyle/>
                    <a:p>
                      <a:pPr indent="0" lvl="0" marL="0" rtl="0" algn="ctr">
                        <a:lnSpc>
                          <a:spcPct val="115000"/>
                        </a:lnSpc>
                        <a:spcBef>
                          <a:spcPts val="0"/>
                        </a:spcBef>
                        <a:spcAft>
                          <a:spcPts val="0"/>
                        </a:spcAft>
                        <a:buNone/>
                      </a:pPr>
                      <a:r>
                        <a:rPr lang="en" sz="800"/>
                        <a:t>Common Traders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9.85%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18.26%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13.55%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18.92%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31.53%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19.51%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48950">
                <a:tc>
                  <a:txBody>
                    <a:bodyPr/>
                    <a:lstStyle/>
                    <a:p>
                      <a:pPr indent="0" lvl="0" marL="0" rtl="0" algn="ctr">
                        <a:lnSpc>
                          <a:spcPct val="115000"/>
                        </a:lnSpc>
                        <a:spcBef>
                          <a:spcPts val="0"/>
                        </a:spcBef>
                        <a:spcAft>
                          <a:spcPts val="0"/>
                        </a:spcAft>
                        <a:buNone/>
                      </a:pPr>
                      <a:r>
                        <a:rPr lang="en" sz="800"/>
                        <a:t>Wealthy Individual</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0.30%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0.93%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0.28%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1.63%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1.14%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5.46%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5350">
                <a:tc>
                  <a:txBody>
                    <a:bodyPr/>
                    <a:lstStyle/>
                    <a:p>
                      <a:pPr indent="0" lvl="0" marL="0" rtl="0" algn="ctr">
                        <a:lnSpc>
                          <a:spcPct val="115000"/>
                        </a:lnSpc>
                        <a:spcBef>
                          <a:spcPts val="0"/>
                        </a:spcBef>
                        <a:spcAft>
                          <a:spcPts val="0"/>
                        </a:spcAft>
                        <a:buNone/>
                      </a:pPr>
                      <a:r>
                        <a:rPr lang="en" sz="800"/>
                        <a:t>Emerging Individual</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2.16%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4.20%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2.06%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5.92%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30.81%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48950">
                <a:tc>
                  <a:txBody>
                    <a:bodyPr/>
                    <a:lstStyle/>
                    <a:p>
                      <a:pPr indent="0" lvl="0" marL="0" rtl="0" algn="ctr">
                        <a:lnSpc>
                          <a:spcPct val="115000"/>
                        </a:lnSpc>
                        <a:spcBef>
                          <a:spcPts val="0"/>
                        </a:spcBef>
                        <a:spcAft>
                          <a:spcPts val="0"/>
                        </a:spcAft>
                        <a:buNone/>
                      </a:pPr>
                      <a:r>
                        <a:rPr lang="en" sz="800"/>
                        <a:t>Institution</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5350">
                <a:tc>
                  <a:txBody>
                    <a:bodyPr/>
                    <a:lstStyle/>
                    <a:p>
                      <a:pPr indent="0" lvl="0" marL="0" rtl="0" algn="ctr">
                        <a:lnSpc>
                          <a:spcPct val="115000"/>
                        </a:lnSpc>
                        <a:spcBef>
                          <a:spcPts val="0"/>
                        </a:spcBef>
                        <a:spcAft>
                          <a:spcPts val="0"/>
                        </a:spcAft>
                        <a:buNone/>
                      </a:pPr>
                      <a:r>
                        <a:rPr lang="en" sz="800"/>
                        <a:t>New to Market &lt; 1Y</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23.29%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24.70%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23.45%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22.79%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13.76%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12.64%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5350">
                <a:tc>
                  <a:txBody>
                    <a:bodyPr/>
                    <a:lstStyle/>
                    <a:p>
                      <a:pPr indent="0" lvl="0" marL="0" rtl="0" algn="ctr">
                        <a:lnSpc>
                          <a:spcPct val="115000"/>
                        </a:lnSpc>
                        <a:spcBef>
                          <a:spcPts val="0"/>
                        </a:spcBef>
                        <a:spcAft>
                          <a:spcPts val="0"/>
                        </a:spcAft>
                        <a:buNone/>
                      </a:pPr>
                      <a:r>
                        <a:rPr lang="en" sz="800"/>
                        <a:t>New to Market &gt; 1Y</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64.41%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51.90%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60.66%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49.43%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47.66%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31.57%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7" name="Shape 557"/>
        <p:cNvGrpSpPr/>
        <p:nvPr/>
      </p:nvGrpSpPr>
      <p:grpSpPr>
        <a:xfrm>
          <a:off x="0" y="0"/>
          <a:ext cx="0" cy="0"/>
          <a:chOff x="0" y="0"/>
          <a:chExt cx="0" cy="0"/>
        </a:xfrm>
      </p:grpSpPr>
      <p:sp>
        <p:nvSpPr>
          <p:cNvPr id="558" name="Google Shape;558;p39"/>
          <p:cNvSpPr txBox="1"/>
          <p:nvPr>
            <p:ph type="title"/>
          </p:nvPr>
        </p:nvSpPr>
        <p:spPr>
          <a:xfrm>
            <a:off x="157050" y="-53325"/>
            <a:ext cx="5681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Foreign Location (Outside of Indonesia)</a:t>
            </a:r>
            <a:endParaRPr b="1" sz="1200">
              <a:solidFill>
                <a:srgbClr val="0084B5"/>
              </a:solidFill>
              <a:latin typeface="Montserrat"/>
              <a:ea typeface="Montserrat"/>
              <a:cs typeface="Montserrat"/>
              <a:sym typeface="Montserrat"/>
            </a:endParaRPr>
          </a:p>
        </p:txBody>
      </p:sp>
      <p:graphicFrame>
        <p:nvGraphicFramePr>
          <p:cNvPr id="559" name="Google Shape;559;p39"/>
          <p:cNvGraphicFramePr/>
          <p:nvPr/>
        </p:nvGraphicFramePr>
        <p:xfrm>
          <a:off x="795275" y="540000"/>
          <a:ext cx="3000000" cy="3000000"/>
        </p:xfrm>
        <a:graphic>
          <a:graphicData uri="http://schemas.openxmlformats.org/drawingml/2006/table">
            <a:tbl>
              <a:tblPr>
                <a:noFill/>
                <a:tableStyleId>{0287243F-39C1-4460-8421-3307866EDBE6}</a:tableStyleId>
              </a:tblPr>
              <a:tblGrid>
                <a:gridCol w="991400"/>
                <a:gridCol w="912725"/>
                <a:gridCol w="826150"/>
                <a:gridCol w="771075"/>
                <a:gridCol w="771075"/>
                <a:gridCol w="771075"/>
                <a:gridCol w="967775"/>
                <a:gridCol w="771075"/>
                <a:gridCol w="771075"/>
              </a:tblGrid>
              <a:tr h="171025">
                <a:tc>
                  <a:txBody>
                    <a:bodyPr/>
                    <a:lstStyle/>
                    <a:p>
                      <a:pPr indent="0" lvl="0" marL="0" rtl="0" algn="l">
                        <a:lnSpc>
                          <a:spcPct val="115000"/>
                        </a:lnSpc>
                        <a:spcBef>
                          <a:spcPts val="0"/>
                        </a:spcBef>
                        <a:spcAft>
                          <a:spcPts val="0"/>
                        </a:spcAft>
                        <a:buNone/>
                      </a:pPr>
                      <a:r>
                        <a:rPr lang="en" sz="800"/>
                        <a:t>Region</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293200">
                <a:tc>
                  <a:txBody>
                    <a:bodyPr/>
                    <a:lstStyle/>
                    <a:p>
                      <a:pPr indent="0" lvl="0" marL="0" rtl="0" algn="l">
                        <a:lnSpc>
                          <a:spcPct val="115000"/>
                        </a:lnSpc>
                        <a:spcBef>
                          <a:spcPts val="0"/>
                        </a:spcBef>
                        <a:spcAft>
                          <a:spcPts val="0"/>
                        </a:spcAft>
                        <a:buNone/>
                      </a:pPr>
                      <a:r>
                        <a:rPr lang="en" sz="800"/>
                        <a:t>Outside of 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77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66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4,810,872,993,215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14,760,347,649,041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12.59%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23.23%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0450">
                <a:tc>
                  <a:txBody>
                    <a:bodyPr/>
                    <a:lstStyle/>
                    <a:p>
                      <a:pPr indent="0" lvl="0" marL="0" rtl="0" algn="l">
                        <a:lnSpc>
                          <a:spcPct val="115000"/>
                        </a:lnSpc>
                        <a:spcBef>
                          <a:spcPts val="0"/>
                        </a:spcBef>
                        <a:spcAft>
                          <a:spcPts val="0"/>
                        </a:spcAft>
                        <a:buNone/>
                      </a:pPr>
                      <a:r>
                        <a:rPr lang="en" sz="800"/>
                        <a:t>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442,323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542,279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33,386,001,991,118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48,793,195,337,608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87.41%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76.77%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0450">
                <a:tc>
                  <a:txBody>
                    <a:bodyPr/>
                    <a:lstStyle/>
                    <a:p>
                      <a:pPr indent="0" lvl="0" marL="0" rtl="0" algn="l">
                        <a:lnSpc>
                          <a:spcPct val="115000"/>
                        </a:lnSpc>
                        <a:spcBef>
                          <a:spcPts val="0"/>
                        </a:spcBef>
                        <a:spcAft>
                          <a:spcPts val="0"/>
                        </a:spcAft>
                        <a:buNone/>
                      </a:pPr>
                      <a:r>
                        <a:rPr lang="en" sz="800"/>
                        <a:t>Total</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442,400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542,345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38,196,874,984,333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63,553,542,986,649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560" name="Google Shape;560;p39"/>
          <p:cNvSpPr txBox="1"/>
          <p:nvPr>
            <p:ph type="title"/>
          </p:nvPr>
        </p:nvSpPr>
        <p:spPr>
          <a:xfrm>
            <a:off x="795288" y="197100"/>
            <a:ext cx="813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Montserrat"/>
                <a:ea typeface="Montserrat"/>
                <a:cs typeface="Montserrat"/>
                <a:sym typeface="Montserrat"/>
              </a:rPr>
              <a:t>Overall</a:t>
            </a:r>
            <a:endParaRPr b="1" sz="1000">
              <a:latin typeface="Montserrat"/>
              <a:ea typeface="Montserrat"/>
              <a:cs typeface="Montserrat"/>
              <a:sym typeface="Montserrat"/>
            </a:endParaRPr>
          </a:p>
        </p:txBody>
      </p:sp>
      <p:graphicFrame>
        <p:nvGraphicFramePr>
          <p:cNvPr id="561" name="Google Shape;561;p39"/>
          <p:cNvGraphicFramePr/>
          <p:nvPr/>
        </p:nvGraphicFramePr>
        <p:xfrm>
          <a:off x="795275" y="2092425"/>
          <a:ext cx="3000000" cy="3000000"/>
        </p:xfrm>
        <a:graphic>
          <a:graphicData uri="http://schemas.openxmlformats.org/drawingml/2006/table">
            <a:tbl>
              <a:tblPr>
                <a:noFill/>
                <a:tableStyleId>{0287243F-39C1-4460-8421-3307866EDBE6}</a:tableStyleId>
              </a:tblPr>
              <a:tblGrid>
                <a:gridCol w="991400"/>
                <a:gridCol w="912725"/>
                <a:gridCol w="826150"/>
                <a:gridCol w="771075"/>
                <a:gridCol w="771075"/>
                <a:gridCol w="771075"/>
                <a:gridCol w="967775"/>
                <a:gridCol w="771075"/>
                <a:gridCol w="771075"/>
              </a:tblGrid>
              <a:tr h="236750">
                <a:tc>
                  <a:txBody>
                    <a:bodyPr/>
                    <a:lstStyle/>
                    <a:p>
                      <a:pPr indent="0" lvl="0" marL="0" rtl="0" algn="l">
                        <a:lnSpc>
                          <a:spcPct val="115000"/>
                        </a:lnSpc>
                        <a:spcBef>
                          <a:spcPts val="0"/>
                        </a:spcBef>
                        <a:spcAft>
                          <a:spcPts val="0"/>
                        </a:spcAft>
                        <a:buNone/>
                      </a:pPr>
                      <a:r>
                        <a:rPr lang="en" sz="700"/>
                        <a:t>Region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2023 Total Users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2024 Total Users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2023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2024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405875">
                <a:tc>
                  <a:txBody>
                    <a:bodyPr/>
                    <a:lstStyle/>
                    <a:p>
                      <a:pPr indent="0" lvl="0" marL="0" rtl="0" algn="l">
                        <a:lnSpc>
                          <a:spcPct val="115000"/>
                        </a:lnSpc>
                        <a:spcBef>
                          <a:spcPts val="0"/>
                        </a:spcBef>
                        <a:spcAft>
                          <a:spcPts val="0"/>
                        </a:spcAft>
                        <a:buNone/>
                      </a:pPr>
                      <a:r>
                        <a:rPr lang="en" sz="700"/>
                        <a:t>Outside of Indonesia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8.43%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9.09%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4,568,841,162,626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14,518,315,818,452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44.80%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2350">
                <a:tc>
                  <a:txBody>
                    <a:bodyPr/>
                    <a:lstStyle/>
                    <a:p>
                      <a:pPr indent="0" lvl="0" marL="0" rtl="0" algn="l">
                        <a:lnSpc>
                          <a:spcPct val="115000"/>
                        </a:lnSpc>
                        <a:spcBef>
                          <a:spcPts val="0"/>
                        </a:spcBef>
                        <a:spcAft>
                          <a:spcPts val="0"/>
                        </a:spcAft>
                        <a:buNone/>
                      </a:pPr>
                      <a:r>
                        <a:rPr lang="en" sz="700"/>
                        <a:t>Indonesia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91.57%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90.91%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13,314,495,926,252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17,886,958,994,103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74.45%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55.20%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2350">
                <a:tc>
                  <a:txBody>
                    <a:bodyPr/>
                    <a:lstStyle/>
                    <a:p>
                      <a:pPr indent="0" lvl="0" marL="0" rtl="0" algn="l">
                        <a:lnSpc>
                          <a:spcPct val="115000"/>
                        </a:lnSpc>
                        <a:spcBef>
                          <a:spcPts val="0"/>
                        </a:spcBef>
                        <a:spcAft>
                          <a:spcPts val="0"/>
                        </a:spcAft>
                        <a:buNone/>
                      </a:pPr>
                      <a:r>
                        <a:rPr lang="en" sz="700"/>
                        <a:t>Total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187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rtl="0" algn="r">
                        <a:lnSpc>
                          <a:spcPct val="115000"/>
                        </a:lnSpc>
                        <a:spcBef>
                          <a:spcPts val="0"/>
                        </a:spcBef>
                        <a:spcAft>
                          <a:spcPts val="0"/>
                        </a:spcAft>
                        <a:buNone/>
                      </a:pPr>
                      <a:r>
                        <a:rPr lang="en" sz="700"/>
                        <a:t>17,883,337,088,878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32,405,274,812,555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562" name="Google Shape;562;p39"/>
          <p:cNvSpPr txBox="1"/>
          <p:nvPr>
            <p:ph type="title"/>
          </p:nvPr>
        </p:nvSpPr>
        <p:spPr>
          <a:xfrm>
            <a:off x="795291" y="1692525"/>
            <a:ext cx="9915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Montserrat"/>
                <a:ea typeface="Montserrat"/>
                <a:cs typeface="Montserrat"/>
                <a:sym typeface="Montserrat"/>
              </a:rPr>
              <a:t>Institution</a:t>
            </a:r>
            <a:endParaRPr b="1" sz="1000">
              <a:latin typeface="Montserrat"/>
              <a:ea typeface="Montserrat"/>
              <a:cs typeface="Montserrat"/>
              <a:sym typeface="Montserrat"/>
            </a:endParaRPr>
          </a:p>
        </p:txBody>
      </p:sp>
      <p:graphicFrame>
        <p:nvGraphicFramePr>
          <p:cNvPr id="563" name="Google Shape;563;p39"/>
          <p:cNvGraphicFramePr/>
          <p:nvPr/>
        </p:nvGraphicFramePr>
        <p:xfrm>
          <a:off x="795288" y="3666475"/>
          <a:ext cx="3000000" cy="3000000"/>
        </p:xfrm>
        <a:graphic>
          <a:graphicData uri="http://schemas.openxmlformats.org/drawingml/2006/table">
            <a:tbl>
              <a:tblPr>
                <a:noFill/>
                <a:tableStyleId>{0287243F-39C1-4460-8421-3307866EDBE6}</a:tableStyleId>
              </a:tblPr>
              <a:tblGrid>
                <a:gridCol w="991375"/>
                <a:gridCol w="912700"/>
                <a:gridCol w="826150"/>
                <a:gridCol w="771075"/>
                <a:gridCol w="771075"/>
                <a:gridCol w="771075"/>
                <a:gridCol w="967775"/>
                <a:gridCol w="771075"/>
                <a:gridCol w="771075"/>
              </a:tblGrid>
              <a:tr h="198075">
                <a:tc>
                  <a:txBody>
                    <a:bodyPr/>
                    <a:lstStyle/>
                    <a:p>
                      <a:pPr indent="0" lvl="0" marL="0" rtl="0" algn="l">
                        <a:lnSpc>
                          <a:spcPct val="115000"/>
                        </a:lnSpc>
                        <a:spcBef>
                          <a:spcPts val="0"/>
                        </a:spcBef>
                        <a:spcAft>
                          <a:spcPts val="0"/>
                        </a:spcAft>
                        <a:buNone/>
                      </a:pPr>
                      <a:r>
                        <a:rPr lang="en" sz="700"/>
                        <a:t>Region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2023 Total Users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2024 Total Users</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2023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2024 Volume</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700"/>
                        <a:t>Share % 2024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339550">
                <a:tc>
                  <a:txBody>
                    <a:bodyPr/>
                    <a:lstStyle/>
                    <a:p>
                      <a:pPr indent="0" lvl="0" marL="0" rtl="0" algn="l">
                        <a:lnSpc>
                          <a:spcPct val="115000"/>
                        </a:lnSpc>
                        <a:spcBef>
                          <a:spcPts val="0"/>
                        </a:spcBef>
                        <a:spcAft>
                          <a:spcPts val="0"/>
                        </a:spcAft>
                        <a:buNone/>
                      </a:pPr>
                      <a:r>
                        <a:rPr lang="en" sz="700"/>
                        <a:t>Outside of Indonesia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0.51%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0.19%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229,697,348,347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58,107,068,247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0.28%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8075">
                <a:tc>
                  <a:txBody>
                    <a:bodyPr/>
                    <a:lstStyle/>
                    <a:p>
                      <a:pPr indent="0" lvl="0" marL="0" rtl="0" algn="l">
                        <a:lnSpc>
                          <a:spcPct val="115000"/>
                        </a:lnSpc>
                        <a:spcBef>
                          <a:spcPts val="0"/>
                        </a:spcBef>
                        <a:spcAft>
                          <a:spcPts val="0"/>
                        </a:spcAft>
                        <a:buNone/>
                      </a:pPr>
                      <a:r>
                        <a:rPr lang="en" sz="700"/>
                        <a:t>Indonesia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1,748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2,592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99.49%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99.81%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13,404,372,744,230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20,952,264,720,500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98.32%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99.72%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8075">
                <a:tc>
                  <a:txBody>
                    <a:bodyPr/>
                    <a:lstStyle/>
                    <a:p>
                      <a:pPr indent="0" lvl="0" marL="0" rtl="0" algn="l">
                        <a:lnSpc>
                          <a:spcPct val="115000"/>
                        </a:lnSpc>
                        <a:spcBef>
                          <a:spcPts val="0"/>
                        </a:spcBef>
                        <a:spcAft>
                          <a:spcPts val="0"/>
                        </a:spcAft>
                        <a:buNone/>
                      </a:pPr>
                      <a:r>
                        <a:rPr lang="en" sz="700"/>
                        <a:t>Total</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2,597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rtl="0" algn="r">
                        <a:lnSpc>
                          <a:spcPct val="115000"/>
                        </a:lnSpc>
                        <a:spcBef>
                          <a:spcPts val="0"/>
                        </a:spcBef>
                        <a:spcAft>
                          <a:spcPts val="0"/>
                        </a:spcAft>
                        <a:buNone/>
                      </a:pPr>
                      <a:r>
                        <a:rPr lang="en" sz="700"/>
                        <a:t>13,634,070,092,577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21,010,371,788,747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564" name="Google Shape;564;p39"/>
          <p:cNvSpPr txBox="1"/>
          <p:nvPr>
            <p:ph type="title"/>
          </p:nvPr>
        </p:nvSpPr>
        <p:spPr>
          <a:xfrm>
            <a:off x="795288" y="3319750"/>
            <a:ext cx="15720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Montserrat"/>
                <a:ea typeface="Montserrat"/>
                <a:cs typeface="Montserrat"/>
                <a:sym typeface="Montserrat"/>
              </a:rPr>
              <a:t>Wealthy Individual</a:t>
            </a:r>
            <a:endParaRPr b="1" sz="1000">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8" name="Shape 568"/>
        <p:cNvGrpSpPr/>
        <p:nvPr/>
      </p:nvGrpSpPr>
      <p:grpSpPr>
        <a:xfrm>
          <a:off x="0" y="0"/>
          <a:ext cx="0" cy="0"/>
          <a:chOff x="0" y="0"/>
          <a:chExt cx="0" cy="0"/>
        </a:xfrm>
      </p:grpSpPr>
      <p:sp>
        <p:nvSpPr>
          <p:cNvPr id="569" name="Google Shape;569;p40"/>
          <p:cNvSpPr txBox="1"/>
          <p:nvPr>
            <p:ph type="title"/>
          </p:nvPr>
        </p:nvSpPr>
        <p:spPr>
          <a:xfrm>
            <a:off x="157050" y="-53325"/>
            <a:ext cx="5681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Foreign Location (Outside of Indonesia)</a:t>
            </a:r>
            <a:endParaRPr b="1" sz="1200">
              <a:solidFill>
                <a:srgbClr val="0084B5"/>
              </a:solidFill>
              <a:latin typeface="Montserrat"/>
              <a:ea typeface="Montserrat"/>
              <a:cs typeface="Montserrat"/>
              <a:sym typeface="Montserrat"/>
            </a:endParaRPr>
          </a:p>
        </p:txBody>
      </p:sp>
      <p:sp>
        <p:nvSpPr>
          <p:cNvPr id="570" name="Google Shape;570;p40"/>
          <p:cNvSpPr txBox="1"/>
          <p:nvPr>
            <p:ph type="title"/>
          </p:nvPr>
        </p:nvSpPr>
        <p:spPr>
          <a:xfrm>
            <a:off x="795304" y="197100"/>
            <a:ext cx="10728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Montserrat"/>
                <a:ea typeface="Montserrat"/>
                <a:cs typeface="Montserrat"/>
                <a:sym typeface="Montserrat"/>
              </a:rPr>
              <a:t>Emerging</a:t>
            </a:r>
            <a:endParaRPr b="1" sz="1000">
              <a:latin typeface="Montserrat"/>
              <a:ea typeface="Montserrat"/>
              <a:cs typeface="Montserrat"/>
              <a:sym typeface="Montserrat"/>
            </a:endParaRPr>
          </a:p>
        </p:txBody>
      </p:sp>
      <p:graphicFrame>
        <p:nvGraphicFramePr>
          <p:cNvPr id="571" name="Google Shape;571;p40"/>
          <p:cNvGraphicFramePr/>
          <p:nvPr/>
        </p:nvGraphicFramePr>
        <p:xfrm>
          <a:off x="901475" y="540000"/>
          <a:ext cx="3000000" cy="3000000"/>
        </p:xfrm>
        <a:graphic>
          <a:graphicData uri="http://schemas.openxmlformats.org/drawingml/2006/table">
            <a:tbl>
              <a:tblPr>
                <a:noFill/>
                <a:tableStyleId>{0287243F-39C1-4460-8421-3307866EDBE6}</a:tableStyleId>
              </a:tblPr>
              <a:tblGrid>
                <a:gridCol w="995050"/>
                <a:gridCol w="916075"/>
                <a:gridCol w="829200"/>
                <a:gridCol w="773900"/>
                <a:gridCol w="773900"/>
                <a:gridCol w="773900"/>
                <a:gridCol w="971325"/>
                <a:gridCol w="773900"/>
                <a:gridCol w="773900"/>
              </a:tblGrid>
              <a:tr h="244800">
                <a:tc>
                  <a:txBody>
                    <a:bodyPr/>
                    <a:lstStyle/>
                    <a:p>
                      <a:pPr indent="0" lvl="0" marL="0" rtl="0" algn="l">
                        <a:lnSpc>
                          <a:spcPct val="115000"/>
                        </a:lnSpc>
                        <a:spcBef>
                          <a:spcPts val="0"/>
                        </a:spcBef>
                        <a:spcAft>
                          <a:spcPts val="0"/>
                        </a:spcAft>
                        <a:buNone/>
                      </a:pPr>
                      <a:r>
                        <a:rPr lang="en" sz="800"/>
                        <a:t>Region</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419625">
                <a:tc>
                  <a:txBody>
                    <a:bodyPr/>
                    <a:lstStyle/>
                    <a:p>
                      <a:pPr indent="0" lvl="0" marL="0" rtl="0" algn="l">
                        <a:lnSpc>
                          <a:spcPct val="115000"/>
                        </a:lnSpc>
                        <a:spcBef>
                          <a:spcPts val="0"/>
                        </a:spcBef>
                        <a:spcAft>
                          <a:spcPts val="0"/>
                        </a:spcAft>
                        <a:buNone/>
                      </a:pPr>
                      <a:r>
                        <a:rPr lang="en" sz="800"/>
                        <a:t>Outside of 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7,843,621,772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12,776,725,472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0.20%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0.20%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5050">
                <a:tc>
                  <a:txBody>
                    <a:bodyPr/>
                    <a:lstStyle/>
                    <a:p>
                      <a:pPr indent="0" lvl="0" marL="0" rtl="0" algn="l">
                        <a:lnSpc>
                          <a:spcPct val="115000"/>
                        </a:lnSpc>
                        <a:spcBef>
                          <a:spcPts val="0"/>
                        </a:spcBef>
                        <a:spcAft>
                          <a:spcPts val="0"/>
                        </a:spcAft>
                        <a:buNone/>
                      </a:pPr>
                      <a:r>
                        <a:rPr lang="en" sz="800"/>
                        <a:t>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20,503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30,345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4,010,539,036,085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6,312,906,677,795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99.80%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99.80%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5050">
                <a:tc>
                  <a:txBody>
                    <a:bodyPr/>
                    <a:lstStyle/>
                    <a:p>
                      <a:pPr indent="0" lvl="0" marL="0" rtl="0" algn="l">
                        <a:lnSpc>
                          <a:spcPct val="115000"/>
                        </a:lnSpc>
                        <a:spcBef>
                          <a:spcPts val="0"/>
                        </a:spcBef>
                        <a:spcAft>
                          <a:spcPts val="0"/>
                        </a:spcAft>
                        <a:buNone/>
                      </a:pPr>
                      <a:r>
                        <a:rPr lang="en" sz="800"/>
                        <a:t>Total</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20,516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30,360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rtl="0" algn="r">
                        <a:lnSpc>
                          <a:spcPct val="115000"/>
                        </a:lnSpc>
                        <a:spcBef>
                          <a:spcPts val="0"/>
                        </a:spcBef>
                        <a:spcAft>
                          <a:spcPts val="0"/>
                        </a:spcAft>
                        <a:buNone/>
                      </a:pPr>
                      <a:r>
                        <a:rPr lang="en" sz="800"/>
                        <a:t>4,018,382,657,857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6,325,683,403,267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572" name="Google Shape;572;p40"/>
          <p:cNvSpPr txBox="1"/>
          <p:nvPr>
            <p:ph type="title"/>
          </p:nvPr>
        </p:nvSpPr>
        <p:spPr>
          <a:xfrm>
            <a:off x="901473" y="1894525"/>
            <a:ext cx="15861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Montserrat"/>
                <a:ea typeface="Montserrat"/>
                <a:cs typeface="Montserrat"/>
                <a:sym typeface="Montserrat"/>
              </a:rPr>
              <a:t>Common Traders</a:t>
            </a:r>
            <a:endParaRPr b="1" sz="1000">
              <a:latin typeface="Montserrat"/>
              <a:ea typeface="Montserrat"/>
              <a:cs typeface="Montserrat"/>
              <a:sym typeface="Montserrat"/>
            </a:endParaRPr>
          </a:p>
        </p:txBody>
      </p:sp>
      <p:graphicFrame>
        <p:nvGraphicFramePr>
          <p:cNvPr id="573" name="Google Shape;573;p40"/>
          <p:cNvGraphicFramePr/>
          <p:nvPr/>
        </p:nvGraphicFramePr>
        <p:xfrm>
          <a:off x="901500" y="2186850"/>
          <a:ext cx="3000000" cy="3000000"/>
        </p:xfrm>
        <a:graphic>
          <a:graphicData uri="http://schemas.openxmlformats.org/drawingml/2006/table">
            <a:tbl>
              <a:tblPr>
                <a:noFill/>
                <a:tableStyleId>{0287243F-39C1-4460-8421-3307866EDBE6}</a:tableStyleId>
              </a:tblPr>
              <a:tblGrid>
                <a:gridCol w="995025"/>
                <a:gridCol w="916050"/>
                <a:gridCol w="829200"/>
                <a:gridCol w="773900"/>
                <a:gridCol w="773900"/>
                <a:gridCol w="773900"/>
                <a:gridCol w="971325"/>
                <a:gridCol w="773900"/>
                <a:gridCol w="773900"/>
              </a:tblGrid>
              <a:tr h="178450">
                <a:tc>
                  <a:txBody>
                    <a:bodyPr/>
                    <a:lstStyle/>
                    <a:p>
                      <a:pPr indent="0" lvl="0" marL="0" rtl="0" algn="l">
                        <a:lnSpc>
                          <a:spcPct val="115000"/>
                        </a:lnSpc>
                        <a:spcBef>
                          <a:spcPts val="0"/>
                        </a:spcBef>
                        <a:spcAft>
                          <a:spcPts val="0"/>
                        </a:spcAft>
                        <a:buNone/>
                      </a:pPr>
                      <a:r>
                        <a:rPr lang="en" sz="800"/>
                        <a:t>Region</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305900">
                <a:tc>
                  <a:txBody>
                    <a:bodyPr/>
                    <a:lstStyle/>
                    <a:p>
                      <a:pPr indent="0" lvl="0" marL="0" rtl="0" algn="l">
                        <a:lnSpc>
                          <a:spcPct val="115000"/>
                        </a:lnSpc>
                        <a:spcBef>
                          <a:spcPts val="0"/>
                        </a:spcBef>
                        <a:spcAft>
                          <a:spcPts val="0"/>
                        </a:spcAft>
                        <a:buNone/>
                      </a:pPr>
                      <a:r>
                        <a:rPr lang="en" sz="800"/>
                        <a:t>Outside of 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2,086,221,952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1,904,240,890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0.11%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450">
                <a:tc>
                  <a:txBody>
                    <a:bodyPr/>
                    <a:lstStyle/>
                    <a:p>
                      <a:pPr indent="0" lvl="0" marL="0" rtl="0" algn="l">
                        <a:lnSpc>
                          <a:spcPct val="115000"/>
                        </a:lnSpc>
                        <a:spcBef>
                          <a:spcPts val="0"/>
                        </a:spcBef>
                        <a:spcAft>
                          <a:spcPts val="0"/>
                        </a:spcAft>
                        <a:buNone/>
                      </a:pPr>
                      <a:r>
                        <a:rPr lang="en" sz="800"/>
                        <a:t>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71,194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128,478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1,856,976,852,343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2,960,726,793,272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99.89%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8450">
                <a:tc>
                  <a:txBody>
                    <a:bodyPr/>
                    <a:lstStyle/>
                    <a:p>
                      <a:pPr indent="0" lvl="0" marL="0" rtl="0" algn="l">
                        <a:lnSpc>
                          <a:spcPct val="115000"/>
                        </a:lnSpc>
                        <a:spcBef>
                          <a:spcPts val="0"/>
                        </a:spcBef>
                        <a:spcAft>
                          <a:spcPts val="0"/>
                        </a:spcAft>
                        <a:buNone/>
                      </a:pPr>
                      <a:r>
                        <a:rPr lang="en" sz="800"/>
                        <a:t>Total</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71,211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128,491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rtl="0" algn="r">
                        <a:lnSpc>
                          <a:spcPct val="115000"/>
                        </a:lnSpc>
                        <a:spcBef>
                          <a:spcPts val="0"/>
                        </a:spcBef>
                        <a:spcAft>
                          <a:spcPts val="0"/>
                        </a:spcAft>
                        <a:buNone/>
                      </a:pPr>
                      <a:r>
                        <a:rPr lang="en" sz="800"/>
                        <a:t>1,859,063,074,295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2,962,631,034,162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
        <p:nvSpPr>
          <p:cNvPr id="574" name="Google Shape;574;p40"/>
          <p:cNvSpPr txBox="1"/>
          <p:nvPr>
            <p:ph type="title"/>
          </p:nvPr>
        </p:nvSpPr>
        <p:spPr>
          <a:xfrm>
            <a:off x="901473" y="3321425"/>
            <a:ext cx="15861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Montserrat"/>
                <a:ea typeface="Montserrat"/>
                <a:cs typeface="Montserrat"/>
                <a:sym typeface="Montserrat"/>
              </a:rPr>
              <a:t>New to Market &gt; 1Y</a:t>
            </a:r>
            <a:endParaRPr b="1" sz="1000">
              <a:latin typeface="Montserrat"/>
              <a:ea typeface="Montserrat"/>
              <a:cs typeface="Montserrat"/>
              <a:sym typeface="Montserrat"/>
            </a:endParaRPr>
          </a:p>
        </p:txBody>
      </p:sp>
      <p:graphicFrame>
        <p:nvGraphicFramePr>
          <p:cNvPr id="575" name="Google Shape;575;p40"/>
          <p:cNvGraphicFramePr/>
          <p:nvPr/>
        </p:nvGraphicFramePr>
        <p:xfrm>
          <a:off x="901500" y="3613750"/>
          <a:ext cx="3000000" cy="3000000"/>
        </p:xfrm>
        <a:graphic>
          <a:graphicData uri="http://schemas.openxmlformats.org/drawingml/2006/table">
            <a:tbl>
              <a:tblPr>
                <a:noFill/>
                <a:tableStyleId>{0287243F-39C1-4460-8421-3307866EDBE6}</a:tableStyleId>
              </a:tblPr>
              <a:tblGrid>
                <a:gridCol w="995025"/>
                <a:gridCol w="916050"/>
                <a:gridCol w="829200"/>
                <a:gridCol w="773900"/>
                <a:gridCol w="773900"/>
                <a:gridCol w="773900"/>
                <a:gridCol w="971325"/>
                <a:gridCol w="773900"/>
                <a:gridCol w="773900"/>
              </a:tblGrid>
              <a:tr h="213750">
                <a:tc>
                  <a:txBody>
                    <a:bodyPr/>
                    <a:lstStyle/>
                    <a:p>
                      <a:pPr indent="0" lvl="0" marL="0" rtl="0" algn="l">
                        <a:lnSpc>
                          <a:spcPct val="115000"/>
                        </a:lnSpc>
                        <a:spcBef>
                          <a:spcPts val="0"/>
                        </a:spcBef>
                        <a:spcAft>
                          <a:spcPts val="0"/>
                        </a:spcAft>
                        <a:buNone/>
                      </a:pPr>
                      <a:r>
                        <a:rPr lang="en" sz="800"/>
                        <a:t>Region</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Total Users</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2023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2024 Volume</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n" sz="800"/>
                        <a:t>Share % 2024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r h="366425">
                <a:tc>
                  <a:txBody>
                    <a:bodyPr/>
                    <a:lstStyle/>
                    <a:p>
                      <a:pPr indent="0" lvl="0" marL="0" rtl="0" algn="l">
                        <a:lnSpc>
                          <a:spcPct val="115000"/>
                        </a:lnSpc>
                        <a:spcBef>
                          <a:spcPts val="0"/>
                        </a:spcBef>
                        <a:spcAft>
                          <a:spcPts val="0"/>
                        </a:spcAft>
                        <a:buNone/>
                      </a:pPr>
                      <a:r>
                        <a:rPr lang="en" sz="800"/>
                        <a:t>Outside of 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0.01%</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0.004%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2,404,638,518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223,934,766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0.30%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0.03%</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3750">
                <a:tc>
                  <a:txBody>
                    <a:bodyPr/>
                    <a:lstStyle/>
                    <a:p>
                      <a:pPr indent="0" lvl="0" marL="0" rtl="0" algn="l">
                        <a:lnSpc>
                          <a:spcPct val="115000"/>
                        </a:lnSpc>
                        <a:spcBef>
                          <a:spcPts val="0"/>
                        </a:spcBef>
                        <a:spcAft>
                          <a:spcPts val="0"/>
                        </a:spcAft>
                        <a:buNone/>
                      </a:pPr>
                      <a:r>
                        <a:rPr lang="en" sz="800"/>
                        <a:t>Indonesia</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348,715</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380,694</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99.99%</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100.00%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799,617,432,208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849,358,013,152</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99.70%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99.97%</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3750">
                <a:tc>
                  <a:txBody>
                    <a:bodyPr/>
                    <a:lstStyle/>
                    <a:p>
                      <a:pPr indent="0" lvl="0" marL="0" rtl="0" algn="l">
                        <a:lnSpc>
                          <a:spcPct val="115000"/>
                        </a:lnSpc>
                        <a:spcBef>
                          <a:spcPts val="0"/>
                        </a:spcBef>
                        <a:spcAft>
                          <a:spcPts val="0"/>
                        </a:spcAft>
                        <a:buNone/>
                      </a:pPr>
                      <a:r>
                        <a:rPr lang="en" sz="800"/>
                        <a:t>Total</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348,738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380,710</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a:txBody>
                    <a:bodyPr/>
                    <a:lstStyle/>
                    <a:p>
                      <a:pPr indent="0" lvl="0" marL="0" rtl="0" algn="r">
                        <a:lnSpc>
                          <a:spcPct val="115000"/>
                        </a:lnSpc>
                        <a:spcBef>
                          <a:spcPts val="0"/>
                        </a:spcBef>
                        <a:spcAft>
                          <a:spcPts val="0"/>
                        </a:spcAft>
                        <a:buNone/>
                      </a:pPr>
                      <a:r>
                        <a:rPr lang="en" sz="800"/>
                        <a:t>802,022,070,726</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t>849,581,947,918</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2">
                  <a:txBody>
                    <a:bodyPr/>
                    <a:lstStyle/>
                    <a:p>
                      <a:pPr indent="0" lvl="0" marL="0" rtl="0" algn="l">
                        <a:spcBef>
                          <a:spcPts val="0"/>
                        </a:spcBef>
                        <a:spcAft>
                          <a:spcPts val="0"/>
                        </a:spcAft>
                        <a:buNone/>
                      </a:pPr>
                      <a:r>
                        <a:t/>
                      </a:r>
                      <a:endParaRPr sz="8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41"/>
          <p:cNvSpPr txBox="1"/>
          <p:nvPr>
            <p:ph type="title"/>
          </p:nvPr>
        </p:nvSpPr>
        <p:spPr>
          <a:xfrm>
            <a:off x="157050" y="-53325"/>
            <a:ext cx="5681700" cy="3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0084B5"/>
                </a:solidFill>
                <a:latin typeface="Montserrat"/>
                <a:ea typeface="Montserrat"/>
                <a:cs typeface="Montserrat"/>
                <a:sym typeface="Montserrat"/>
              </a:rPr>
              <a:t>Top </a:t>
            </a:r>
            <a:r>
              <a:rPr b="1" lang="en" sz="1200">
                <a:solidFill>
                  <a:srgbClr val="0084B5"/>
                </a:solidFill>
                <a:latin typeface="Montserrat"/>
                <a:ea typeface="Montserrat"/>
                <a:cs typeface="Montserrat"/>
                <a:sym typeface="Montserrat"/>
              </a:rPr>
              <a:t>Foreign Location (Outside of Indonesia)</a:t>
            </a:r>
            <a:endParaRPr b="1" sz="1200">
              <a:solidFill>
                <a:srgbClr val="0084B5"/>
              </a:solidFill>
              <a:latin typeface="Montserrat"/>
              <a:ea typeface="Montserrat"/>
              <a:cs typeface="Montserrat"/>
              <a:sym typeface="Montserrat"/>
            </a:endParaRPr>
          </a:p>
        </p:txBody>
      </p:sp>
      <p:graphicFrame>
        <p:nvGraphicFramePr>
          <p:cNvPr id="581" name="Google Shape;581;p41"/>
          <p:cNvGraphicFramePr/>
          <p:nvPr/>
        </p:nvGraphicFramePr>
        <p:xfrm>
          <a:off x="198675" y="2509075"/>
          <a:ext cx="3000000" cy="3000000"/>
        </p:xfrm>
        <a:graphic>
          <a:graphicData uri="http://schemas.openxmlformats.org/drawingml/2006/table">
            <a:tbl>
              <a:tblPr>
                <a:noFill/>
                <a:tableStyleId>{0287243F-39C1-4460-8421-3307866EDBE6}</a:tableStyleId>
              </a:tblPr>
              <a:tblGrid>
                <a:gridCol w="667850"/>
                <a:gridCol w="667850"/>
                <a:gridCol w="667850"/>
                <a:gridCol w="667850"/>
                <a:gridCol w="667850"/>
                <a:gridCol w="667850"/>
                <a:gridCol w="667850"/>
                <a:gridCol w="667850"/>
                <a:gridCol w="667850"/>
                <a:gridCol w="667850"/>
                <a:gridCol w="667850"/>
                <a:gridCol w="667850"/>
                <a:gridCol w="667850"/>
              </a:tblGrid>
              <a:tr h="291300">
                <a:tc>
                  <a:txBody>
                    <a:bodyPr/>
                    <a:lstStyle/>
                    <a:p>
                      <a:pPr indent="0" lvl="0" marL="0" rtl="0" algn="l">
                        <a:lnSpc>
                          <a:spcPct val="115000"/>
                        </a:lnSpc>
                        <a:spcBef>
                          <a:spcPts val="0"/>
                        </a:spcBef>
                        <a:spcAft>
                          <a:spcPts val="0"/>
                        </a:spcAft>
                        <a:buNone/>
                      </a:pPr>
                      <a:r>
                        <a:rPr b="1" lang="en" sz="700"/>
                        <a:t>Non-Institution (Top 5)</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Grand Total</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gridSpan="2">
                  <a:txBody>
                    <a:bodyPr/>
                    <a:lstStyle/>
                    <a:p>
                      <a:pPr indent="0" lvl="0" marL="0" rtl="0" algn="ctr">
                        <a:lnSpc>
                          <a:spcPct val="115000"/>
                        </a:lnSpc>
                        <a:spcBef>
                          <a:spcPts val="0"/>
                        </a:spcBef>
                        <a:spcAft>
                          <a:spcPts val="0"/>
                        </a:spcAft>
                        <a:buNone/>
                      </a:pPr>
                      <a:r>
                        <a:rPr b="1" lang="en" sz="700"/>
                        <a:t>Share % 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Share % 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Grand Total Share %</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r>
              <a:tr h="272175">
                <a:tc>
                  <a:txBody>
                    <a:bodyPr/>
                    <a:lstStyle/>
                    <a:p>
                      <a:pPr indent="0" lvl="0" marL="0" rtl="0" algn="l">
                        <a:lnSpc>
                          <a:spcPct val="115000"/>
                        </a:lnSpc>
                        <a:spcBef>
                          <a:spcPts val="0"/>
                        </a:spcBef>
                        <a:spcAft>
                          <a:spcPts val="0"/>
                        </a:spcAft>
                        <a:buNone/>
                      </a:pPr>
                      <a:r>
                        <a:rPr b="1" lang="en" sz="700"/>
                        <a:t>Citizen</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283450">
                <a:tc>
                  <a:txBody>
                    <a:bodyPr/>
                    <a:lstStyle/>
                    <a:p>
                      <a:pPr indent="0" lvl="0" marL="0" rtl="0" algn="l">
                        <a:lnSpc>
                          <a:spcPct val="115000"/>
                        </a:lnSpc>
                        <a:spcBef>
                          <a:spcPts val="0"/>
                        </a:spcBef>
                        <a:spcAft>
                          <a:spcPts val="0"/>
                        </a:spcAft>
                        <a:buNone/>
                      </a:pPr>
                      <a:r>
                        <a:rPr lang="en" sz="700"/>
                        <a:t>Korea, Republic of</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196,627,663,980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45,740,598,903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242,368,262,883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17.74%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81.24%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62.65%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13.51%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76.93%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2175">
                <a:tc>
                  <a:txBody>
                    <a:bodyPr/>
                    <a:lstStyle/>
                    <a:p>
                      <a:pPr indent="0" lvl="0" marL="0" rtl="0" algn="l">
                        <a:lnSpc>
                          <a:spcPct val="115000"/>
                        </a:lnSpc>
                        <a:spcBef>
                          <a:spcPts val="0"/>
                        </a:spcBef>
                        <a:spcAft>
                          <a:spcPts val="0"/>
                        </a:spcAft>
                        <a:buNone/>
                      </a:pPr>
                      <a:r>
                        <a:rPr lang="en" sz="700"/>
                        <a:t>Switzerland</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14,144,987,145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2,281,200,006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16,426,187,151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3.12%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1.80%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5.21%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2175">
                <a:tc>
                  <a:txBody>
                    <a:bodyPr/>
                    <a:lstStyle/>
                    <a:p>
                      <a:pPr indent="0" lvl="0" marL="0" rtl="0" algn="l">
                        <a:lnSpc>
                          <a:spcPct val="115000"/>
                        </a:lnSpc>
                        <a:spcBef>
                          <a:spcPts val="0"/>
                        </a:spcBef>
                        <a:spcAft>
                          <a:spcPts val="0"/>
                        </a:spcAft>
                        <a:buNone/>
                      </a:pPr>
                      <a:r>
                        <a:rPr lang="en" sz="700"/>
                        <a:t>Bulgaria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13,406,972,530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2,798,022,314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16,204,994,844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3.23%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5.54%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4.08%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3.83%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3.60%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5.14%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2175">
                <a:tc>
                  <a:txBody>
                    <a:bodyPr/>
                    <a:lstStyle/>
                    <a:p>
                      <a:pPr indent="0" lvl="0" marL="0" rtl="0" algn="l">
                        <a:lnSpc>
                          <a:spcPct val="115000"/>
                        </a:lnSpc>
                        <a:spcBef>
                          <a:spcPts val="0"/>
                        </a:spcBef>
                        <a:spcAft>
                          <a:spcPts val="0"/>
                        </a:spcAft>
                        <a:buNone/>
                      </a:pPr>
                      <a:r>
                        <a:rPr lang="en" sz="700"/>
                        <a:t>China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4,203,581,452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11,257,504,503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15,461,085,955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8.06%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10.20%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15.42%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9.01%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4.91%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450">
                <a:tc>
                  <a:txBody>
                    <a:bodyPr/>
                    <a:lstStyle/>
                    <a:p>
                      <a:pPr indent="0" lvl="0" marL="0" rtl="0" algn="l">
                        <a:lnSpc>
                          <a:spcPct val="115000"/>
                        </a:lnSpc>
                        <a:spcBef>
                          <a:spcPts val="0"/>
                        </a:spcBef>
                        <a:spcAft>
                          <a:spcPts val="0"/>
                        </a:spcAft>
                        <a:buNone/>
                      </a:pPr>
                      <a:r>
                        <a:rPr lang="en" sz="700"/>
                        <a:t>Russian Federation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1,921,260,366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2,840,107,544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4,761,367,910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8.06%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0.79%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3.89%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8.11%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2300">
                <a:tc>
                  <a:txBody>
                    <a:bodyPr/>
                    <a:lstStyle/>
                    <a:p>
                      <a:pPr indent="0" lvl="0" marL="0" rtl="0" algn="l">
                        <a:lnSpc>
                          <a:spcPct val="115000"/>
                        </a:lnSpc>
                        <a:spcBef>
                          <a:spcPts val="0"/>
                        </a:spcBef>
                        <a:spcAft>
                          <a:spcPts val="0"/>
                        </a:spcAft>
                        <a:buNone/>
                      </a:pPr>
                      <a:r>
                        <a:rPr lang="en" sz="700"/>
                        <a:t>Grand Total from all foreign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242,031,830,589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73,011,969,375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315,043,799,964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582" name="Google Shape;582;p41"/>
          <p:cNvGraphicFramePr/>
          <p:nvPr/>
        </p:nvGraphicFramePr>
        <p:xfrm>
          <a:off x="383600" y="289575"/>
          <a:ext cx="3000000" cy="3000000"/>
        </p:xfrm>
        <a:graphic>
          <a:graphicData uri="http://schemas.openxmlformats.org/drawingml/2006/table">
            <a:tbl>
              <a:tblPr>
                <a:noFill/>
                <a:tableStyleId>{0287243F-39C1-4460-8421-3307866EDBE6}</a:tableStyleId>
              </a:tblPr>
              <a:tblGrid>
                <a:gridCol w="635125"/>
                <a:gridCol w="635125"/>
                <a:gridCol w="635125"/>
                <a:gridCol w="635125"/>
                <a:gridCol w="635125"/>
                <a:gridCol w="635125"/>
                <a:gridCol w="635125"/>
                <a:gridCol w="635125"/>
                <a:gridCol w="635125"/>
                <a:gridCol w="635125"/>
                <a:gridCol w="635125"/>
                <a:gridCol w="635125"/>
                <a:gridCol w="635125"/>
              </a:tblGrid>
              <a:tr h="153625">
                <a:tc>
                  <a:txBody>
                    <a:bodyPr/>
                    <a:lstStyle/>
                    <a:p>
                      <a:pPr indent="0" lvl="0" marL="0" rtl="0" algn="l">
                        <a:lnSpc>
                          <a:spcPct val="115000"/>
                        </a:lnSpc>
                        <a:spcBef>
                          <a:spcPts val="0"/>
                        </a:spcBef>
                        <a:spcAft>
                          <a:spcPts val="0"/>
                        </a:spcAft>
                        <a:buNone/>
                      </a:pPr>
                      <a:r>
                        <a:rPr b="1" lang="en" sz="700"/>
                        <a:t>Institution</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gridSpan="2">
                  <a:txBody>
                    <a:bodyPr/>
                    <a:lstStyle/>
                    <a:p>
                      <a:pPr indent="0" lvl="0" marL="0" rtl="0" algn="ctr">
                        <a:lnSpc>
                          <a:spcPct val="115000"/>
                        </a:lnSpc>
                        <a:spcBef>
                          <a:spcPts val="0"/>
                        </a:spcBef>
                        <a:spcAft>
                          <a:spcPts val="0"/>
                        </a:spcAft>
                        <a:buNone/>
                      </a:pPr>
                      <a:r>
                        <a:rPr b="1" lang="en" sz="700"/>
                        <a:t>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gridSpan="2">
                  <a:txBody>
                    <a:bodyPr/>
                    <a:lstStyle/>
                    <a:p>
                      <a:pPr indent="0" lvl="0" marL="0" rtl="0" algn="ctr">
                        <a:lnSpc>
                          <a:spcPct val="115000"/>
                        </a:lnSpc>
                        <a:spcBef>
                          <a:spcPts val="0"/>
                        </a:spcBef>
                        <a:spcAft>
                          <a:spcPts val="0"/>
                        </a:spcAft>
                        <a:buNone/>
                      </a:pPr>
                      <a:r>
                        <a:rPr b="1" lang="en" sz="700"/>
                        <a:t>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gridSpan="2">
                  <a:txBody>
                    <a:bodyPr/>
                    <a:lstStyle/>
                    <a:p>
                      <a:pPr indent="0" lvl="0" marL="0" rtl="0" algn="ctr">
                        <a:lnSpc>
                          <a:spcPct val="115000"/>
                        </a:lnSpc>
                        <a:spcBef>
                          <a:spcPts val="0"/>
                        </a:spcBef>
                        <a:spcAft>
                          <a:spcPts val="0"/>
                        </a:spcAft>
                        <a:buNone/>
                      </a:pPr>
                      <a:r>
                        <a:rPr b="1" lang="en" sz="700"/>
                        <a:t>Total</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hMerge="1"/>
                <a:tc gridSpan="2">
                  <a:txBody>
                    <a:bodyPr/>
                    <a:lstStyle/>
                    <a:p>
                      <a:pPr indent="0" lvl="0" marL="0" rtl="0" algn="ctr">
                        <a:lnSpc>
                          <a:spcPct val="115000"/>
                        </a:lnSpc>
                        <a:spcBef>
                          <a:spcPts val="0"/>
                        </a:spcBef>
                        <a:spcAft>
                          <a:spcPts val="0"/>
                        </a:spcAft>
                        <a:buNone/>
                      </a:pPr>
                      <a:r>
                        <a:rPr b="1" lang="en" sz="700"/>
                        <a:t>Share % 2023</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Share % 2024</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c gridSpan="2">
                  <a:txBody>
                    <a:bodyPr/>
                    <a:lstStyle/>
                    <a:p>
                      <a:pPr indent="0" lvl="0" marL="0" rtl="0" algn="ctr">
                        <a:lnSpc>
                          <a:spcPct val="115000"/>
                        </a:lnSpc>
                        <a:spcBef>
                          <a:spcPts val="0"/>
                        </a:spcBef>
                        <a:spcAft>
                          <a:spcPts val="0"/>
                        </a:spcAft>
                        <a:buNone/>
                      </a:pPr>
                      <a:r>
                        <a:rPr b="1" lang="en" sz="700"/>
                        <a:t>Grand Total Share %</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hMerge="1"/>
              </a:tr>
              <a:tr h="153625">
                <a:tc>
                  <a:txBody>
                    <a:bodyPr/>
                    <a:lstStyle/>
                    <a:p>
                      <a:pPr indent="0" lvl="0" marL="0" rtl="0" algn="l">
                        <a:lnSpc>
                          <a:spcPct val="115000"/>
                        </a:lnSpc>
                        <a:spcBef>
                          <a:spcPts val="0"/>
                        </a:spcBef>
                        <a:spcAft>
                          <a:spcPts val="0"/>
                        </a:spcAft>
                        <a:buNone/>
                      </a:pPr>
                      <a:r>
                        <a:rPr b="1" lang="en" sz="700"/>
                        <a:t>Citizen</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Total Users</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b="1" lang="en" sz="700"/>
                        <a:t>Trade Volume</a:t>
                      </a:r>
                      <a:endParaRPr b="1"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271075">
                <a:tc>
                  <a:txBody>
                    <a:bodyPr/>
                    <a:lstStyle/>
                    <a:p>
                      <a:pPr indent="0" lvl="0" marL="0" rtl="0" algn="l">
                        <a:lnSpc>
                          <a:spcPct val="115000"/>
                        </a:lnSpc>
                        <a:spcBef>
                          <a:spcPts val="0"/>
                        </a:spcBef>
                        <a:spcAft>
                          <a:spcPts val="0"/>
                        </a:spcAft>
                        <a:buNone/>
                      </a:pPr>
                      <a:r>
                        <a:rPr lang="en" sz="700"/>
                        <a:t>Canada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935,710,813,757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4,869,466,704,610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5,805,177,518,366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20.48%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33.54%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6.25%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30.41%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075">
                <a:tc>
                  <a:txBody>
                    <a:bodyPr/>
                    <a:lstStyle/>
                    <a:p>
                      <a:pPr indent="0" lvl="0" marL="0" rtl="0" algn="l">
                        <a:lnSpc>
                          <a:spcPct val="115000"/>
                        </a:lnSpc>
                        <a:spcBef>
                          <a:spcPts val="0"/>
                        </a:spcBef>
                        <a:spcAft>
                          <a:spcPts val="0"/>
                        </a:spcAft>
                        <a:buNone/>
                      </a:pPr>
                      <a:r>
                        <a:rPr lang="en" sz="700"/>
                        <a:t>Argentina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1,342,667,297,120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4,210,363,513,942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5,553,030,811,063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29.39%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29.00%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6.25%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29.09%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075">
                <a:tc>
                  <a:txBody>
                    <a:bodyPr/>
                    <a:lstStyle/>
                    <a:p>
                      <a:pPr indent="0" lvl="0" marL="0" rtl="0" algn="l">
                        <a:lnSpc>
                          <a:spcPct val="115000"/>
                        </a:lnSpc>
                        <a:spcBef>
                          <a:spcPts val="0"/>
                        </a:spcBef>
                        <a:spcAft>
                          <a:spcPts val="0"/>
                        </a:spcAft>
                        <a:buNone/>
                      </a:pPr>
                      <a:r>
                        <a:rPr lang="en" sz="700"/>
                        <a:t>Hong Kong</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802,006,505,301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1,331,511,331,015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2,133,517,836,316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13.33%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17.55%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9.17%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11.18%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075">
                <a:tc>
                  <a:txBody>
                    <a:bodyPr/>
                    <a:lstStyle/>
                    <a:p>
                      <a:pPr indent="0" lvl="0" marL="0" rtl="0" algn="l">
                        <a:lnSpc>
                          <a:spcPct val="115000"/>
                        </a:lnSpc>
                        <a:spcBef>
                          <a:spcPts val="0"/>
                        </a:spcBef>
                        <a:spcAft>
                          <a:spcPts val="0"/>
                        </a:spcAft>
                        <a:buNone/>
                      </a:pPr>
                      <a:r>
                        <a:rPr lang="en" sz="700"/>
                        <a:t>Thailand</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357,388,344,705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1,432,931,360,062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1,790,319,704,766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7.82%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5.88%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9.87%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6.25%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1075">
                <a:tc>
                  <a:txBody>
                    <a:bodyPr/>
                    <a:lstStyle/>
                    <a:p>
                      <a:pPr indent="0" lvl="0" marL="0" rtl="0" algn="l">
                        <a:lnSpc>
                          <a:spcPct val="115000"/>
                        </a:lnSpc>
                        <a:spcBef>
                          <a:spcPts val="0"/>
                        </a:spcBef>
                        <a:spcAft>
                          <a:spcPts val="0"/>
                        </a:spcAft>
                        <a:buNone/>
                      </a:pPr>
                      <a:r>
                        <a:rPr lang="en" sz="700"/>
                        <a:t>Indonesia</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16,103,794</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1,732,266,173,799</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1,732,282,277,593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6.67%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11.76%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11.93%</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9.38%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9.08%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8550">
                <a:tc>
                  <a:txBody>
                    <a:bodyPr/>
                    <a:lstStyle/>
                    <a:p>
                      <a:pPr indent="0" lvl="0" marL="0" rtl="0" algn="l">
                        <a:lnSpc>
                          <a:spcPct val="115000"/>
                        </a:lnSpc>
                        <a:spcBef>
                          <a:spcPts val="0"/>
                        </a:spcBef>
                        <a:spcAft>
                          <a:spcPts val="0"/>
                        </a:spcAft>
                        <a:buNone/>
                      </a:pPr>
                      <a:r>
                        <a:rPr lang="en" sz="700"/>
                        <a:t>Grand Total from All Institution</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15</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4,568,841,162,626</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17</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14,518,315,818,452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32</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19,087,156,981,078</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700"/>
                        <a:t>100.00%</a:t>
                      </a:r>
                      <a:endParaRPr sz="7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